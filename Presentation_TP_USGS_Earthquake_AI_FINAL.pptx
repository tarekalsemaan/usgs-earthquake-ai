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1" r:id="rId6"/>
    <p:sldId id="262" r:id="rId7"/>
    <p:sldId id="263" r:id="rId8"/>
    <p:sldId id="264" r:id="rId9"/>
    <p:sldId id="265" r:id="rId10"/>
    <p:sldId id="266" r:id="rId11"/>
    <p:sldId id="258"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1" d="100"/>
          <a:sy n="81" d="100"/>
        </p:scale>
        <p:origin x="96" y="4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a:t>
            </a:r>
            <a:r>
              <a:rPr lang="fr-CA" sz="1400" b="1" dirty="0">
                <a:solidFill>
                  <a:srgbClr val="FFFFFF"/>
                </a:solidFill>
                <a:latin typeface="Aptos"/>
              </a:rPr>
              <a:t>- 29062 événements</a:t>
            </a:r>
            <a:r>
              <a:rPr sz="1400" b="1" dirty="0">
                <a:solidFill>
                  <a:srgbClr val="FFFFFF"/>
                </a:solidFill>
                <a:latin typeface="Aptos"/>
              </a:rPr>
              <a:t>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730011"/>
            <a:ext cx="1022299" cy="523220"/>
          </a:xfrm>
          <a:prstGeom prst="rect">
            <a:avLst/>
          </a:prstGeom>
          <a:noFill/>
        </p:spPr>
        <p:txBody>
          <a:bodyPr wrap="square" anchor="t">
            <a:spAutoFit/>
          </a:bodyPr>
          <a:lstStyle/>
          <a:p>
            <a:pPr algn="l"/>
            <a:r>
              <a:rPr sz="14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dirty="0" err="1">
                <a:solidFill>
                  <a:srgbClr val="0F2238"/>
                </a:solidFill>
                <a:latin typeface="Aptos"/>
              </a:rPr>
              <a:t>Modèle</a:t>
            </a:r>
            <a:r>
              <a:rPr sz="2800" b="1" dirty="0">
                <a:solidFill>
                  <a:srgbClr val="0F2238"/>
                </a:solidFill>
                <a:latin typeface="Aptos"/>
              </a:rPr>
              <a:t> 03 — </a:t>
            </a:r>
            <a:r>
              <a:rPr sz="2800" b="1" dirty="0" err="1">
                <a:solidFill>
                  <a:srgbClr val="0F2238"/>
                </a:solidFill>
                <a:latin typeface="Aptos"/>
              </a:rPr>
              <a:t>Régression</a:t>
            </a:r>
            <a:r>
              <a:rPr sz="2800" b="1" dirty="0">
                <a:solidFill>
                  <a:srgbClr val="0F2238"/>
                </a:solidFill>
                <a:latin typeface="Aptos"/>
              </a:rPr>
              <a:t> de la </a:t>
            </a:r>
            <a:r>
              <a:rPr sz="2800" b="1" dirty="0" err="1">
                <a:solidFill>
                  <a:srgbClr val="0F2238"/>
                </a:solidFill>
                <a:latin typeface="Aptos"/>
              </a:rPr>
              <a:t>sévérité</a:t>
            </a:r>
            <a:r>
              <a:rPr sz="2800" b="1" dirty="0">
                <a:solidFill>
                  <a:srgbClr val="0F2238"/>
                </a:solidFill>
                <a:latin typeface="Aptos"/>
              </a:rPr>
              <a:t>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11479" y="1289625"/>
            <a:ext cx="11427953" cy="1200329"/>
          </a:xfrm>
          <a:prstGeom prst="rect">
            <a:avLst/>
          </a:prstGeom>
          <a:noFill/>
        </p:spPr>
        <p:txBody>
          <a:bodyPr wrap="square" anchor="t">
            <a:spAutoFit/>
          </a:bodyPr>
          <a:lstStyle/>
          <a:p>
            <a:r>
              <a:rPr lang="fr-CA" sz="1200" b="1" dirty="0">
                <a:solidFill>
                  <a:srgbClr val="626F7B"/>
                </a:solidFill>
                <a:latin typeface="Aptos"/>
              </a:rPr>
              <a:t>Objectif : </a:t>
            </a:r>
            <a:r>
              <a:rPr lang="en-CA" sz="1200" dirty="0" err="1"/>
              <a:t>Entraîner</a:t>
            </a:r>
            <a:r>
              <a:rPr lang="en-CA" sz="1200" dirty="0"/>
              <a:t>, </a:t>
            </a:r>
            <a:r>
              <a:rPr lang="en-CA" sz="1200" dirty="0" err="1"/>
              <a:t>évaluer</a:t>
            </a:r>
            <a:r>
              <a:rPr lang="en-CA" sz="1200" dirty="0"/>
              <a:t> et comparer des </a:t>
            </a:r>
            <a:r>
              <a:rPr lang="en-CA" sz="1200" dirty="0" err="1"/>
              <a:t>modèles</a:t>
            </a:r>
            <a:r>
              <a:rPr lang="en-CA" sz="1200" dirty="0"/>
              <a:t> de </a:t>
            </a:r>
            <a:r>
              <a:rPr lang="en-CA" sz="1200" dirty="0" err="1"/>
              <a:t>régression</a:t>
            </a:r>
            <a:r>
              <a:rPr lang="en-CA" sz="1200" dirty="0"/>
              <a:t> </a:t>
            </a:r>
            <a:r>
              <a:rPr lang="en-CA" sz="1200" dirty="0" err="1"/>
              <a:t>supervisée</a:t>
            </a:r>
            <a:r>
              <a:rPr lang="en-CA" sz="1200" dirty="0"/>
              <a:t> </a:t>
            </a:r>
            <a:r>
              <a:rPr lang="en-CA" sz="1200" dirty="0" err="1"/>
              <a:t>afin</a:t>
            </a:r>
            <a:r>
              <a:rPr lang="en-CA" sz="1200" dirty="0"/>
              <a:t> de </a:t>
            </a:r>
            <a:r>
              <a:rPr lang="en-CA" sz="1200" dirty="0" err="1"/>
              <a:t>prédire</a:t>
            </a:r>
            <a:r>
              <a:rPr lang="en-CA" sz="1200" dirty="0"/>
              <a:t> </a:t>
            </a:r>
            <a:r>
              <a:rPr lang="en-CA" sz="1200" b="1" dirty="0" err="1"/>
              <a:t>l’importance</a:t>
            </a:r>
            <a:r>
              <a:rPr lang="en-CA" sz="1200" b="1" dirty="0"/>
              <a:t> (significance)</a:t>
            </a:r>
            <a:r>
              <a:rPr lang="en-CA" sz="1200" dirty="0"/>
              <a:t> d’un </a:t>
            </a:r>
            <a:r>
              <a:rPr lang="en-CA" sz="1200" dirty="0" err="1"/>
              <a:t>séisme</a:t>
            </a:r>
            <a:r>
              <a:rPr lang="en-CA" sz="1200" dirty="0"/>
              <a:t> à </a:t>
            </a:r>
            <a:r>
              <a:rPr lang="en-CA" sz="1200" dirty="0" err="1"/>
              <a:t>partir</a:t>
            </a:r>
            <a:r>
              <a:rPr lang="en-CA" sz="1200" dirty="0"/>
              <a:t> de </a:t>
            </a:r>
            <a:r>
              <a:rPr lang="en-CA" sz="1200" dirty="0" err="1"/>
              <a:t>ses</a:t>
            </a:r>
            <a:r>
              <a:rPr lang="en-CA" sz="1200" dirty="0"/>
              <a:t> </a:t>
            </a:r>
            <a:r>
              <a:rPr lang="en-CA" sz="1200" dirty="0" err="1"/>
              <a:t>caractéristiques</a:t>
            </a:r>
            <a:r>
              <a:rPr lang="en-CA" sz="1200" dirty="0"/>
              <a:t> </a:t>
            </a:r>
            <a:r>
              <a:rPr lang="en-CA" sz="1200" dirty="0" err="1"/>
              <a:t>géophysiques</a:t>
            </a:r>
            <a:r>
              <a:rPr lang="en-CA" sz="1200" dirty="0"/>
              <a:t> et des </a:t>
            </a:r>
            <a:r>
              <a:rPr lang="en-CA" sz="1200" dirty="0" err="1"/>
              <a:t>mesures</a:t>
            </a:r>
            <a:r>
              <a:rPr lang="en-CA" sz="1200" dirty="0"/>
              <a:t> </a:t>
            </a:r>
            <a:r>
              <a:rPr lang="en-CA" sz="1200" dirty="0" err="1"/>
              <a:t>enregistrées</a:t>
            </a:r>
            <a:r>
              <a:rPr lang="fr-CA" sz="1200" dirty="0">
                <a:solidFill>
                  <a:srgbClr val="626F7B"/>
                </a:solidFill>
                <a:latin typeface="Aptos"/>
              </a:rPr>
              <a:t>. </a:t>
            </a:r>
          </a:p>
          <a:p>
            <a:endParaRPr lang="fr-CA" sz="1200" dirty="0">
              <a:solidFill>
                <a:srgbClr val="626F7B"/>
              </a:solidFill>
              <a:latin typeface="Aptos"/>
            </a:endParaRPr>
          </a:p>
          <a:p>
            <a:r>
              <a:rPr lang="fr-CA" sz="1200" b="1" dirty="0">
                <a:solidFill>
                  <a:srgbClr val="626F7B"/>
                </a:solidFill>
                <a:latin typeface="Aptos"/>
              </a:rPr>
              <a:t>Variables conservées :</a:t>
            </a:r>
            <a:r>
              <a:rPr lang="fr-CA" sz="1200" dirty="0">
                <a:solidFill>
                  <a:srgbClr val="626F7B"/>
                </a:solidFill>
                <a:latin typeface="Aptos"/>
              </a:rPr>
              <a:t> </a:t>
            </a:r>
            <a:r>
              <a:rPr lang="en-CA" sz="1200" dirty="0"/>
              <a:t>Le </a:t>
            </a:r>
            <a:r>
              <a:rPr lang="en-CA" sz="1200" dirty="0" err="1"/>
              <a:t>modèle</a:t>
            </a:r>
            <a:r>
              <a:rPr lang="en-CA" sz="1200" dirty="0"/>
              <a:t> utilise des données </a:t>
            </a:r>
            <a:r>
              <a:rPr lang="en-CA" sz="1200" dirty="0" err="1"/>
              <a:t>géophysiques</a:t>
            </a:r>
            <a:r>
              <a:rPr lang="en-CA" sz="1200" dirty="0"/>
              <a:t> et </a:t>
            </a:r>
            <a:r>
              <a:rPr lang="en-CA" sz="1200" dirty="0" err="1"/>
              <a:t>spatiales</a:t>
            </a:r>
            <a:r>
              <a:rPr lang="en-CA" sz="1200" dirty="0"/>
              <a:t> (</a:t>
            </a:r>
            <a:r>
              <a:rPr lang="en-CA" sz="1200" b="1" dirty="0"/>
              <a:t>latitude</a:t>
            </a:r>
            <a:r>
              <a:rPr lang="en-CA" sz="1200" dirty="0"/>
              <a:t>, </a:t>
            </a:r>
            <a:r>
              <a:rPr lang="en-CA" sz="1200" b="1" dirty="0"/>
              <a:t>longitude</a:t>
            </a:r>
            <a:r>
              <a:rPr lang="en-CA" sz="1200" dirty="0"/>
              <a:t>, </a:t>
            </a:r>
            <a:r>
              <a:rPr lang="en-CA" sz="1200" b="1" dirty="0" err="1"/>
              <a:t>profondeur</a:t>
            </a:r>
            <a:r>
              <a:rPr lang="en-CA" sz="1200" dirty="0"/>
              <a:t>), des </a:t>
            </a:r>
            <a:r>
              <a:rPr lang="en-CA" sz="1200" dirty="0" err="1"/>
              <a:t>mesures</a:t>
            </a:r>
            <a:r>
              <a:rPr lang="en-CA" sz="1200" dirty="0"/>
              <a:t> de </a:t>
            </a:r>
            <a:r>
              <a:rPr lang="en-CA" sz="1200" dirty="0" err="1"/>
              <a:t>qualité</a:t>
            </a:r>
            <a:r>
              <a:rPr lang="en-CA" sz="1200" dirty="0"/>
              <a:t> de </a:t>
            </a:r>
            <a:r>
              <a:rPr lang="en-CA" sz="1200" dirty="0" err="1"/>
              <a:t>l’enregistrement</a:t>
            </a:r>
            <a:r>
              <a:rPr lang="en-CA" sz="1200" dirty="0"/>
              <a:t> (</a:t>
            </a:r>
            <a:r>
              <a:rPr lang="en-CA" sz="1200" b="1" dirty="0" err="1"/>
              <a:t>dmin</a:t>
            </a:r>
            <a:r>
              <a:rPr lang="en-CA" sz="1200" dirty="0"/>
              <a:t>, </a:t>
            </a:r>
            <a:r>
              <a:rPr lang="en-CA" sz="1200" b="1" dirty="0"/>
              <a:t>gap</a:t>
            </a:r>
            <a:r>
              <a:rPr lang="en-CA" sz="1200" dirty="0"/>
              <a:t>, </a:t>
            </a:r>
            <a:r>
              <a:rPr lang="en-CA" sz="1200" b="1" dirty="0"/>
              <a:t>rms</a:t>
            </a:r>
            <a:r>
              <a:rPr lang="en-CA" sz="1200" dirty="0"/>
              <a:t>, </a:t>
            </a:r>
            <a:r>
              <a:rPr lang="en-CA" sz="1200" b="1" dirty="0" err="1"/>
              <a:t>nst</a:t>
            </a:r>
            <a:r>
              <a:rPr lang="en-CA" sz="1200" dirty="0"/>
              <a:t>), </a:t>
            </a:r>
            <a:r>
              <a:rPr lang="en-CA" sz="1200" dirty="0" err="1"/>
              <a:t>ainsi</a:t>
            </a:r>
            <a:r>
              <a:rPr lang="en-CA" sz="1200" dirty="0"/>
              <a:t> </a:t>
            </a:r>
            <a:r>
              <a:rPr lang="en-CA" sz="1200" dirty="0" err="1"/>
              <a:t>que</a:t>
            </a:r>
            <a:r>
              <a:rPr lang="en-CA" sz="1200" dirty="0"/>
              <a:t> la </a:t>
            </a:r>
            <a:r>
              <a:rPr lang="en-CA" sz="1200" b="1" dirty="0"/>
              <a:t>magnitude</a:t>
            </a:r>
            <a:r>
              <a:rPr lang="en-CA" sz="1200" dirty="0"/>
              <a:t>, </a:t>
            </a:r>
            <a:r>
              <a:rPr lang="en-CA" sz="1200" dirty="0" err="1"/>
              <a:t>afin</a:t>
            </a:r>
            <a:r>
              <a:rPr lang="en-CA" sz="1200" dirty="0"/>
              <a:t> </a:t>
            </a:r>
            <a:r>
              <a:rPr lang="en-CA" sz="1200" dirty="0" err="1"/>
              <a:t>d’estimer</a:t>
            </a:r>
            <a:r>
              <a:rPr lang="en-CA" sz="1200" dirty="0"/>
              <a:t> </a:t>
            </a:r>
            <a:r>
              <a:rPr lang="en-CA" sz="1200" b="1" dirty="0" err="1"/>
              <a:t>l’importance</a:t>
            </a:r>
            <a:r>
              <a:rPr lang="en-CA" sz="1200" b="1" dirty="0"/>
              <a:t> (significance)</a:t>
            </a:r>
            <a:r>
              <a:rPr lang="en-CA" sz="1200" dirty="0"/>
              <a:t> du </a:t>
            </a:r>
            <a:r>
              <a:rPr lang="en-CA" sz="1200" dirty="0" err="1"/>
              <a:t>séisme</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extLst>
              <p:ext uri="{D42A27DB-BD31-4B8C-83A1-F6EECF244321}">
                <p14:modId xmlns:p14="http://schemas.microsoft.com/office/powerpoint/2010/main" val="228999659"/>
              </p:ext>
            </p:extLst>
          </p:nvPr>
        </p:nvGraphicFramePr>
        <p:xfrm>
          <a:off x="534309" y="2729485"/>
          <a:ext cx="5852161" cy="2898648"/>
        </p:xfrm>
        <a:graphic>
          <a:graphicData uri="http://schemas.openxmlformats.org/drawingml/2006/table">
            <a:tbl>
              <a:tblPr firstRow="1" bandRow="1">
                <a:tableStyleId>{5C22544A-7EE6-4342-B048-85BDC9FD1C3A}</a:tableStyleId>
              </a:tblPr>
              <a:tblGrid>
                <a:gridCol w="2110615">
                  <a:extLst>
                    <a:ext uri="{9D8B030D-6E8A-4147-A177-3AD203B41FA5}">
                      <a16:colId xmlns:a16="http://schemas.microsoft.com/office/drawing/2014/main" val="20000"/>
                    </a:ext>
                  </a:extLst>
                </a:gridCol>
                <a:gridCol w="1247182">
                  <a:extLst>
                    <a:ext uri="{9D8B030D-6E8A-4147-A177-3AD203B41FA5}">
                      <a16:colId xmlns:a16="http://schemas.microsoft.com/office/drawing/2014/main" val="20001"/>
                    </a:ext>
                  </a:extLst>
                </a:gridCol>
                <a:gridCol w="1247182">
                  <a:extLst>
                    <a:ext uri="{9D8B030D-6E8A-4147-A177-3AD203B41FA5}">
                      <a16:colId xmlns:a16="http://schemas.microsoft.com/office/drawing/2014/main" val="20002"/>
                    </a:ext>
                  </a:extLst>
                </a:gridCol>
                <a:gridCol w="1247182">
                  <a:extLst>
                    <a:ext uri="{9D8B030D-6E8A-4147-A177-3AD203B41FA5}">
                      <a16:colId xmlns:a16="http://schemas.microsoft.com/office/drawing/2014/main" val="20003"/>
                    </a:ext>
                  </a:extLst>
                </a:gridCol>
              </a:tblGrid>
              <a:tr h="724662">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dirty="0">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724662">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724662">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724662">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dirty="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606579" y="244144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1171" y="2587752"/>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771171" y="2971800"/>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7606579" y="3995928"/>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1171" y="4142232"/>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771171" y="4526280"/>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7606579" y="5550408"/>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1171" y="5696712"/>
            <a:ext cx="4059935" cy="320040"/>
          </a:xfrm>
          <a:prstGeom prst="rect">
            <a:avLst/>
          </a:prstGeom>
          <a:noFill/>
        </p:spPr>
        <p:txBody>
          <a:bodyPr wrap="square" anchor="t">
            <a:spAutoFit/>
          </a:bodyPr>
          <a:lstStyle/>
          <a:p>
            <a:pPr algn="l"/>
            <a:r>
              <a:rPr sz="1500" b="1" dirty="0" err="1">
                <a:solidFill>
                  <a:srgbClr val="215E91"/>
                </a:solidFill>
                <a:latin typeface="Aptos"/>
              </a:rPr>
              <a:t>Pourquoi</a:t>
            </a:r>
            <a:r>
              <a:rPr sz="1500" b="1" dirty="0">
                <a:solidFill>
                  <a:srgbClr val="215E91"/>
                </a:solidFill>
                <a:latin typeface="Aptos"/>
              </a:rPr>
              <a:t> pas </a:t>
            </a:r>
            <a:r>
              <a:rPr sz="1500" b="1" dirty="0" err="1">
                <a:solidFill>
                  <a:srgbClr val="215E91"/>
                </a:solidFill>
                <a:latin typeface="Aptos"/>
              </a:rPr>
              <a:t>seulement</a:t>
            </a:r>
            <a:r>
              <a:rPr sz="1500" b="1" dirty="0">
                <a:solidFill>
                  <a:srgbClr val="215E91"/>
                </a:solidFill>
                <a:latin typeface="Aptos"/>
              </a:rPr>
              <a:t> R² ?</a:t>
            </a:r>
          </a:p>
        </p:txBody>
      </p:sp>
      <p:sp>
        <p:nvSpPr>
          <p:cNvPr id="15" name="TextBox 14"/>
          <p:cNvSpPr txBox="1"/>
          <p:nvPr/>
        </p:nvSpPr>
        <p:spPr>
          <a:xfrm>
            <a:off x="7771171" y="6080760"/>
            <a:ext cx="4059935" cy="393191"/>
          </a:xfrm>
          <a:prstGeom prst="rect">
            <a:avLst/>
          </a:prstGeom>
          <a:noFill/>
        </p:spPr>
        <p:txBody>
          <a:bodyPr wrap="square" anchor="t">
            <a:spAutoFit/>
          </a:bodyPr>
          <a:lstStyle/>
          <a:p>
            <a:pPr algn="l"/>
            <a:r>
              <a:rPr sz="1100" b="0" dirty="0">
                <a:solidFill>
                  <a:srgbClr val="232B32"/>
                </a:solidFill>
                <a:latin typeface="Aptos"/>
              </a:rPr>
              <a:t>R² </a:t>
            </a:r>
            <a:r>
              <a:rPr sz="1100" b="0" dirty="0" err="1">
                <a:solidFill>
                  <a:srgbClr val="232B32"/>
                </a:solidFill>
                <a:latin typeface="Aptos"/>
              </a:rPr>
              <a:t>décrit</a:t>
            </a:r>
            <a:r>
              <a:rPr sz="1100" b="0" dirty="0">
                <a:solidFill>
                  <a:srgbClr val="232B32"/>
                </a:solidFill>
                <a:latin typeface="Aptos"/>
              </a:rPr>
              <a:t> </a:t>
            </a:r>
            <a:r>
              <a:rPr sz="1100" b="0" dirty="0" err="1">
                <a:solidFill>
                  <a:srgbClr val="232B32"/>
                </a:solidFill>
                <a:latin typeface="Aptos"/>
              </a:rPr>
              <a:t>l’ajustement</a:t>
            </a:r>
            <a:r>
              <a:rPr sz="1100" b="0" dirty="0">
                <a:solidFill>
                  <a:srgbClr val="232B32"/>
                </a:solidFill>
                <a:latin typeface="Aptos"/>
              </a:rPr>
              <a:t> global; MAE/RMSE </a:t>
            </a:r>
            <a:r>
              <a:rPr sz="1100" b="0" dirty="0" err="1">
                <a:solidFill>
                  <a:srgbClr val="232B32"/>
                </a:solidFill>
                <a:latin typeface="Aptos"/>
              </a:rPr>
              <a:t>donnent</a:t>
            </a:r>
            <a:r>
              <a:rPr sz="1100" b="0" dirty="0">
                <a:solidFill>
                  <a:srgbClr val="232B32"/>
                </a:solidFill>
                <a:latin typeface="Aptos"/>
              </a:rPr>
              <a:t> </a:t>
            </a:r>
            <a:r>
              <a:rPr sz="1100" b="0" dirty="0" err="1">
                <a:solidFill>
                  <a:srgbClr val="232B32"/>
                </a:solidFill>
                <a:latin typeface="Aptos"/>
              </a:rPr>
              <a:t>directement</a:t>
            </a:r>
            <a:r>
              <a:rPr sz="1100" b="0" dirty="0">
                <a:solidFill>
                  <a:srgbClr val="232B32"/>
                </a:solidFill>
                <a:latin typeface="Aptos"/>
              </a:rPr>
              <a:t> la taille des </a:t>
            </a:r>
            <a:r>
              <a:rPr sz="1100" b="0" dirty="0" err="1">
                <a:solidFill>
                  <a:srgbClr val="232B32"/>
                </a:solidFill>
                <a:latin typeface="Aptos"/>
              </a:rPr>
              <a:t>erreurs</a:t>
            </a:r>
            <a:r>
              <a:rPr sz="1100" b="0" dirty="0">
                <a:solidFill>
                  <a:srgbClr val="232B32"/>
                </a:solidFill>
                <a:latin typeface="Aptos"/>
              </a:rPr>
              <a: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20624" y="1134445"/>
            <a:ext cx="10881360" cy="1200329"/>
          </a:xfrm>
          <a:prstGeom prst="rect">
            <a:avLst/>
          </a:prstGeom>
          <a:noFill/>
        </p:spPr>
        <p:txBody>
          <a:bodyPr wrap="square" anchor="t">
            <a:spAutoFit/>
          </a:bodyPr>
          <a:lstStyle/>
          <a:p>
            <a:pPr algn="l"/>
            <a:r>
              <a:rPr lang="fr-CA" sz="1200" b="1" dirty="0">
                <a:solidFill>
                  <a:srgbClr val="626F7B"/>
                </a:solidFill>
                <a:latin typeface="Aptos"/>
              </a:rPr>
              <a:t>Objectif:</a:t>
            </a:r>
            <a:r>
              <a:rPr lang="fr-CA" sz="1200" b="0" dirty="0">
                <a:solidFill>
                  <a:srgbClr val="626F7B"/>
                </a:solidFill>
                <a:latin typeface="Aptos"/>
              </a:rPr>
              <a:t> </a:t>
            </a:r>
            <a:r>
              <a:rPr lang="fr-CA" sz="1200" b="0" dirty="0">
                <a:latin typeface="Aptos"/>
              </a:rPr>
              <a:t>Entraîner et d'évaluer des modèles de classification par Machine Learning pour prédire des catégories de facteurs de risque des séismes à partir d'un jeu de données de l'USGS.</a:t>
            </a:r>
          </a:p>
          <a:p>
            <a:pPr algn="l"/>
            <a:endParaRPr lang="fr-CA" sz="1200" dirty="0">
              <a:solidFill>
                <a:srgbClr val="626F7B"/>
              </a:solidFill>
              <a:latin typeface="Aptos"/>
            </a:endParaRPr>
          </a:p>
          <a:p>
            <a:pPr algn="l"/>
            <a:r>
              <a:rPr lang="fr-CA" sz="1200" b="0" dirty="0">
                <a:solidFill>
                  <a:srgbClr val="626F7B"/>
                </a:solidFill>
                <a:latin typeface="Aptos"/>
              </a:rPr>
              <a:t>Construction d'une variable cible sur mesure (</a:t>
            </a:r>
            <a:r>
              <a:rPr lang="fr-CA" sz="1200" b="1" dirty="0" err="1">
                <a:solidFill>
                  <a:srgbClr val="626F7B"/>
                </a:solidFill>
                <a:latin typeface="Aptos"/>
              </a:rPr>
              <a:t>target_risk_category</a:t>
            </a:r>
            <a:r>
              <a:rPr lang="fr-CA" sz="1200" b="0" dirty="0">
                <a:solidFill>
                  <a:srgbClr val="626F7B"/>
                </a:solidFill>
                <a:latin typeface="Aptos"/>
              </a:rPr>
              <a:t>) : </a:t>
            </a:r>
          </a:p>
          <a:p>
            <a:pPr algn="l"/>
            <a:r>
              <a:rPr lang="fr-CA" sz="1200" b="0" dirty="0">
                <a:latin typeface="Aptos"/>
              </a:rPr>
              <a:t>La  segmentation </a:t>
            </a:r>
            <a:r>
              <a:rPr lang="fr-CA" sz="1200" dirty="0">
                <a:latin typeface="Aptos"/>
              </a:rPr>
              <a:t>d</a:t>
            </a:r>
            <a:r>
              <a:rPr lang="fr-CA" sz="1200" b="0" dirty="0">
                <a:latin typeface="Aptos"/>
              </a:rPr>
              <a:t>es séismes en 5 catégories hiérarchisées (Risque Tsunami, Forte Secousse, Forte Exposition, Faible Profondeur, Risque Modéré ou Faible)</a:t>
            </a:r>
          </a:p>
          <a:p>
            <a:pPr algn="l"/>
            <a:r>
              <a:rPr lang="fr-CA" sz="1200" b="0" dirty="0">
                <a:latin typeface="Aptos"/>
              </a:rPr>
              <a:t>basées sur des règles métier (magnitude, profondeur, intensité MMI, alertes, etc.) tout en évitant les fuites de données (data </a:t>
            </a:r>
            <a:r>
              <a:rPr lang="fr-CA" sz="1200" b="0" dirty="0" err="1">
                <a:latin typeface="Aptos"/>
              </a:rPr>
              <a:t>leakage</a:t>
            </a:r>
            <a:r>
              <a:rPr lang="fr-CA" sz="1200" b="0" dirty="0">
                <a:latin typeface="Aptos"/>
              </a:rPr>
              <a:t>).</a:t>
            </a:r>
            <a:endParaRPr sz="1200" b="0" dirty="0">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extLst>
              <p:ext uri="{D42A27DB-BD31-4B8C-83A1-F6EECF244321}">
                <p14:modId xmlns:p14="http://schemas.microsoft.com/office/powerpoint/2010/main" val="260021514"/>
              </p:ext>
            </p:extLst>
          </p:nvPr>
        </p:nvGraphicFramePr>
        <p:xfrm>
          <a:off x="685800" y="3438834"/>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dirty="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2632590"/>
            <a:ext cx="4251960" cy="118182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268057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306462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4019916"/>
            <a:ext cx="4251960" cy="1145451"/>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4048236"/>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4432284"/>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5469192"/>
            <a:ext cx="4251960" cy="1072217"/>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5517176"/>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901224"/>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87416"/>
            <a:ext cx="995781" cy="276999"/>
          </a:xfrm>
          <a:prstGeom prst="rect">
            <a:avLst/>
          </a:prstGeom>
          <a:noFill/>
        </p:spPr>
        <p:txBody>
          <a:bodyPr wrap="square" anchor="t">
            <a:spAutoFit/>
          </a:bodyPr>
          <a:lstStyle/>
          <a:p>
            <a:pPr algn="l"/>
            <a:r>
              <a:rPr sz="1200" b="1" dirty="0">
                <a:solidFill>
                  <a:srgbClr val="626F7B"/>
                </a:solidFill>
                <a:latin typeface="Aptos"/>
              </a:rPr>
              <a:t>CHAMPION</a:t>
            </a:r>
          </a:p>
        </p:txBody>
      </p:sp>
      <p:sp>
        <p:nvSpPr>
          <p:cNvPr id="8" name="TextBox 7"/>
          <p:cNvSpPr txBox="1"/>
          <p:nvPr/>
        </p:nvSpPr>
        <p:spPr>
          <a:xfrm>
            <a:off x="1774449" y="1473393"/>
            <a:ext cx="1134770" cy="523220"/>
          </a:xfrm>
          <a:prstGeom prst="rect">
            <a:avLst/>
          </a:prstGeom>
          <a:noFill/>
        </p:spPr>
        <p:txBody>
          <a:bodyPr wrap="square" anchor="t">
            <a:spAutoFit/>
          </a:bodyPr>
          <a:lstStyle/>
          <a:p>
            <a:r>
              <a:rPr sz="1400" b="1" dirty="0">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77584"/>
            <a:ext cx="1022299" cy="307777"/>
          </a:xfrm>
          <a:prstGeom prst="rect">
            <a:avLst/>
          </a:prstGeom>
          <a:noFill/>
        </p:spPr>
        <p:txBody>
          <a:bodyPr wrap="square" anchor="t">
            <a:spAutoFit/>
          </a:bodyPr>
          <a:lstStyle/>
          <a:p>
            <a:pPr algn="l"/>
            <a:r>
              <a:rPr sz="1400" b="1" dirty="0">
                <a:solidFill>
                  <a:srgbClr val="626F7B"/>
                </a:solidFill>
                <a:latin typeface="Aptos"/>
              </a:rPr>
              <a:t>R² (log)</a:t>
            </a:r>
          </a:p>
        </p:txBody>
      </p:sp>
      <p:sp>
        <p:nvSpPr>
          <p:cNvPr id="11" name="TextBox 10"/>
          <p:cNvSpPr txBox="1"/>
          <p:nvPr/>
        </p:nvSpPr>
        <p:spPr>
          <a:xfrm>
            <a:off x="3760445" y="1559296"/>
            <a:ext cx="1052475" cy="353943"/>
          </a:xfrm>
          <a:prstGeom prst="rect">
            <a:avLst/>
          </a:prstGeom>
          <a:noFill/>
        </p:spPr>
        <p:txBody>
          <a:bodyPr wrap="square" anchor="t">
            <a:spAutoFit/>
          </a:bodyPr>
          <a:lstStyle/>
          <a:p>
            <a:pPr algn="r"/>
            <a:r>
              <a:rPr sz="1700" b="1" dirty="0">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87417"/>
            <a:ext cx="619963" cy="307777"/>
          </a:xfrm>
          <a:prstGeom prst="rect">
            <a:avLst/>
          </a:prstGeom>
          <a:noFill/>
        </p:spPr>
        <p:txBody>
          <a:bodyPr wrap="square" anchor="t">
            <a:spAutoFit/>
          </a:bodyPr>
          <a:lstStyle/>
          <a:p>
            <a:pPr algn="l"/>
            <a:r>
              <a:rPr sz="1400" b="1" dirty="0">
                <a:solidFill>
                  <a:srgbClr val="626F7B"/>
                </a:solidFill>
                <a:latin typeface="Aptos"/>
              </a:rPr>
              <a:t>MAE</a:t>
            </a:r>
            <a:endParaRPr sz="900" b="1" dirty="0">
              <a:solidFill>
                <a:srgbClr val="626F7B"/>
              </a:solidFill>
              <a:latin typeface="Aptos"/>
            </a:endParaRPr>
          </a:p>
        </p:txBody>
      </p:sp>
      <p:sp>
        <p:nvSpPr>
          <p:cNvPr id="14" name="TextBox 13"/>
          <p:cNvSpPr txBox="1"/>
          <p:nvPr/>
        </p:nvSpPr>
        <p:spPr>
          <a:xfrm>
            <a:off x="5815525" y="1554480"/>
            <a:ext cx="1236269" cy="353943"/>
          </a:xfrm>
          <a:prstGeom prst="rect">
            <a:avLst/>
          </a:prstGeom>
          <a:noFill/>
        </p:spPr>
        <p:txBody>
          <a:bodyPr wrap="square" anchor="t">
            <a:spAutoFit/>
          </a:bodyPr>
          <a:lstStyle/>
          <a:p>
            <a:pPr algn="r"/>
            <a:r>
              <a:rPr sz="1700" b="1" dirty="0">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67752"/>
            <a:ext cx="1022299" cy="338554"/>
          </a:xfrm>
          <a:prstGeom prst="rect">
            <a:avLst/>
          </a:prstGeom>
          <a:noFill/>
        </p:spPr>
        <p:txBody>
          <a:bodyPr wrap="square" anchor="t">
            <a:spAutoFit/>
          </a:bodyPr>
          <a:lstStyle/>
          <a:p>
            <a:pPr algn="l"/>
            <a:r>
              <a:rPr sz="1600" b="1" dirty="0">
                <a:solidFill>
                  <a:srgbClr val="626F7B"/>
                </a:solidFill>
                <a:latin typeface="Aptos"/>
              </a:rPr>
              <a:t>RMSE</a:t>
            </a:r>
            <a:endParaRPr sz="900" b="1" dirty="0">
              <a:solidFill>
                <a:srgbClr val="626F7B"/>
              </a:solidFill>
              <a:latin typeface="Aptos"/>
            </a:endParaRPr>
          </a:p>
        </p:txBody>
      </p:sp>
      <p:sp>
        <p:nvSpPr>
          <p:cNvPr id="17" name="TextBox 16"/>
          <p:cNvSpPr txBox="1"/>
          <p:nvPr/>
        </p:nvSpPr>
        <p:spPr>
          <a:xfrm>
            <a:off x="8130830" y="1579415"/>
            <a:ext cx="1022299" cy="353943"/>
          </a:xfrm>
          <a:prstGeom prst="rect">
            <a:avLst/>
          </a:prstGeom>
          <a:noFill/>
        </p:spPr>
        <p:txBody>
          <a:bodyPr wrap="square" anchor="t">
            <a:spAutoFit/>
          </a:bodyPr>
          <a:lstStyle/>
          <a:p>
            <a:pPr algn="r"/>
            <a:r>
              <a:rPr sz="1700" b="1" dirty="0">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523220"/>
          </a:xfrm>
          <a:prstGeom prst="rect">
            <a:avLst/>
          </a:prstGeom>
          <a:noFill/>
        </p:spPr>
        <p:txBody>
          <a:bodyPr wrap="square" anchor="t">
            <a:spAutoFit/>
          </a:bodyPr>
          <a:lstStyle/>
          <a:p>
            <a:pPr algn="l"/>
            <a:r>
              <a:rPr sz="1400" b="1" dirty="0">
                <a:solidFill>
                  <a:srgbClr val="626F7B"/>
                </a:solidFill>
                <a:latin typeface="Aptos"/>
              </a:rPr>
              <a:t>RMSE</a:t>
            </a:r>
            <a:r>
              <a:rPr sz="900" b="1" dirty="0">
                <a:solidFill>
                  <a:srgbClr val="626F7B"/>
                </a:solidFill>
                <a:latin typeface="Aptos"/>
              </a:rPr>
              <a:t> </a:t>
            </a:r>
            <a:r>
              <a:rPr sz="1400" b="1" dirty="0" err="1">
                <a:solidFill>
                  <a:srgbClr val="626F7B"/>
                </a:solidFill>
                <a:latin typeface="Aptos"/>
              </a:rPr>
              <a:t>pertes</a:t>
            </a:r>
            <a:r>
              <a:rPr sz="900" b="1" dirty="0">
                <a:solidFill>
                  <a:srgbClr val="626F7B"/>
                </a:solidFill>
                <a:latin typeface="Aptos"/>
              </a:rPr>
              <a:t> +</a:t>
            </a:r>
          </a:p>
        </p:txBody>
      </p:sp>
      <p:sp>
        <p:nvSpPr>
          <p:cNvPr id="20" name="TextBox 19"/>
          <p:cNvSpPr txBox="1"/>
          <p:nvPr/>
        </p:nvSpPr>
        <p:spPr>
          <a:xfrm>
            <a:off x="10404240" y="1569128"/>
            <a:ext cx="1053389" cy="353943"/>
          </a:xfrm>
          <a:prstGeom prst="rect">
            <a:avLst/>
          </a:prstGeom>
          <a:noFill/>
        </p:spPr>
        <p:txBody>
          <a:bodyPr wrap="square" anchor="t">
            <a:spAutoFit/>
          </a:bodyPr>
          <a:lstStyle/>
          <a:p>
            <a:r>
              <a:rPr sz="1700" b="1" dirty="0">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416</TotalTime>
  <Words>2792</Words>
  <Application>Microsoft Office PowerPoint</Application>
  <PresentationFormat>Grand écran</PresentationFormat>
  <Paragraphs>437</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24</cp:revision>
  <dcterms:created xsi:type="dcterms:W3CDTF">2013-01-27T09:14:16Z</dcterms:created>
  <dcterms:modified xsi:type="dcterms:W3CDTF">2026-10-14T22:43:55Z</dcterms:modified>
  <cp:category/>
</cp:coreProperties>
</file>