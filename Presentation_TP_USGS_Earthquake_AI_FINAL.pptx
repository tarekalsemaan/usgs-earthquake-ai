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58"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96"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194.238.26.226:5000/"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usgs-earthquake-ai-9zbupyrcn6cwtmhms5xa9p.streamlit.app/"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238"/>
        </a:solidFill>
        <a:effectLst/>
      </p:bgPr>
    </p:bg>
    <p:spTree>
      <p:nvGrpSpPr>
        <p:cNvPr id="1" name=""/>
        <p:cNvGrpSpPr/>
        <p:nvPr/>
      </p:nvGrpSpPr>
      <p:grpSpPr>
        <a:xfrm>
          <a:off x="0" y="0"/>
          <a:ext cx="0" cy="0"/>
          <a:chOff x="0" y="0"/>
          <a:chExt cx="0" cy="0"/>
        </a:xfrm>
      </p:grpSpPr>
      <p:sp>
        <p:nvSpPr>
          <p:cNvPr id="2" name="TextBox 1"/>
          <p:cNvSpPr txBox="1"/>
          <p:nvPr/>
        </p:nvSpPr>
        <p:spPr>
          <a:xfrm>
            <a:off x="365760" y="1063133"/>
            <a:ext cx="10789920" cy="646331"/>
          </a:xfrm>
          <a:prstGeom prst="rect">
            <a:avLst/>
          </a:prstGeom>
          <a:noFill/>
        </p:spPr>
        <p:txBody>
          <a:bodyPr wrap="square" anchor="t">
            <a:spAutoFit/>
          </a:bodyPr>
          <a:lstStyle/>
          <a:p>
            <a:pPr algn="ctr"/>
            <a:r>
              <a:rPr lang="fr-CA" sz="3600" b="1" dirty="0">
                <a:solidFill>
                  <a:schemeClr val="bg1"/>
                </a:solidFill>
              </a:rPr>
              <a:t>Risques Sismiques</a:t>
            </a:r>
          </a:p>
        </p:txBody>
      </p:sp>
      <p:cxnSp>
        <p:nvCxnSpPr>
          <p:cNvPr id="4" name="Connector 3"/>
          <p:cNvCxnSpPr/>
          <p:nvPr/>
        </p:nvCxnSpPr>
        <p:spPr>
          <a:xfrm>
            <a:off x="731520" y="4023360"/>
            <a:ext cx="822960" cy="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554480" y="3703320"/>
            <a:ext cx="274320" cy="32004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828800" y="3703320"/>
            <a:ext cx="228600" cy="8686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057400" y="3017520"/>
            <a:ext cx="274320" cy="15544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31720" y="3017520"/>
            <a:ext cx="274320" cy="123444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606040" y="4023360"/>
            <a:ext cx="320040" cy="22860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926080" y="4023360"/>
            <a:ext cx="822959" cy="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749039" y="3657600"/>
            <a:ext cx="274321" cy="36576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23360" y="3657600"/>
            <a:ext cx="228600" cy="77724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251960" y="3383280"/>
            <a:ext cx="274320" cy="105156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526280" y="3383280"/>
            <a:ext cx="274320" cy="6400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800600" y="4023360"/>
            <a:ext cx="868680" cy="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669280" y="3794760"/>
            <a:ext cx="274320" cy="22860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43600" y="3794760"/>
            <a:ext cx="274320" cy="36576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217920" y="4023360"/>
            <a:ext cx="274320" cy="13716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92240" y="4023360"/>
            <a:ext cx="822960" cy="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315200" y="3611880"/>
            <a:ext cx="320040" cy="4114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35240" y="3611880"/>
            <a:ext cx="274320" cy="8686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909560" y="3154680"/>
            <a:ext cx="274319" cy="132588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83879" y="3154680"/>
            <a:ext cx="274321" cy="100584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458200" y="4023360"/>
            <a:ext cx="274320" cy="13716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732520" y="4023360"/>
            <a:ext cx="2423160" cy="0"/>
          </a:xfrm>
          <a:prstGeom prst="line">
            <a:avLst/>
          </a:prstGeom>
          <a:ln w="31750">
            <a:solidFill>
              <a:srgbClr val="36A2B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5091761"/>
            <a:ext cx="10607040" cy="738664"/>
          </a:xfrm>
          <a:prstGeom prst="rect">
            <a:avLst/>
          </a:prstGeom>
          <a:noFill/>
        </p:spPr>
        <p:txBody>
          <a:bodyPr wrap="square" anchor="t">
            <a:spAutoFit/>
          </a:bodyPr>
          <a:lstStyle/>
          <a:p>
            <a:r>
              <a:rPr lang="fr-CA" sz="1400" b="1" dirty="0">
                <a:solidFill>
                  <a:srgbClr val="FFFFFF"/>
                </a:solidFill>
                <a:latin typeface="Aptos"/>
              </a:rPr>
              <a:t>Technique d’apprentissage automatique 420-74</a:t>
            </a:r>
          </a:p>
          <a:p>
            <a:pPr algn="l"/>
            <a:endParaRPr lang="fr-CA" sz="1400" b="1" dirty="0">
              <a:solidFill>
                <a:srgbClr val="FFFFFF"/>
              </a:solidFill>
              <a:latin typeface="Aptos"/>
            </a:endParaRPr>
          </a:p>
          <a:p>
            <a:pPr algn="l"/>
            <a:r>
              <a:rPr sz="1400" b="1" dirty="0">
                <a:solidFill>
                  <a:srgbClr val="FFFFFF"/>
                </a:solidFill>
                <a:latin typeface="Aptos"/>
              </a:rPr>
              <a:t>Données USGS 2025 </a:t>
            </a:r>
            <a:r>
              <a:rPr lang="fr-CA" sz="1400" b="1" dirty="0">
                <a:solidFill>
                  <a:srgbClr val="FFFFFF"/>
                </a:solidFill>
                <a:latin typeface="Aptos"/>
              </a:rPr>
              <a:t> 29062 </a:t>
            </a:r>
            <a:r>
              <a:rPr lang="fr-CA" sz="1400" b="1" dirty="0" err="1">
                <a:solidFill>
                  <a:srgbClr val="FFFFFF"/>
                </a:solidFill>
                <a:latin typeface="Aptos"/>
              </a:rPr>
              <a:t>évenments</a:t>
            </a:r>
            <a:r>
              <a:rPr sz="1400" b="1" dirty="0">
                <a:solidFill>
                  <a:srgbClr val="FFFFFF"/>
                </a:solidFill>
                <a:latin typeface="Aptos"/>
              </a:rPr>
              <a:t> •  Classification  •  </a:t>
            </a:r>
            <a:r>
              <a:rPr sz="1400" b="1" dirty="0" err="1">
                <a:solidFill>
                  <a:srgbClr val="FFFFFF"/>
                </a:solidFill>
                <a:latin typeface="Aptos"/>
              </a:rPr>
              <a:t>Régression</a:t>
            </a:r>
            <a:r>
              <a:rPr sz="1400" b="1" dirty="0">
                <a:solidFill>
                  <a:srgbClr val="FFFFFF"/>
                </a:solidFill>
                <a:latin typeface="Aptos"/>
              </a:rPr>
              <a:t>  •  </a:t>
            </a:r>
            <a:r>
              <a:rPr sz="1400" b="1" dirty="0" err="1">
                <a:solidFill>
                  <a:srgbClr val="FFFFFF"/>
                </a:solidFill>
                <a:latin typeface="Aptos"/>
              </a:rPr>
              <a:t>Règles</a:t>
            </a:r>
            <a:endParaRPr lang="fr-CA" sz="1400" b="1" dirty="0">
              <a:solidFill>
                <a:srgbClr val="FFFFFF"/>
              </a:solidFill>
              <a:latin typeface="Aptos"/>
            </a:endParaRPr>
          </a:p>
        </p:txBody>
      </p:sp>
      <p:sp>
        <p:nvSpPr>
          <p:cNvPr id="27" name="TextBox 26"/>
          <p:cNvSpPr txBox="1"/>
          <p:nvPr/>
        </p:nvSpPr>
        <p:spPr>
          <a:xfrm>
            <a:off x="4800600" y="1778044"/>
            <a:ext cx="4572000" cy="274320"/>
          </a:xfrm>
          <a:prstGeom prst="rect">
            <a:avLst/>
          </a:prstGeom>
          <a:noFill/>
        </p:spPr>
        <p:txBody>
          <a:bodyPr wrap="square" anchor="t">
            <a:spAutoFit/>
          </a:bodyPr>
          <a:lstStyle/>
          <a:p>
            <a:pPr algn="l"/>
            <a:r>
              <a:rPr sz="1100" b="0" dirty="0" err="1">
                <a:solidFill>
                  <a:srgbClr val="B0C6D2"/>
                </a:solidFill>
                <a:latin typeface="Aptos"/>
              </a:rPr>
              <a:t>Projet</a:t>
            </a:r>
            <a:r>
              <a:rPr sz="1100" b="0" dirty="0">
                <a:solidFill>
                  <a:srgbClr val="B0C6D2"/>
                </a:solidFill>
                <a:latin typeface="Aptos"/>
              </a:rPr>
              <a:t> : USGS-Earthquake-AI</a:t>
            </a:r>
          </a:p>
        </p:txBody>
      </p:sp>
      <p:sp>
        <p:nvSpPr>
          <p:cNvPr id="28" name="TextBox 27"/>
          <p:cNvSpPr txBox="1"/>
          <p:nvPr/>
        </p:nvSpPr>
        <p:spPr>
          <a:xfrm>
            <a:off x="8183879" y="5320361"/>
            <a:ext cx="1609345" cy="954107"/>
          </a:xfrm>
          <a:prstGeom prst="rect">
            <a:avLst/>
          </a:prstGeom>
          <a:noFill/>
        </p:spPr>
        <p:txBody>
          <a:bodyPr wrap="square" anchor="t">
            <a:spAutoFit/>
          </a:bodyPr>
          <a:lstStyle/>
          <a:p>
            <a:pPr algn="ctr"/>
            <a:r>
              <a:rPr lang="fr-CA" sz="1400" b="1" dirty="0">
                <a:solidFill>
                  <a:schemeClr val="bg1"/>
                </a:solidFill>
              </a:rPr>
              <a:t>Anis Boutekadjiret</a:t>
            </a:r>
          </a:p>
          <a:p>
            <a:pPr algn="ctr"/>
            <a:r>
              <a:rPr lang="fr-CA" sz="1400" b="1" dirty="0">
                <a:solidFill>
                  <a:schemeClr val="bg1"/>
                </a:solidFill>
              </a:rPr>
              <a:t>Tarek </a:t>
            </a:r>
            <a:r>
              <a:rPr lang="fr-CA" sz="1400" b="1" dirty="0" err="1">
                <a:solidFill>
                  <a:schemeClr val="bg1"/>
                </a:solidFill>
              </a:rPr>
              <a:t>Alsemaan</a:t>
            </a:r>
            <a:endParaRPr lang="fr-CA" sz="1400" b="1" dirty="0">
              <a:solidFill>
                <a:schemeClr val="bg1"/>
              </a:solidFill>
            </a:endParaRPr>
          </a:p>
          <a:p>
            <a:pPr algn="ctr"/>
            <a:r>
              <a:rPr lang="fr-CA" sz="1400" b="1" dirty="0" err="1">
                <a:solidFill>
                  <a:schemeClr val="bg1"/>
                </a:solidFill>
              </a:rPr>
              <a:t>Nejib</a:t>
            </a:r>
            <a:r>
              <a:rPr lang="fr-CA" sz="1400" b="1" dirty="0">
                <a:solidFill>
                  <a:schemeClr val="bg1"/>
                </a:solidFill>
              </a:rPr>
              <a:t> </a:t>
            </a:r>
            <a:r>
              <a:rPr lang="fr-CA" sz="1400" b="1" dirty="0" err="1">
                <a:solidFill>
                  <a:schemeClr val="bg1"/>
                </a:solidFill>
              </a:rPr>
              <a:t>Mlaihi</a:t>
            </a:r>
            <a:endParaRPr lang="fr-CA" sz="1400" b="1" dirty="0">
              <a:solidFill>
                <a:schemeClr val="bg1"/>
              </a:solidFill>
            </a:endParaRPr>
          </a:p>
          <a:p>
            <a:pPr algn="ctr"/>
            <a:r>
              <a:rPr lang="fr-CA" sz="1400" dirty="0">
                <a:solidFill>
                  <a:schemeClr val="bg1"/>
                </a:solidFill>
                <a:latin typeface="Aptos"/>
              </a:rPr>
              <a:t>2026</a:t>
            </a:r>
            <a:endParaRPr sz="1400" b="0" dirty="0">
              <a:solidFill>
                <a:schemeClr val="bg1"/>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7018"/>
            <a:ext cx="10698480" cy="523220"/>
          </a:xfrm>
          <a:prstGeom prst="rect">
            <a:avLst/>
          </a:prstGeom>
          <a:noFill/>
        </p:spPr>
        <p:txBody>
          <a:bodyPr wrap="square" anchor="t">
            <a:spAutoFit/>
          </a:bodyPr>
          <a:lstStyle/>
          <a:p>
            <a:pPr algn="l"/>
            <a:r>
              <a:rPr lang="fr-CA" sz="2800" b="1" dirty="0">
                <a:solidFill>
                  <a:srgbClr val="0F2238"/>
                </a:solidFill>
                <a:latin typeface="Aptos"/>
              </a:rPr>
              <a:t>Objectif:</a:t>
            </a:r>
            <a:endParaRPr sz="2800" b="1" dirty="0">
              <a:solidFill>
                <a:srgbClr val="0F2238"/>
              </a:solidFill>
              <a:latin typeface="Aptos"/>
            </a:endParaRP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30986"/>
            <a:ext cx="10881360" cy="461665"/>
          </a:xfrm>
          <a:prstGeom prst="rect">
            <a:avLst/>
          </a:prstGeom>
          <a:noFill/>
        </p:spPr>
        <p:txBody>
          <a:bodyPr wrap="square" anchor="t">
            <a:spAutoFit/>
          </a:bodyPr>
          <a:lstStyle/>
          <a:p>
            <a:pPr algn="l"/>
            <a:r>
              <a:rPr lang="fr-CA" sz="1200" b="0" dirty="0">
                <a:solidFill>
                  <a:srgbClr val="626F7B"/>
                </a:solidFill>
                <a:latin typeface="Aptos"/>
              </a:rPr>
              <a:t>Développer, évaluer et comparer des modèles supervisés de classification et de régression linéaire, utiliser la validation croisée pour valider leurs performances, suivre les expérimentations avec MLflow et sélectionner le modèle champion selon les métriques d'évaluation.</a:t>
            </a:r>
            <a:endParaRPr sz="1200" b="0" dirty="0">
              <a:solidFill>
                <a:srgbClr val="626F7B"/>
              </a:solidFill>
              <a:latin typeface="Aptos"/>
            </a:endParaRP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02</a:t>
            </a:r>
          </a:p>
        </p:txBody>
      </p:sp>
      <p:sp>
        <p:nvSpPr>
          <p:cNvPr id="6" name="TextBox 5"/>
          <p:cNvSpPr txBox="1"/>
          <p:nvPr/>
        </p:nvSpPr>
        <p:spPr>
          <a:xfrm>
            <a:off x="658368" y="1572768"/>
            <a:ext cx="411480" cy="256032"/>
          </a:xfrm>
          <a:prstGeom prst="rect">
            <a:avLst/>
          </a:prstGeom>
          <a:noFill/>
        </p:spPr>
        <p:txBody>
          <a:bodyPr wrap="square" anchor="t">
            <a:spAutoFit/>
          </a:bodyPr>
          <a:lstStyle/>
          <a:p>
            <a:pPr algn="l"/>
            <a:r>
              <a:rPr sz="1200" b="1">
                <a:solidFill>
                  <a:srgbClr val="36A2BF"/>
                </a:solidFill>
                <a:latin typeface="Aptos"/>
              </a:rPr>
              <a:t>02</a:t>
            </a:r>
          </a:p>
        </p:txBody>
      </p:sp>
      <p:sp>
        <p:nvSpPr>
          <p:cNvPr id="7" name="TextBox 6"/>
          <p:cNvSpPr txBox="1"/>
          <p:nvPr/>
        </p:nvSpPr>
        <p:spPr>
          <a:xfrm>
            <a:off x="1170432" y="1572768"/>
            <a:ext cx="2148840" cy="256032"/>
          </a:xfrm>
          <a:prstGeom prst="rect">
            <a:avLst/>
          </a:prstGeom>
          <a:noFill/>
        </p:spPr>
        <p:txBody>
          <a:bodyPr wrap="square" anchor="t">
            <a:spAutoFit/>
          </a:bodyPr>
          <a:lstStyle/>
          <a:p>
            <a:pPr algn="l"/>
            <a:r>
              <a:rPr sz="1300" b="1">
                <a:solidFill>
                  <a:srgbClr val="0F2238"/>
                </a:solidFill>
                <a:latin typeface="Aptos"/>
              </a:rPr>
              <a:t>Zone de risque</a:t>
            </a:r>
          </a:p>
        </p:txBody>
      </p:sp>
      <p:sp>
        <p:nvSpPr>
          <p:cNvPr id="8" name="TextBox 7"/>
          <p:cNvSpPr txBox="1"/>
          <p:nvPr/>
        </p:nvSpPr>
        <p:spPr>
          <a:xfrm>
            <a:off x="3429000" y="1572768"/>
            <a:ext cx="1234440" cy="256032"/>
          </a:xfrm>
          <a:prstGeom prst="rect">
            <a:avLst/>
          </a:prstGeom>
          <a:noFill/>
        </p:spPr>
        <p:txBody>
          <a:bodyPr wrap="square" anchor="t">
            <a:spAutoFit/>
          </a:bodyPr>
          <a:lstStyle/>
          <a:p>
            <a:pPr algn="l"/>
            <a:r>
              <a:rPr sz="1100" b="1">
                <a:solidFill>
                  <a:srgbClr val="626F7B"/>
                </a:solidFill>
                <a:latin typeface="Aptos"/>
              </a:rPr>
              <a:t>Classification</a:t>
            </a:r>
          </a:p>
        </p:txBody>
      </p:sp>
      <p:sp>
        <p:nvSpPr>
          <p:cNvPr id="9" name="TextBox 8"/>
          <p:cNvSpPr txBox="1"/>
          <p:nvPr/>
        </p:nvSpPr>
        <p:spPr>
          <a:xfrm>
            <a:off x="4800600" y="1572768"/>
            <a:ext cx="6217920" cy="256032"/>
          </a:xfrm>
          <a:prstGeom prst="rect">
            <a:avLst/>
          </a:prstGeom>
          <a:noFill/>
        </p:spPr>
        <p:txBody>
          <a:bodyPr wrap="square" anchor="t">
            <a:spAutoFit/>
          </a:bodyPr>
          <a:lstStyle/>
          <a:p>
            <a:pPr algn="l"/>
            <a:r>
              <a:rPr sz="1100" b="0">
                <a:solidFill>
                  <a:srgbClr val="232B32"/>
                </a:solidFill>
                <a:latin typeface="Aptos"/>
              </a:rPr>
              <a:t>KNN • Decision Tree • Random Forest</a:t>
            </a:r>
          </a:p>
        </p:txBody>
      </p:sp>
      <p:sp>
        <p:nvSpPr>
          <p:cNvPr id="10" name="TextBox 9"/>
          <p:cNvSpPr txBox="1"/>
          <p:nvPr/>
        </p:nvSpPr>
        <p:spPr>
          <a:xfrm>
            <a:off x="658368" y="2203704"/>
            <a:ext cx="411480" cy="256032"/>
          </a:xfrm>
          <a:prstGeom prst="rect">
            <a:avLst/>
          </a:prstGeom>
          <a:noFill/>
        </p:spPr>
        <p:txBody>
          <a:bodyPr wrap="square" anchor="t">
            <a:spAutoFit/>
          </a:bodyPr>
          <a:lstStyle/>
          <a:p>
            <a:pPr algn="l"/>
            <a:r>
              <a:rPr sz="1200" b="1">
                <a:solidFill>
                  <a:srgbClr val="36A2BF"/>
                </a:solidFill>
                <a:latin typeface="Aptos"/>
              </a:rPr>
              <a:t>03</a:t>
            </a:r>
          </a:p>
        </p:txBody>
      </p:sp>
      <p:sp>
        <p:nvSpPr>
          <p:cNvPr id="11" name="TextBox 10"/>
          <p:cNvSpPr txBox="1"/>
          <p:nvPr/>
        </p:nvSpPr>
        <p:spPr>
          <a:xfrm>
            <a:off x="1170432" y="2203704"/>
            <a:ext cx="2148840" cy="256032"/>
          </a:xfrm>
          <a:prstGeom prst="rect">
            <a:avLst/>
          </a:prstGeom>
          <a:noFill/>
        </p:spPr>
        <p:txBody>
          <a:bodyPr wrap="square" anchor="t">
            <a:spAutoFit/>
          </a:bodyPr>
          <a:lstStyle/>
          <a:p>
            <a:pPr algn="l"/>
            <a:r>
              <a:rPr sz="1300" b="1">
                <a:solidFill>
                  <a:srgbClr val="0F2238"/>
                </a:solidFill>
                <a:latin typeface="Aptos"/>
              </a:rPr>
              <a:t>Sévérité / significance</a:t>
            </a:r>
          </a:p>
        </p:txBody>
      </p:sp>
      <p:sp>
        <p:nvSpPr>
          <p:cNvPr id="12" name="TextBox 11"/>
          <p:cNvSpPr txBox="1"/>
          <p:nvPr/>
        </p:nvSpPr>
        <p:spPr>
          <a:xfrm>
            <a:off x="3429000" y="2203704"/>
            <a:ext cx="1234440" cy="256032"/>
          </a:xfrm>
          <a:prstGeom prst="rect">
            <a:avLst/>
          </a:prstGeom>
          <a:noFill/>
        </p:spPr>
        <p:txBody>
          <a:bodyPr wrap="square" anchor="t">
            <a:spAutoFit/>
          </a:bodyPr>
          <a:lstStyle/>
          <a:p>
            <a:pPr algn="l"/>
            <a:r>
              <a:rPr sz="1100" b="1">
                <a:solidFill>
                  <a:srgbClr val="626F7B"/>
                </a:solidFill>
                <a:latin typeface="Aptos"/>
              </a:rPr>
              <a:t>Régression</a:t>
            </a:r>
          </a:p>
        </p:txBody>
      </p:sp>
      <p:sp>
        <p:nvSpPr>
          <p:cNvPr id="13" name="TextBox 12"/>
          <p:cNvSpPr txBox="1"/>
          <p:nvPr/>
        </p:nvSpPr>
        <p:spPr>
          <a:xfrm>
            <a:off x="4800600" y="2203704"/>
            <a:ext cx="6217920" cy="256032"/>
          </a:xfrm>
          <a:prstGeom prst="rect">
            <a:avLst/>
          </a:prstGeom>
          <a:noFill/>
        </p:spPr>
        <p:txBody>
          <a:bodyPr wrap="square" anchor="t">
            <a:spAutoFit/>
          </a:bodyPr>
          <a:lstStyle/>
          <a:p>
            <a:pPr algn="l"/>
            <a:r>
              <a:rPr sz="1100" b="0">
                <a:solidFill>
                  <a:srgbClr val="232B32"/>
                </a:solidFill>
                <a:latin typeface="Aptos"/>
              </a:rPr>
              <a:t>KNN • Decision Tree • Random Forest</a:t>
            </a:r>
          </a:p>
        </p:txBody>
      </p:sp>
      <p:sp>
        <p:nvSpPr>
          <p:cNvPr id="14" name="TextBox 13"/>
          <p:cNvSpPr txBox="1"/>
          <p:nvPr/>
        </p:nvSpPr>
        <p:spPr>
          <a:xfrm>
            <a:off x="658368" y="2834639"/>
            <a:ext cx="411480" cy="256032"/>
          </a:xfrm>
          <a:prstGeom prst="rect">
            <a:avLst/>
          </a:prstGeom>
          <a:noFill/>
        </p:spPr>
        <p:txBody>
          <a:bodyPr wrap="square" anchor="t">
            <a:spAutoFit/>
          </a:bodyPr>
          <a:lstStyle/>
          <a:p>
            <a:pPr algn="l"/>
            <a:r>
              <a:rPr sz="1200" b="1">
                <a:solidFill>
                  <a:srgbClr val="36A2BF"/>
                </a:solidFill>
                <a:latin typeface="Aptos"/>
              </a:rPr>
              <a:t>04</a:t>
            </a:r>
          </a:p>
        </p:txBody>
      </p:sp>
      <p:sp>
        <p:nvSpPr>
          <p:cNvPr id="15" name="TextBox 14"/>
          <p:cNvSpPr txBox="1"/>
          <p:nvPr/>
        </p:nvSpPr>
        <p:spPr>
          <a:xfrm>
            <a:off x="1170432" y="2834639"/>
            <a:ext cx="2148840" cy="256032"/>
          </a:xfrm>
          <a:prstGeom prst="rect">
            <a:avLst/>
          </a:prstGeom>
          <a:noFill/>
        </p:spPr>
        <p:txBody>
          <a:bodyPr wrap="square" anchor="t">
            <a:spAutoFit/>
          </a:bodyPr>
          <a:lstStyle/>
          <a:p>
            <a:pPr algn="l"/>
            <a:r>
              <a:rPr sz="1300" b="1">
                <a:solidFill>
                  <a:srgbClr val="0F2238"/>
                </a:solidFill>
                <a:latin typeface="Aptos"/>
              </a:rPr>
              <a:t>Facteur de risque</a:t>
            </a:r>
          </a:p>
        </p:txBody>
      </p:sp>
      <p:sp>
        <p:nvSpPr>
          <p:cNvPr id="16" name="TextBox 15"/>
          <p:cNvSpPr txBox="1"/>
          <p:nvPr/>
        </p:nvSpPr>
        <p:spPr>
          <a:xfrm>
            <a:off x="3429000" y="2834639"/>
            <a:ext cx="1234440" cy="256032"/>
          </a:xfrm>
          <a:prstGeom prst="rect">
            <a:avLst/>
          </a:prstGeom>
          <a:noFill/>
        </p:spPr>
        <p:txBody>
          <a:bodyPr wrap="square" anchor="t">
            <a:spAutoFit/>
          </a:bodyPr>
          <a:lstStyle/>
          <a:p>
            <a:pPr algn="l"/>
            <a:r>
              <a:rPr sz="1100" b="1">
                <a:solidFill>
                  <a:srgbClr val="626F7B"/>
                </a:solidFill>
                <a:latin typeface="Aptos"/>
              </a:rPr>
              <a:t>Classification</a:t>
            </a:r>
          </a:p>
        </p:txBody>
      </p:sp>
      <p:sp>
        <p:nvSpPr>
          <p:cNvPr id="17" name="TextBox 16"/>
          <p:cNvSpPr txBox="1"/>
          <p:nvPr/>
        </p:nvSpPr>
        <p:spPr>
          <a:xfrm>
            <a:off x="4800600" y="2834639"/>
            <a:ext cx="6217920" cy="256032"/>
          </a:xfrm>
          <a:prstGeom prst="rect">
            <a:avLst/>
          </a:prstGeom>
          <a:noFill/>
        </p:spPr>
        <p:txBody>
          <a:bodyPr wrap="square" anchor="t">
            <a:spAutoFit/>
          </a:bodyPr>
          <a:lstStyle/>
          <a:p>
            <a:pPr algn="l"/>
            <a:r>
              <a:rPr sz="1100" b="0">
                <a:solidFill>
                  <a:srgbClr val="232B32"/>
                </a:solidFill>
                <a:latin typeface="Aptos"/>
              </a:rPr>
              <a:t>LightGBM • XGBoost • Random Forest</a:t>
            </a:r>
          </a:p>
        </p:txBody>
      </p:sp>
      <p:sp>
        <p:nvSpPr>
          <p:cNvPr id="18" name="TextBox 17"/>
          <p:cNvSpPr txBox="1"/>
          <p:nvPr/>
        </p:nvSpPr>
        <p:spPr>
          <a:xfrm>
            <a:off x="658368" y="3465576"/>
            <a:ext cx="411480" cy="256032"/>
          </a:xfrm>
          <a:prstGeom prst="rect">
            <a:avLst/>
          </a:prstGeom>
          <a:noFill/>
        </p:spPr>
        <p:txBody>
          <a:bodyPr wrap="square" anchor="t">
            <a:spAutoFit/>
          </a:bodyPr>
          <a:lstStyle/>
          <a:p>
            <a:pPr algn="l"/>
            <a:r>
              <a:rPr sz="1200" b="1">
                <a:solidFill>
                  <a:srgbClr val="36A2BF"/>
                </a:solidFill>
                <a:latin typeface="Aptos"/>
              </a:rPr>
              <a:t>05</a:t>
            </a:r>
          </a:p>
        </p:txBody>
      </p:sp>
      <p:sp>
        <p:nvSpPr>
          <p:cNvPr id="19" name="TextBox 18"/>
          <p:cNvSpPr txBox="1"/>
          <p:nvPr/>
        </p:nvSpPr>
        <p:spPr>
          <a:xfrm>
            <a:off x="1170432" y="3465576"/>
            <a:ext cx="2148840" cy="256032"/>
          </a:xfrm>
          <a:prstGeom prst="rect">
            <a:avLst/>
          </a:prstGeom>
          <a:noFill/>
        </p:spPr>
        <p:txBody>
          <a:bodyPr wrap="square" anchor="t">
            <a:spAutoFit/>
          </a:bodyPr>
          <a:lstStyle/>
          <a:p>
            <a:pPr algn="l"/>
            <a:r>
              <a:rPr sz="1300" b="1">
                <a:solidFill>
                  <a:srgbClr val="0F2238"/>
                </a:solidFill>
                <a:latin typeface="Aptos"/>
              </a:rPr>
              <a:t>Dommages</a:t>
            </a:r>
          </a:p>
        </p:txBody>
      </p:sp>
      <p:sp>
        <p:nvSpPr>
          <p:cNvPr id="20" name="TextBox 19"/>
          <p:cNvSpPr txBox="1"/>
          <p:nvPr/>
        </p:nvSpPr>
        <p:spPr>
          <a:xfrm>
            <a:off x="3429000" y="3465576"/>
            <a:ext cx="1234440" cy="256032"/>
          </a:xfrm>
          <a:prstGeom prst="rect">
            <a:avLst/>
          </a:prstGeom>
          <a:noFill/>
        </p:spPr>
        <p:txBody>
          <a:bodyPr wrap="square" anchor="t">
            <a:spAutoFit/>
          </a:bodyPr>
          <a:lstStyle/>
          <a:p>
            <a:pPr algn="l"/>
            <a:r>
              <a:rPr sz="1100" b="1">
                <a:solidFill>
                  <a:srgbClr val="626F7B"/>
                </a:solidFill>
                <a:latin typeface="Aptos"/>
              </a:rPr>
              <a:t>Classification</a:t>
            </a:r>
          </a:p>
        </p:txBody>
      </p:sp>
      <p:sp>
        <p:nvSpPr>
          <p:cNvPr id="21" name="TextBox 20"/>
          <p:cNvSpPr txBox="1"/>
          <p:nvPr/>
        </p:nvSpPr>
        <p:spPr>
          <a:xfrm>
            <a:off x="4800600" y="3465576"/>
            <a:ext cx="6217920" cy="256032"/>
          </a:xfrm>
          <a:prstGeom prst="rect">
            <a:avLst/>
          </a:prstGeom>
          <a:noFill/>
        </p:spPr>
        <p:txBody>
          <a:bodyPr wrap="square" anchor="t">
            <a:spAutoFit/>
          </a:bodyPr>
          <a:lstStyle/>
          <a:p>
            <a:pPr algn="l"/>
            <a:r>
              <a:rPr sz="1100" b="0">
                <a:solidFill>
                  <a:srgbClr val="232B32"/>
                </a:solidFill>
                <a:latin typeface="Aptos"/>
              </a:rPr>
              <a:t>KNN • Decision Tree • Random Forest • XGBoost</a:t>
            </a:r>
          </a:p>
        </p:txBody>
      </p:sp>
      <p:sp>
        <p:nvSpPr>
          <p:cNvPr id="22" name="TextBox 21"/>
          <p:cNvSpPr txBox="1"/>
          <p:nvPr/>
        </p:nvSpPr>
        <p:spPr>
          <a:xfrm>
            <a:off x="658368" y="4096511"/>
            <a:ext cx="411480" cy="256032"/>
          </a:xfrm>
          <a:prstGeom prst="rect">
            <a:avLst/>
          </a:prstGeom>
          <a:noFill/>
        </p:spPr>
        <p:txBody>
          <a:bodyPr wrap="square" anchor="t">
            <a:spAutoFit/>
          </a:bodyPr>
          <a:lstStyle/>
          <a:p>
            <a:pPr algn="l"/>
            <a:r>
              <a:rPr sz="1200" b="1">
                <a:solidFill>
                  <a:srgbClr val="36A2BF"/>
                </a:solidFill>
                <a:latin typeface="Aptos"/>
              </a:rPr>
              <a:t>06</a:t>
            </a:r>
          </a:p>
        </p:txBody>
      </p:sp>
      <p:sp>
        <p:nvSpPr>
          <p:cNvPr id="23" name="TextBox 22"/>
          <p:cNvSpPr txBox="1"/>
          <p:nvPr/>
        </p:nvSpPr>
        <p:spPr>
          <a:xfrm>
            <a:off x="1170432" y="4096511"/>
            <a:ext cx="2148840" cy="256032"/>
          </a:xfrm>
          <a:prstGeom prst="rect">
            <a:avLst/>
          </a:prstGeom>
          <a:noFill/>
        </p:spPr>
        <p:txBody>
          <a:bodyPr wrap="square" anchor="t">
            <a:spAutoFit/>
          </a:bodyPr>
          <a:lstStyle/>
          <a:p>
            <a:pPr algn="l"/>
            <a:r>
              <a:rPr sz="1300" b="1">
                <a:solidFill>
                  <a:srgbClr val="0F2238"/>
                </a:solidFill>
                <a:latin typeface="Aptos"/>
              </a:rPr>
              <a:t>Action</a:t>
            </a:r>
          </a:p>
        </p:txBody>
      </p:sp>
      <p:sp>
        <p:nvSpPr>
          <p:cNvPr id="24" name="TextBox 23"/>
          <p:cNvSpPr txBox="1"/>
          <p:nvPr/>
        </p:nvSpPr>
        <p:spPr>
          <a:xfrm>
            <a:off x="3429000" y="4096511"/>
            <a:ext cx="1234440" cy="256032"/>
          </a:xfrm>
          <a:prstGeom prst="rect">
            <a:avLst/>
          </a:prstGeom>
          <a:noFill/>
        </p:spPr>
        <p:txBody>
          <a:bodyPr wrap="square" anchor="t">
            <a:spAutoFit/>
          </a:bodyPr>
          <a:lstStyle/>
          <a:p>
            <a:pPr algn="l"/>
            <a:r>
              <a:rPr sz="1100" b="1">
                <a:solidFill>
                  <a:srgbClr val="626F7B"/>
                </a:solidFill>
                <a:latin typeface="Aptos"/>
              </a:rPr>
              <a:t>Règles</a:t>
            </a:r>
          </a:p>
        </p:txBody>
      </p:sp>
      <p:sp>
        <p:nvSpPr>
          <p:cNvPr id="25" name="TextBox 24"/>
          <p:cNvSpPr txBox="1"/>
          <p:nvPr/>
        </p:nvSpPr>
        <p:spPr>
          <a:xfrm>
            <a:off x="4800600" y="4096511"/>
            <a:ext cx="6217920" cy="256032"/>
          </a:xfrm>
          <a:prstGeom prst="rect">
            <a:avLst/>
          </a:prstGeom>
          <a:noFill/>
        </p:spPr>
        <p:txBody>
          <a:bodyPr wrap="square" anchor="t">
            <a:spAutoFit/>
          </a:bodyPr>
          <a:lstStyle/>
          <a:p>
            <a:pPr algn="l"/>
            <a:r>
              <a:rPr sz="1100" b="0">
                <a:solidFill>
                  <a:srgbClr val="232B32"/>
                </a:solidFill>
                <a:latin typeface="Aptos"/>
              </a:rPr>
              <a:t>Moteur déterministe</a:t>
            </a:r>
          </a:p>
        </p:txBody>
      </p:sp>
      <p:sp>
        <p:nvSpPr>
          <p:cNvPr id="26" name="TextBox 25"/>
          <p:cNvSpPr txBox="1"/>
          <p:nvPr/>
        </p:nvSpPr>
        <p:spPr>
          <a:xfrm>
            <a:off x="658368" y="4727448"/>
            <a:ext cx="411480" cy="256032"/>
          </a:xfrm>
          <a:prstGeom prst="rect">
            <a:avLst/>
          </a:prstGeom>
          <a:noFill/>
        </p:spPr>
        <p:txBody>
          <a:bodyPr wrap="square" anchor="t">
            <a:spAutoFit/>
          </a:bodyPr>
          <a:lstStyle/>
          <a:p>
            <a:pPr algn="l"/>
            <a:r>
              <a:rPr sz="1200" b="1">
                <a:solidFill>
                  <a:srgbClr val="36A2BF"/>
                </a:solidFill>
                <a:latin typeface="Aptos"/>
              </a:rPr>
              <a:t>07</a:t>
            </a:r>
          </a:p>
        </p:txBody>
      </p:sp>
      <p:sp>
        <p:nvSpPr>
          <p:cNvPr id="27" name="TextBox 26"/>
          <p:cNvSpPr txBox="1"/>
          <p:nvPr/>
        </p:nvSpPr>
        <p:spPr>
          <a:xfrm>
            <a:off x="1170432" y="4727448"/>
            <a:ext cx="2148840" cy="256032"/>
          </a:xfrm>
          <a:prstGeom prst="rect">
            <a:avLst/>
          </a:prstGeom>
          <a:noFill/>
        </p:spPr>
        <p:txBody>
          <a:bodyPr wrap="square" anchor="t">
            <a:spAutoFit/>
          </a:bodyPr>
          <a:lstStyle/>
          <a:p>
            <a:pPr algn="l"/>
            <a:r>
              <a:rPr sz="1300" b="1">
                <a:solidFill>
                  <a:srgbClr val="0F2238"/>
                </a:solidFill>
                <a:latin typeface="Aptos"/>
              </a:rPr>
              <a:t>Pertes économiques</a:t>
            </a:r>
          </a:p>
        </p:txBody>
      </p:sp>
      <p:sp>
        <p:nvSpPr>
          <p:cNvPr id="28" name="TextBox 27"/>
          <p:cNvSpPr txBox="1"/>
          <p:nvPr/>
        </p:nvSpPr>
        <p:spPr>
          <a:xfrm>
            <a:off x="3429000" y="4727448"/>
            <a:ext cx="1234440" cy="256032"/>
          </a:xfrm>
          <a:prstGeom prst="rect">
            <a:avLst/>
          </a:prstGeom>
          <a:noFill/>
        </p:spPr>
        <p:txBody>
          <a:bodyPr wrap="square" anchor="t">
            <a:spAutoFit/>
          </a:bodyPr>
          <a:lstStyle/>
          <a:p>
            <a:pPr algn="l"/>
            <a:r>
              <a:rPr sz="1100" b="1">
                <a:solidFill>
                  <a:srgbClr val="626F7B"/>
                </a:solidFill>
                <a:latin typeface="Aptos"/>
              </a:rPr>
              <a:t>Régression</a:t>
            </a:r>
          </a:p>
        </p:txBody>
      </p:sp>
      <p:sp>
        <p:nvSpPr>
          <p:cNvPr id="29" name="TextBox 28"/>
          <p:cNvSpPr txBox="1"/>
          <p:nvPr/>
        </p:nvSpPr>
        <p:spPr>
          <a:xfrm>
            <a:off x="4800600" y="4727448"/>
            <a:ext cx="6217920" cy="256032"/>
          </a:xfrm>
          <a:prstGeom prst="rect">
            <a:avLst/>
          </a:prstGeom>
          <a:noFill/>
        </p:spPr>
        <p:txBody>
          <a:bodyPr wrap="square" anchor="t">
            <a:spAutoFit/>
          </a:bodyPr>
          <a:lstStyle/>
          <a:p>
            <a:pPr algn="l"/>
            <a:r>
              <a:rPr sz="1100" b="0">
                <a:solidFill>
                  <a:srgbClr val="232B32"/>
                </a:solidFill>
                <a:latin typeface="Aptos"/>
              </a:rPr>
              <a:t>Linear • Random Forest • Gradient Boosting</a:t>
            </a:r>
          </a:p>
        </p:txBody>
      </p:sp>
      <p:sp>
        <p:nvSpPr>
          <p:cNvPr id="30" name="TextBox 29"/>
          <p:cNvSpPr txBox="1"/>
          <p:nvPr/>
        </p:nvSpPr>
        <p:spPr>
          <a:xfrm>
            <a:off x="658368" y="5358383"/>
            <a:ext cx="411480" cy="256032"/>
          </a:xfrm>
          <a:prstGeom prst="rect">
            <a:avLst/>
          </a:prstGeom>
          <a:noFill/>
        </p:spPr>
        <p:txBody>
          <a:bodyPr wrap="square" anchor="t">
            <a:spAutoFit/>
          </a:bodyPr>
          <a:lstStyle/>
          <a:p>
            <a:pPr algn="l"/>
            <a:r>
              <a:rPr sz="1200" b="1">
                <a:solidFill>
                  <a:srgbClr val="36A2BF"/>
                </a:solidFill>
                <a:latin typeface="Aptos"/>
              </a:rPr>
              <a:t>08</a:t>
            </a:r>
          </a:p>
        </p:txBody>
      </p:sp>
      <p:sp>
        <p:nvSpPr>
          <p:cNvPr id="31" name="TextBox 30"/>
          <p:cNvSpPr txBox="1"/>
          <p:nvPr/>
        </p:nvSpPr>
        <p:spPr>
          <a:xfrm>
            <a:off x="1170432" y="5358383"/>
            <a:ext cx="2148840" cy="256032"/>
          </a:xfrm>
          <a:prstGeom prst="rect">
            <a:avLst/>
          </a:prstGeom>
          <a:noFill/>
        </p:spPr>
        <p:txBody>
          <a:bodyPr wrap="square" anchor="t">
            <a:spAutoFit/>
          </a:bodyPr>
          <a:lstStyle/>
          <a:p>
            <a:pPr algn="l"/>
            <a:r>
              <a:rPr sz="1300" b="1">
                <a:solidFill>
                  <a:srgbClr val="0F2238"/>
                </a:solidFill>
                <a:latin typeface="Aptos"/>
              </a:rPr>
              <a:t>Dommages AutoML</a:t>
            </a:r>
          </a:p>
        </p:txBody>
      </p:sp>
      <p:sp>
        <p:nvSpPr>
          <p:cNvPr id="32" name="TextBox 31"/>
          <p:cNvSpPr txBox="1"/>
          <p:nvPr/>
        </p:nvSpPr>
        <p:spPr>
          <a:xfrm>
            <a:off x="3429000" y="5358383"/>
            <a:ext cx="1234440" cy="256032"/>
          </a:xfrm>
          <a:prstGeom prst="rect">
            <a:avLst/>
          </a:prstGeom>
          <a:noFill/>
        </p:spPr>
        <p:txBody>
          <a:bodyPr wrap="square" anchor="t">
            <a:spAutoFit/>
          </a:bodyPr>
          <a:lstStyle/>
          <a:p>
            <a:pPr algn="l"/>
            <a:r>
              <a:rPr sz="1100" b="1">
                <a:solidFill>
                  <a:srgbClr val="626F7B"/>
                </a:solidFill>
                <a:latin typeface="Aptos"/>
              </a:rPr>
              <a:t>AutoML</a:t>
            </a:r>
          </a:p>
        </p:txBody>
      </p:sp>
      <p:sp>
        <p:nvSpPr>
          <p:cNvPr id="33" name="TextBox 32"/>
          <p:cNvSpPr txBox="1"/>
          <p:nvPr/>
        </p:nvSpPr>
        <p:spPr>
          <a:xfrm>
            <a:off x="4800600" y="5358383"/>
            <a:ext cx="6217920" cy="256032"/>
          </a:xfrm>
          <a:prstGeom prst="rect">
            <a:avLst/>
          </a:prstGeom>
          <a:noFill/>
        </p:spPr>
        <p:txBody>
          <a:bodyPr wrap="square" anchor="t">
            <a:spAutoFit/>
          </a:bodyPr>
          <a:lstStyle/>
          <a:p>
            <a:pPr algn="l"/>
            <a:r>
              <a:rPr sz="1100" b="0">
                <a:solidFill>
                  <a:srgbClr val="232B32"/>
                </a:solidFill>
                <a:latin typeface="Aptos"/>
              </a:rPr>
              <a:t>H2O AutoML</a:t>
            </a:r>
          </a:p>
        </p:txBody>
      </p:sp>
      <p:sp>
        <p:nvSpPr>
          <p:cNvPr id="34" name="TextBox 33"/>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Sources : notebooks 02 à 08 fournis.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02 — Classification des zones de risque</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1754326"/>
          </a:xfrm>
          <a:prstGeom prst="rect">
            <a:avLst/>
          </a:prstGeom>
          <a:noFill/>
        </p:spPr>
        <p:txBody>
          <a:bodyPr wrap="square" anchor="t">
            <a:spAutoFit/>
          </a:bodyPr>
          <a:lstStyle/>
          <a:p>
            <a:pPr algn="l"/>
            <a:r>
              <a:rPr sz="1200" b="1" dirty="0">
                <a:solidFill>
                  <a:srgbClr val="626F7B"/>
                </a:solidFill>
                <a:latin typeface="Aptos"/>
              </a:rPr>
              <a:t>Objectif : </a:t>
            </a:r>
            <a:r>
              <a:rPr lang="fr-CA" sz="1200" dirty="0"/>
              <a:t>Entrainer et évaluer et comparer des modèles d’apprentissage automatique supervisé (classification) pour prédire le </a:t>
            </a:r>
            <a:r>
              <a:rPr lang="fr-CA" sz="1200" b="1" dirty="0"/>
              <a:t>niveau de risque des séismes</a:t>
            </a:r>
            <a:r>
              <a:rPr lang="fr-CA" sz="1200" dirty="0"/>
              <a:t> en fonction de leur magnitude. </a:t>
            </a:r>
            <a:r>
              <a:rPr sz="1200" b="0" dirty="0" err="1">
                <a:solidFill>
                  <a:srgbClr val="626F7B"/>
                </a:solidFill>
                <a:latin typeface="Aptos"/>
              </a:rPr>
              <a:t>Faible</a:t>
            </a:r>
            <a:r>
              <a:rPr sz="1200" b="0" dirty="0">
                <a:solidFill>
                  <a:srgbClr val="626F7B"/>
                </a:solidFill>
                <a:latin typeface="Aptos"/>
              </a:rPr>
              <a:t> / </a:t>
            </a:r>
            <a:r>
              <a:rPr sz="1200" b="0" dirty="0" err="1">
                <a:solidFill>
                  <a:srgbClr val="626F7B"/>
                </a:solidFill>
                <a:latin typeface="Aptos"/>
              </a:rPr>
              <a:t>Moyen</a:t>
            </a:r>
            <a:r>
              <a:rPr sz="1200" b="0" dirty="0">
                <a:solidFill>
                  <a:srgbClr val="626F7B"/>
                </a:solidFill>
                <a:latin typeface="Aptos"/>
              </a:rPr>
              <a:t> / </a:t>
            </a:r>
            <a:r>
              <a:rPr sz="1200" b="0" dirty="0" err="1">
                <a:solidFill>
                  <a:srgbClr val="626F7B"/>
                </a:solidFill>
                <a:latin typeface="Aptos"/>
              </a:rPr>
              <a:t>Élevé</a:t>
            </a:r>
            <a:r>
              <a:rPr sz="1200" b="0" dirty="0">
                <a:solidFill>
                  <a:srgbClr val="626F7B"/>
                </a:solidFill>
                <a:latin typeface="Aptos"/>
              </a:rPr>
              <a:t>. </a:t>
            </a:r>
            <a:endParaRPr lang="fr-CA" sz="1200" b="0" dirty="0">
              <a:solidFill>
                <a:srgbClr val="626F7B"/>
              </a:solidFill>
              <a:latin typeface="Aptos"/>
            </a:endParaRPr>
          </a:p>
          <a:p>
            <a:pPr algn="l"/>
            <a:endParaRPr lang="fr-CA" sz="1200" dirty="0">
              <a:solidFill>
                <a:srgbClr val="626F7B"/>
              </a:solidFill>
              <a:latin typeface="Aptos"/>
            </a:endParaRPr>
          </a:p>
          <a:p>
            <a:pPr algn="l"/>
            <a:r>
              <a:rPr lang="fr-CA" sz="1200" b="1" dirty="0">
                <a:solidFill>
                  <a:srgbClr val="626F7B"/>
                </a:solidFill>
                <a:latin typeface="Aptos"/>
              </a:rPr>
              <a:t>Variables conservées :</a:t>
            </a:r>
            <a:r>
              <a:rPr lang="fr-CA" sz="1200" dirty="0">
                <a:solidFill>
                  <a:srgbClr val="626F7B"/>
                </a:solidFill>
                <a:latin typeface="Aptos"/>
              </a:rPr>
              <a:t> Le modèle s'appuie sur des données géophysiques et spatiales (</a:t>
            </a:r>
            <a:r>
              <a:rPr lang="fr-CA" sz="1200" b="1" dirty="0">
                <a:solidFill>
                  <a:srgbClr val="626F7B"/>
                </a:solidFill>
                <a:latin typeface="Aptos"/>
              </a:rPr>
              <a:t>latitude</a:t>
            </a:r>
            <a:r>
              <a:rPr lang="fr-CA" sz="1200" dirty="0">
                <a:solidFill>
                  <a:srgbClr val="626F7B"/>
                </a:solidFill>
                <a:latin typeface="Aptos"/>
              </a:rPr>
              <a:t>, </a:t>
            </a:r>
            <a:r>
              <a:rPr lang="fr-CA" sz="1200" b="1" dirty="0">
                <a:solidFill>
                  <a:srgbClr val="626F7B"/>
                </a:solidFill>
                <a:latin typeface="Aptos"/>
              </a:rPr>
              <a:t>longitude</a:t>
            </a:r>
            <a:r>
              <a:rPr lang="fr-CA" sz="1200" dirty="0">
                <a:solidFill>
                  <a:srgbClr val="626F7B"/>
                </a:solidFill>
                <a:latin typeface="Aptos"/>
              </a:rPr>
              <a:t>, </a:t>
            </a:r>
            <a:r>
              <a:rPr lang="fr-CA" sz="1200" b="1" dirty="0" err="1">
                <a:solidFill>
                  <a:srgbClr val="626F7B"/>
                </a:solidFill>
                <a:latin typeface="Aptos"/>
              </a:rPr>
              <a:t>depth</a:t>
            </a:r>
            <a:r>
              <a:rPr lang="fr-CA" sz="1200" dirty="0">
                <a:solidFill>
                  <a:srgbClr val="626F7B"/>
                </a:solidFill>
                <a:latin typeface="Aptos"/>
              </a:rPr>
              <a:t>), </a:t>
            </a:r>
          </a:p>
          <a:p>
            <a:pPr algn="l"/>
            <a:r>
              <a:rPr lang="fr-CA" sz="1200" dirty="0">
                <a:solidFill>
                  <a:srgbClr val="626F7B"/>
                </a:solidFill>
                <a:latin typeface="Aptos"/>
              </a:rPr>
              <a:t>des métriques de qualité de mesure (</a:t>
            </a:r>
            <a:r>
              <a:rPr lang="fr-CA" sz="1200" b="1" dirty="0" err="1">
                <a:solidFill>
                  <a:srgbClr val="626F7B"/>
                </a:solidFill>
                <a:latin typeface="Aptos"/>
              </a:rPr>
              <a:t>dmin</a:t>
            </a:r>
            <a:r>
              <a:rPr lang="fr-CA" sz="1200" dirty="0">
                <a:solidFill>
                  <a:srgbClr val="626F7B"/>
                </a:solidFill>
                <a:latin typeface="Aptos"/>
              </a:rPr>
              <a:t>, </a:t>
            </a:r>
            <a:r>
              <a:rPr lang="fr-CA" sz="1200" b="1" dirty="0">
                <a:solidFill>
                  <a:srgbClr val="626F7B"/>
                </a:solidFill>
                <a:latin typeface="Aptos"/>
              </a:rPr>
              <a:t>gap</a:t>
            </a:r>
            <a:r>
              <a:rPr lang="fr-CA" sz="1200" dirty="0">
                <a:solidFill>
                  <a:srgbClr val="626F7B"/>
                </a:solidFill>
                <a:latin typeface="Aptos"/>
              </a:rPr>
              <a:t>, </a:t>
            </a:r>
            <a:r>
              <a:rPr lang="fr-CA" sz="1200" b="1" dirty="0" err="1">
                <a:solidFill>
                  <a:srgbClr val="626F7B"/>
                </a:solidFill>
                <a:latin typeface="Aptos"/>
              </a:rPr>
              <a:t>rms</a:t>
            </a:r>
            <a:r>
              <a:rPr lang="fr-CA" sz="1200" dirty="0">
                <a:solidFill>
                  <a:srgbClr val="626F7B"/>
                </a:solidFill>
                <a:latin typeface="Aptos"/>
              </a:rPr>
              <a:t>, </a:t>
            </a:r>
            <a:r>
              <a:rPr lang="fr-CA" sz="1200" b="1" dirty="0" err="1">
                <a:solidFill>
                  <a:srgbClr val="626F7B"/>
                </a:solidFill>
                <a:latin typeface="Aptos"/>
              </a:rPr>
              <a:t>nst</a:t>
            </a:r>
            <a:r>
              <a:rPr lang="fr-CA" sz="1200" dirty="0">
                <a:solidFill>
                  <a:srgbClr val="626F7B"/>
                </a:solidFill>
                <a:latin typeface="Aptos"/>
              </a:rPr>
              <a:t>) et des contextes techniques (</a:t>
            </a:r>
            <a:r>
              <a:rPr lang="fr-CA" sz="1200" b="1" dirty="0">
                <a:solidFill>
                  <a:srgbClr val="626F7B"/>
                </a:solidFill>
                <a:latin typeface="Aptos"/>
              </a:rPr>
              <a:t>net</a:t>
            </a:r>
            <a:r>
              <a:rPr lang="fr-CA" sz="1200" dirty="0">
                <a:solidFill>
                  <a:srgbClr val="626F7B"/>
                </a:solidFill>
                <a:latin typeface="Aptos"/>
              </a:rPr>
              <a:t>, </a:t>
            </a:r>
            <a:r>
              <a:rPr lang="fr-CA" sz="1200" b="1" dirty="0" err="1">
                <a:solidFill>
                  <a:srgbClr val="626F7B"/>
                </a:solidFill>
                <a:latin typeface="Aptos"/>
              </a:rPr>
              <a:t>magType</a:t>
            </a:r>
            <a:r>
              <a:rPr lang="fr-CA" sz="1200" dirty="0">
                <a:solidFill>
                  <a:srgbClr val="626F7B"/>
                </a:solidFill>
                <a:latin typeface="Aptos"/>
              </a:rPr>
              <a:t>, type).</a:t>
            </a:r>
          </a:p>
          <a:p>
            <a:pPr algn="l"/>
            <a:endParaRPr lang="fr-CA" sz="1200" dirty="0">
              <a:solidFill>
                <a:srgbClr val="626F7B"/>
              </a:solidFill>
              <a:latin typeface="Aptos"/>
            </a:endParaRPr>
          </a:p>
          <a:p>
            <a:pPr algn="l"/>
            <a:r>
              <a:rPr lang="fr-CA" sz="1200" b="1" dirty="0">
                <a:solidFill>
                  <a:srgbClr val="626F7B"/>
                </a:solidFill>
                <a:latin typeface="Aptos"/>
              </a:rPr>
              <a:t>Exclusion de la cible et des identifiants : </a:t>
            </a:r>
            <a:r>
              <a:rPr lang="fr-CA" sz="1200" dirty="0">
                <a:solidFill>
                  <a:srgbClr val="626F7B"/>
                </a:solidFill>
                <a:latin typeface="Aptos"/>
              </a:rPr>
              <a:t>La variable source </a:t>
            </a:r>
            <a:r>
              <a:rPr lang="fr-CA" sz="1200" b="1" dirty="0" err="1">
                <a:solidFill>
                  <a:srgbClr val="626F7B"/>
                </a:solidFill>
                <a:latin typeface="Aptos"/>
              </a:rPr>
              <a:t>mag</a:t>
            </a:r>
            <a:r>
              <a:rPr lang="fr-CA" sz="1200" dirty="0">
                <a:solidFill>
                  <a:srgbClr val="626F7B"/>
                </a:solidFill>
                <a:latin typeface="Aptos"/>
              </a:rPr>
              <a:t> est retirée (puisqu'elle a servi à construire la cible),</a:t>
            </a:r>
          </a:p>
          <a:p>
            <a:pPr algn="l"/>
            <a:r>
              <a:rPr lang="fr-CA" sz="1200" dirty="0">
                <a:solidFill>
                  <a:srgbClr val="626F7B"/>
                </a:solidFill>
                <a:latin typeface="Aptos"/>
              </a:rPr>
              <a:t> tout comme les identifiants uniques (</a:t>
            </a:r>
            <a:r>
              <a:rPr lang="fr-CA" sz="1200" b="1" dirty="0">
                <a:solidFill>
                  <a:srgbClr val="626F7B"/>
                </a:solidFill>
                <a:latin typeface="Aptos"/>
              </a:rPr>
              <a:t>url</a:t>
            </a:r>
            <a:r>
              <a:rPr lang="fr-CA" sz="1200" dirty="0">
                <a:solidFill>
                  <a:srgbClr val="626F7B"/>
                </a:solidFill>
                <a:latin typeface="Aptos"/>
              </a:rPr>
              <a:t>, </a:t>
            </a:r>
            <a:r>
              <a:rPr lang="fr-CA" sz="1200" b="1" dirty="0" err="1">
                <a:solidFill>
                  <a:srgbClr val="626F7B"/>
                </a:solidFill>
                <a:latin typeface="Aptos"/>
              </a:rPr>
              <a:t>event_id</a:t>
            </a:r>
            <a:r>
              <a:rPr lang="fr-CA" sz="1200" dirty="0">
                <a:solidFill>
                  <a:srgbClr val="626F7B"/>
                </a:solidFill>
                <a:latin typeface="Aptos"/>
              </a:rPr>
              <a:t>, etc.) et les variables à variance nulle (</a:t>
            </a:r>
            <a:r>
              <a:rPr lang="fr-CA" sz="1200" b="1" dirty="0" err="1">
                <a:solidFill>
                  <a:srgbClr val="626F7B"/>
                </a:solidFill>
                <a:latin typeface="Aptos"/>
              </a:rPr>
              <a:t>year</a:t>
            </a:r>
            <a:r>
              <a:rPr lang="fr-CA" sz="1200" dirty="0">
                <a:solidFill>
                  <a:srgbClr val="626F7B"/>
                </a:solidFill>
                <a:latin typeface="Aptos"/>
              </a:rPr>
              <a:t>).</a:t>
            </a:r>
          </a:p>
          <a:p>
            <a:pPr algn="l"/>
            <a:endParaRPr sz="1200" b="0" dirty="0">
              <a:solidFill>
                <a:srgbClr val="626F7B"/>
              </a:solidFill>
              <a:latin typeface="Aptos"/>
            </a:endParaRP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04</a:t>
            </a:r>
          </a:p>
        </p:txBody>
      </p:sp>
      <p:sp>
        <p:nvSpPr>
          <p:cNvPr id="6" name="Rounded Rectangle 5"/>
          <p:cNvSpPr/>
          <p:nvPr/>
        </p:nvSpPr>
        <p:spPr>
          <a:xfrm>
            <a:off x="640080" y="2668079"/>
            <a:ext cx="2194560" cy="658368"/>
          </a:xfrm>
          <a:prstGeom prst="roundRect">
            <a:avLst/>
          </a:prstGeom>
          <a:solidFill>
            <a:srgbClr val="EBF4F8"/>
          </a:solidFill>
          <a:ln>
            <a:solidFill>
              <a:srgbClr val="2E7D5A"/>
            </a:solidFill>
          </a:ln>
        </p:spPr>
        <p:style>
          <a:lnRef idx="1">
            <a:schemeClr val="accent1"/>
          </a:lnRef>
          <a:fillRef idx="3">
            <a:schemeClr val="accent1"/>
          </a:fillRef>
          <a:effectRef idx="2">
            <a:schemeClr val="accent1"/>
          </a:effectRef>
          <a:fontRef idx="minor">
            <a:schemeClr val="lt1"/>
          </a:fontRef>
        </p:style>
        <p:txBody>
          <a:bodyPr rtlCol="0" anchor="ctr"/>
          <a:lstStyle/>
          <a:p>
            <a:pPr algn="justLow"/>
            <a:endParaRPr dirty="0"/>
          </a:p>
        </p:txBody>
      </p:sp>
      <p:sp>
        <p:nvSpPr>
          <p:cNvPr id="7" name="TextBox 6"/>
          <p:cNvSpPr txBox="1"/>
          <p:nvPr/>
        </p:nvSpPr>
        <p:spPr>
          <a:xfrm>
            <a:off x="710480" y="2897172"/>
            <a:ext cx="1141171" cy="228600"/>
          </a:xfrm>
          <a:prstGeom prst="rect">
            <a:avLst/>
          </a:prstGeom>
          <a:noFill/>
        </p:spPr>
        <p:txBody>
          <a:bodyPr wrap="square" anchor="t">
            <a:spAutoFit/>
          </a:bodyPr>
          <a:lstStyle/>
          <a:p>
            <a:pPr algn="just"/>
            <a:r>
              <a:rPr sz="900" b="1" dirty="0">
                <a:solidFill>
                  <a:srgbClr val="626F7B"/>
                </a:solidFill>
                <a:latin typeface="Aptos"/>
              </a:rPr>
              <a:t>CHAMPION</a:t>
            </a:r>
          </a:p>
        </p:txBody>
      </p:sp>
      <p:sp>
        <p:nvSpPr>
          <p:cNvPr id="8" name="TextBox 7"/>
          <p:cNvSpPr txBox="1"/>
          <p:nvPr/>
        </p:nvSpPr>
        <p:spPr>
          <a:xfrm>
            <a:off x="1469432" y="2878884"/>
            <a:ext cx="1294789" cy="276999"/>
          </a:xfrm>
          <a:prstGeom prst="rect">
            <a:avLst/>
          </a:prstGeom>
          <a:noFill/>
        </p:spPr>
        <p:txBody>
          <a:bodyPr wrap="square" anchor="t">
            <a:spAutoFit/>
          </a:bodyPr>
          <a:lstStyle/>
          <a:p>
            <a:pPr algn="justLow"/>
            <a:r>
              <a:rPr sz="1200" b="1" dirty="0">
                <a:solidFill>
                  <a:srgbClr val="2E7D5A"/>
                </a:solidFill>
                <a:latin typeface="Aptos"/>
              </a:rPr>
              <a:t>Random Forest</a:t>
            </a:r>
          </a:p>
        </p:txBody>
      </p:sp>
      <p:sp>
        <p:nvSpPr>
          <p:cNvPr id="9" name="Rounded Rectangle 8"/>
          <p:cNvSpPr/>
          <p:nvPr/>
        </p:nvSpPr>
        <p:spPr>
          <a:xfrm>
            <a:off x="2971800" y="2668079"/>
            <a:ext cx="1965960" cy="658368"/>
          </a:xfrm>
          <a:prstGeom prst="roundRect">
            <a:avLst/>
          </a:prstGeom>
          <a:solidFill>
            <a:srgbClr val="EBF4F8"/>
          </a:solidFill>
          <a:ln>
            <a:solidFill>
              <a:srgbClr val="215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42200" y="2730011"/>
            <a:ext cx="1022299" cy="523220"/>
          </a:xfrm>
          <a:prstGeom prst="rect">
            <a:avLst/>
          </a:prstGeom>
          <a:noFill/>
        </p:spPr>
        <p:txBody>
          <a:bodyPr wrap="square" anchor="t">
            <a:spAutoFit/>
          </a:bodyPr>
          <a:lstStyle/>
          <a:p>
            <a:pPr algn="l"/>
            <a:r>
              <a:rPr sz="1400" b="1" dirty="0">
                <a:solidFill>
                  <a:srgbClr val="626F7B"/>
                </a:solidFill>
                <a:latin typeface="Aptos"/>
              </a:rPr>
              <a:t>Accuracy test</a:t>
            </a:r>
          </a:p>
        </p:txBody>
      </p:sp>
      <p:sp>
        <p:nvSpPr>
          <p:cNvPr id="11" name="TextBox 10"/>
          <p:cNvSpPr txBox="1"/>
          <p:nvPr/>
        </p:nvSpPr>
        <p:spPr>
          <a:xfrm>
            <a:off x="3876116" y="2859215"/>
            <a:ext cx="943660" cy="307777"/>
          </a:xfrm>
          <a:prstGeom prst="rect">
            <a:avLst/>
          </a:prstGeom>
          <a:noFill/>
        </p:spPr>
        <p:txBody>
          <a:bodyPr wrap="square" anchor="t">
            <a:spAutoFit/>
          </a:bodyPr>
          <a:lstStyle/>
          <a:p>
            <a:pPr algn="r"/>
            <a:r>
              <a:rPr sz="1400" b="1" dirty="0">
                <a:solidFill>
                  <a:srgbClr val="215E91"/>
                </a:solidFill>
                <a:latin typeface="Aptos"/>
              </a:rPr>
              <a:t>96,23 %</a:t>
            </a:r>
          </a:p>
        </p:txBody>
      </p:sp>
      <p:sp>
        <p:nvSpPr>
          <p:cNvPr id="12" name="Rounded Rectangle 11"/>
          <p:cNvSpPr/>
          <p:nvPr/>
        </p:nvSpPr>
        <p:spPr>
          <a:xfrm>
            <a:off x="5074920" y="2668079"/>
            <a:ext cx="1965960" cy="658368"/>
          </a:xfrm>
          <a:prstGeom prst="roundRect">
            <a:avLst/>
          </a:prstGeom>
          <a:solidFill>
            <a:srgbClr val="EBF4F8"/>
          </a:solidFill>
          <a:ln>
            <a:solidFill>
              <a:srgbClr val="2E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88818" y="2856419"/>
            <a:ext cx="1115339" cy="276999"/>
          </a:xfrm>
          <a:prstGeom prst="rect">
            <a:avLst/>
          </a:prstGeom>
          <a:noFill/>
        </p:spPr>
        <p:txBody>
          <a:bodyPr wrap="square" anchor="t">
            <a:spAutoFit/>
          </a:bodyPr>
          <a:lstStyle/>
          <a:p>
            <a:pPr algn="l"/>
            <a:r>
              <a:rPr sz="1200" b="1" dirty="0">
                <a:solidFill>
                  <a:srgbClr val="626F7B"/>
                </a:solidFill>
                <a:latin typeface="Aptos"/>
              </a:rPr>
              <a:t>Recall macro</a:t>
            </a:r>
          </a:p>
        </p:txBody>
      </p:sp>
      <p:sp>
        <p:nvSpPr>
          <p:cNvPr id="14" name="TextBox 13"/>
          <p:cNvSpPr txBox="1"/>
          <p:nvPr/>
        </p:nvSpPr>
        <p:spPr>
          <a:xfrm>
            <a:off x="6132296" y="2812122"/>
            <a:ext cx="839895" cy="353943"/>
          </a:xfrm>
          <a:prstGeom prst="rect">
            <a:avLst/>
          </a:prstGeom>
          <a:noFill/>
        </p:spPr>
        <p:txBody>
          <a:bodyPr wrap="square" anchor="t">
            <a:spAutoFit/>
          </a:bodyPr>
          <a:lstStyle/>
          <a:p>
            <a:pPr algn="ctr"/>
            <a:r>
              <a:rPr sz="1400" b="1" dirty="0">
                <a:solidFill>
                  <a:srgbClr val="2E7D5A"/>
                </a:solidFill>
                <a:latin typeface="Aptos"/>
              </a:rPr>
              <a:t>90,92</a:t>
            </a:r>
            <a:r>
              <a:rPr sz="1700" b="1" dirty="0">
                <a:solidFill>
                  <a:srgbClr val="2E7D5A"/>
                </a:solidFill>
                <a:latin typeface="Aptos"/>
              </a:rPr>
              <a:t> </a:t>
            </a:r>
            <a:r>
              <a:rPr sz="1400" b="1" dirty="0">
                <a:solidFill>
                  <a:srgbClr val="2E7D5A"/>
                </a:solidFill>
                <a:latin typeface="Aptos"/>
              </a:rPr>
              <a:t>%</a:t>
            </a:r>
            <a:endParaRPr sz="1700" b="1" dirty="0">
              <a:solidFill>
                <a:srgbClr val="2E7D5A"/>
              </a:solidFill>
              <a:latin typeface="Aptos"/>
            </a:endParaRPr>
          </a:p>
        </p:txBody>
      </p:sp>
      <p:sp>
        <p:nvSpPr>
          <p:cNvPr id="15" name="Rounded Rectangle 14"/>
          <p:cNvSpPr/>
          <p:nvPr/>
        </p:nvSpPr>
        <p:spPr>
          <a:xfrm>
            <a:off x="7178040" y="2668079"/>
            <a:ext cx="1965960" cy="658368"/>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0959" y="2848111"/>
            <a:ext cx="1022299" cy="276999"/>
          </a:xfrm>
          <a:prstGeom prst="rect">
            <a:avLst/>
          </a:prstGeom>
          <a:noFill/>
        </p:spPr>
        <p:txBody>
          <a:bodyPr wrap="square" anchor="t">
            <a:spAutoFit/>
          </a:bodyPr>
          <a:lstStyle/>
          <a:p>
            <a:pPr algn="l"/>
            <a:r>
              <a:rPr sz="1200" b="1" dirty="0">
                <a:solidFill>
                  <a:srgbClr val="626F7B"/>
                </a:solidFill>
                <a:latin typeface="Aptos"/>
              </a:rPr>
              <a:t>F1 macro</a:t>
            </a:r>
          </a:p>
        </p:txBody>
      </p:sp>
      <p:sp>
        <p:nvSpPr>
          <p:cNvPr id="17" name="TextBox 16"/>
          <p:cNvSpPr txBox="1"/>
          <p:nvPr/>
        </p:nvSpPr>
        <p:spPr>
          <a:xfrm>
            <a:off x="8015084" y="2840648"/>
            <a:ext cx="1019861" cy="307777"/>
          </a:xfrm>
          <a:prstGeom prst="rect">
            <a:avLst/>
          </a:prstGeom>
          <a:noFill/>
        </p:spPr>
        <p:txBody>
          <a:bodyPr wrap="square" anchor="t">
            <a:spAutoFit/>
          </a:bodyPr>
          <a:lstStyle/>
          <a:p>
            <a:pPr algn="ctr"/>
            <a:r>
              <a:rPr sz="1400" b="1" dirty="0">
                <a:solidFill>
                  <a:srgbClr val="36A2BF"/>
                </a:solidFill>
                <a:latin typeface="Aptos"/>
              </a:rPr>
              <a:t>73,55 %</a:t>
            </a:r>
          </a:p>
        </p:txBody>
      </p:sp>
      <p:sp>
        <p:nvSpPr>
          <p:cNvPr id="18" name="Rounded Rectangle 17"/>
          <p:cNvSpPr/>
          <p:nvPr/>
        </p:nvSpPr>
        <p:spPr>
          <a:xfrm>
            <a:off x="9281160" y="2668079"/>
            <a:ext cx="1965960" cy="658368"/>
          </a:xfrm>
          <a:prstGeom prst="roundRect">
            <a:avLst/>
          </a:prstGeom>
          <a:solidFill>
            <a:srgbClr val="EBF4F8"/>
          </a:solidFill>
          <a:ln>
            <a:solidFill>
              <a:srgbClr val="B4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0888" y="2867671"/>
            <a:ext cx="2194560" cy="276999"/>
          </a:xfrm>
          <a:prstGeom prst="rect">
            <a:avLst/>
          </a:prstGeom>
          <a:noFill/>
        </p:spPr>
        <p:txBody>
          <a:bodyPr wrap="square" numCol="2" anchor="t">
            <a:spAutoFit/>
          </a:bodyPr>
          <a:lstStyle/>
          <a:p>
            <a:r>
              <a:rPr sz="1200" b="1" dirty="0">
                <a:solidFill>
                  <a:srgbClr val="626F7B"/>
                </a:solidFill>
                <a:latin typeface="Aptos"/>
              </a:rPr>
              <a:t>Recall</a:t>
            </a:r>
            <a:r>
              <a:rPr lang="fr-CA" sz="1200" b="1" dirty="0">
                <a:solidFill>
                  <a:srgbClr val="626F7B"/>
                </a:solidFill>
                <a:latin typeface="Aptos"/>
              </a:rPr>
              <a:t> É</a:t>
            </a:r>
            <a:r>
              <a:rPr sz="1200" b="1" dirty="0" err="1">
                <a:solidFill>
                  <a:srgbClr val="626F7B"/>
                </a:solidFill>
                <a:latin typeface="Aptos"/>
              </a:rPr>
              <a:t>levé</a:t>
            </a:r>
            <a:endParaRPr sz="1200" b="1" dirty="0">
              <a:solidFill>
                <a:srgbClr val="626F7B"/>
              </a:solidFill>
              <a:latin typeface="Aptos"/>
            </a:endParaRPr>
          </a:p>
        </p:txBody>
      </p:sp>
      <p:sp>
        <p:nvSpPr>
          <p:cNvPr id="20" name="TextBox 19"/>
          <p:cNvSpPr txBox="1"/>
          <p:nvPr/>
        </p:nvSpPr>
        <p:spPr>
          <a:xfrm>
            <a:off x="10475697" y="2819887"/>
            <a:ext cx="663271" cy="307777"/>
          </a:xfrm>
          <a:prstGeom prst="rect">
            <a:avLst/>
          </a:prstGeom>
          <a:noFill/>
        </p:spPr>
        <p:txBody>
          <a:bodyPr wrap="square" numCol="2" anchor="t">
            <a:spAutoFit/>
          </a:bodyPr>
          <a:lstStyle/>
          <a:p>
            <a:pPr algn="ctr"/>
            <a:r>
              <a:rPr sz="1400" b="1" dirty="0">
                <a:solidFill>
                  <a:srgbClr val="B44141"/>
                </a:solidFill>
                <a:latin typeface="Aptos"/>
              </a:rPr>
              <a:t>79 %</a:t>
            </a:r>
          </a:p>
        </p:txBody>
      </p:sp>
      <p:graphicFrame>
        <p:nvGraphicFramePr>
          <p:cNvPr id="21" name="Table 20"/>
          <p:cNvGraphicFramePr>
            <a:graphicFrameLocks noGrp="1"/>
          </p:cNvGraphicFramePr>
          <p:nvPr>
            <p:extLst>
              <p:ext uri="{D42A27DB-BD31-4B8C-83A1-F6EECF244321}">
                <p14:modId xmlns:p14="http://schemas.microsoft.com/office/powerpoint/2010/main" val="1640312836"/>
              </p:ext>
            </p:extLst>
          </p:nvPr>
        </p:nvGraphicFramePr>
        <p:xfrm>
          <a:off x="733093" y="3653126"/>
          <a:ext cx="5440680" cy="242316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605790">
                <a:tc>
                  <a:txBody>
                    <a:bodyPr/>
                    <a:lstStyle/>
                    <a:p>
                      <a:pPr algn="l"/>
                      <a:r>
                        <a:rPr sz="1100" b="1">
                          <a:solidFill>
                            <a:srgbClr val="FFFFFF"/>
                          </a:solidFill>
                          <a:latin typeface="Aptos"/>
                        </a:rPr>
                        <a:t>Classe</a:t>
                      </a:r>
                    </a:p>
                  </a:txBody>
                  <a:tcPr marL="54864" marR="54864" marT="36576" marB="36576">
                    <a:solidFill>
                      <a:srgbClr val="0F2238"/>
                    </a:solidFill>
                  </a:tcPr>
                </a:tc>
                <a:tc>
                  <a:txBody>
                    <a:bodyPr/>
                    <a:lstStyle/>
                    <a:p>
                      <a:pPr algn="ctr"/>
                      <a:r>
                        <a:rPr sz="1100" b="1">
                          <a:solidFill>
                            <a:srgbClr val="FFFFFF"/>
                          </a:solidFill>
                          <a:latin typeface="Aptos"/>
                        </a:rPr>
                        <a:t>Precision</a:t>
                      </a:r>
                    </a:p>
                  </a:txBody>
                  <a:tcPr marL="54864" marR="54864" marT="36576" marB="36576">
                    <a:solidFill>
                      <a:srgbClr val="0F2238"/>
                    </a:solidFill>
                  </a:tcPr>
                </a:tc>
                <a:tc>
                  <a:txBody>
                    <a:bodyPr/>
                    <a:lstStyle/>
                    <a:p>
                      <a:pPr algn="ctr"/>
                      <a:r>
                        <a:rPr sz="1100" b="1">
                          <a:solidFill>
                            <a:srgbClr val="FFFFFF"/>
                          </a:solidFill>
                          <a:latin typeface="Aptos"/>
                        </a:rPr>
                        <a:t>Recall</a:t>
                      </a:r>
                    </a:p>
                  </a:txBody>
                  <a:tcPr marL="54864" marR="54864" marT="36576" marB="36576">
                    <a:solidFill>
                      <a:srgbClr val="0F2238"/>
                    </a:solidFill>
                  </a:tcPr>
                </a:tc>
                <a:tc>
                  <a:txBody>
                    <a:bodyPr/>
                    <a:lstStyle/>
                    <a:p>
                      <a:pPr algn="ctr"/>
                      <a:r>
                        <a:rPr sz="1100" b="1">
                          <a:solidFill>
                            <a:srgbClr val="FFFFFF"/>
                          </a:solidFill>
                          <a:latin typeface="Aptos"/>
                        </a:rPr>
                        <a:t>F1</a:t>
                      </a:r>
                    </a:p>
                  </a:txBody>
                  <a:tcPr marL="54864" marR="54864" marT="36576" marB="36576">
                    <a:solidFill>
                      <a:srgbClr val="0F2238"/>
                    </a:solidFill>
                  </a:tcPr>
                </a:tc>
                <a:tc>
                  <a:txBody>
                    <a:bodyPr/>
                    <a:lstStyle/>
                    <a:p>
                      <a:pPr algn="ctr"/>
                      <a:r>
                        <a:rPr sz="1100" b="1">
                          <a:solidFill>
                            <a:srgbClr val="FFFFFF"/>
                          </a:solidFill>
                          <a:latin typeface="Aptos"/>
                        </a:rPr>
                        <a:t>Support</a:t>
                      </a:r>
                    </a:p>
                  </a:txBody>
                  <a:tcPr marL="54864" marR="54864" marT="36576" marB="36576">
                    <a:solidFill>
                      <a:srgbClr val="0F2238"/>
                    </a:solidFill>
                  </a:tcPr>
                </a:tc>
                <a:extLst>
                  <a:ext uri="{0D108BD9-81ED-4DB2-BD59-A6C34878D82A}">
                    <a16:rowId xmlns:a16="http://schemas.microsoft.com/office/drawing/2014/main" val="10000"/>
                  </a:ext>
                </a:extLst>
              </a:tr>
              <a:tr h="605790">
                <a:tc>
                  <a:txBody>
                    <a:bodyPr/>
                    <a:lstStyle/>
                    <a:p>
                      <a:pPr algn="l"/>
                      <a:r>
                        <a:rPr sz="1100" b="0">
                          <a:solidFill>
                            <a:srgbClr val="232B32"/>
                          </a:solidFill>
                          <a:latin typeface="Aptos"/>
                        </a:rPr>
                        <a:t>Faible</a:t>
                      </a:r>
                    </a:p>
                  </a:txBody>
                  <a:tcPr marL="54864" marR="54864" marT="36576" marB="36576">
                    <a:solidFill>
                      <a:srgbClr val="FFFFFF"/>
                    </a:solidFill>
                  </a:tcPr>
                </a:tc>
                <a:tc>
                  <a:txBody>
                    <a:bodyPr/>
                    <a:lstStyle/>
                    <a:p>
                      <a:pPr algn="ctr"/>
                      <a:r>
                        <a:rPr sz="1100" b="0">
                          <a:solidFill>
                            <a:srgbClr val="232B32"/>
                          </a:solidFill>
                          <a:latin typeface="Aptos"/>
                        </a:rPr>
                        <a:t>0,98</a:t>
                      </a:r>
                    </a:p>
                  </a:txBody>
                  <a:tcPr marL="54864" marR="54864" marT="36576" marB="36576">
                    <a:solidFill>
                      <a:srgbClr val="FFFFFF"/>
                    </a:solidFill>
                  </a:tcPr>
                </a:tc>
                <a:tc>
                  <a:txBody>
                    <a:bodyPr/>
                    <a:lstStyle/>
                    <a:p>
                      <a:pPr algn="ctr"/>
                      <a:r>
                        <a:rPr sz="1100" b="0" dirty="0">
                          <a:solidFill>
                            <a:srgbClr val="232B32"/>
                          </a:solidFill>
                          <a:latin typeface="Aptos"/>
                        </a:rPr>
                        <a:t>0,98</a:t>
                      </a:r>
                    </a:p>
                  </a:txBody>
                  <a:tcPr marL="54864" marR="54864" marT="36576" marB="36576">
                    <a:solidFill>
                      <a:srgbClr val="FFFFFF"/>
                    </a:solidFill>
                  </a:tcPr>
                </a:tc>
                <a:tc>
                  <a:txBody>
                    <a:bodyPr/>
                    <a:lstStyle/>
                    <a:p>
                      <a:pPr algn="ctr"/>
                      <a:r>
                        <a:rPr sz="1100" b="0">
                          <a:solidFill>
                            <a:srgbClr val="232B32"/>
                          </a:solidFill>
                          <a:latin typeface="Aptos"/>
                        </a:rPr>
                        <a:t>0,98</a:t>
                      </a:r>
                    </a:p>
                  </a:txBody>
                  <a:tcPr marL="54864" marR="54864" marT="36576" marB="36576">
                    <a:solidFill>
                      <a:srgbClr val="FFFFFF"/>
                    </a:solidFill>
                  </a:tcPr>
                </a:tc>
                <a:tc>
                  <a:txBody>
                    <a:bodyPr/>
                    <a:lstStyle/>
                    <a:p>
                      <a:pPr algn="ctr"/>
                      <a:r>
                        <a:rPr sz="1100" b="0">
                          <a:solidFill>
                            <a:srgbClr val="232B32"/>
                          </a:solidFill>
                          <a:latin typeface="Aptos"/>
                        </a:rPr>
                        <a:t>2166</a:t>
                      </a:r>
                    </a:p>
                  </a:txBody>
                  <a:tcPr marL="54864" marR="54864" marT="36576" marB="36576">
                    <a:solidFill>
                      <a:srgbClr val="FFFFFF"/>
                    </a:solidFill>
                  </a:tcPr>
                </a:tc>
                <a:extLst>
                  <a:ext uri="{0D108BD9-81ED-4DB2-BD59-A6C34878D82A}">
                    <a16:rowId xmlns:a16="http://schemas.microsoft.com/office/drawing/2014/main" val="10001"/>
                  </a:ext>
                </a:extLst>
              </a:tr>
              <a:tr h="605790">
                <a:tc>
                  <a:txBody>
                    <a:bodyPr/>
                    <a:lstStyle/>
                    <a:p>
                      <a:pPr algn="l"/>
                      <a:r>
                        <a:rPr sz="1100" b="0">
                          <a:solidFill>
                            <a:srgbClr val="232B32"/>
                          </a:solidFill>
                          <a:latin typeface="Aptos"/>
                        </a:rPr>
                        <a:t>Moyen</a:t>
                      </a:r>
                    </a:p>
                  </a:txBody>
                  <a:tcPr marL="54864" marR="54864" marT="36576" marB="36576">
                    <a:solidFill>
                      <a:srgbClr val="F5F7F9"/>
                    </a:solidFill>
                  </a:tcPr>
                </a:tc>
                <a:tc>
                  <a:txBody>
                    <a:bodyPr/>
                    <a:lstStyle/>
                    <a:p>
                      <a:pPr algn="ctr"/>
                      <a:r>
                        <a:rPr sz="1100" b="0">
                          <a:solidFill>
                            <a:srgbClr val="232B32"/>
                          </a:solidFill>
                          <a:latin typeface="Aptos"/>
                        </a:rPr>
                        <a:t>0,99</a:t>
                      </a:r>
                    </a:p>
                  </a:txBody>
                  <a:tcPr marL="54864" marR="54864" marT="36576" marB="36576">
                    <a:solidFill>
                      <a:srgbClr val="F5F7F9"/>
                    </a:solidFill>
                  </a:tcPr>
                </a:tc>
                <a:tc>
                  <a:txBody>
                    <a:bodyPr/>
                    <a:lstStyle/>
                    <a:p>
                      <a:pPr algn="ctr"/>
                      <a:r>
                        <a:rPr sz="1100" b="0">
                          <a:solidFill>
                            <a:srgbClr val="232B32"/>
                          </a:solidFill>
                          <a:latin typeface="Aptos"/>
                        </a:rPr>
                        <a:t>0,95</a:t>
                      </a:r>
                    </a:p>
                  </a:txBody>
                  <a:tcPr marL="54864" marR="54864" marT="36576" marB="36576">
                    <a:solidFill>
                      <a:srgbClr val="F5F7F9"/>
                    </a:solidFill>
                  </a:tcPr>
                </a:tc>
                <a:tc>
                  <a:txBody>
                    <a:bodyPr/>
                    <a:lstStyle/>
                    <a:p>
                      <a:pPr algn="ctr"/>
                      <a:r>
                        <a:rPr sz="1100" b="0">
                          <a:solidFill>
                            <a:srgbClr val="232B32"/>
                          </a:solidFill>
                          <a:latin typeface="Aptos"/>
                        </a:rPr>
                        <a:t>0,97</a:t>
                      </a:r>
                    </a:p>
                  </a:txBody>
                  <a:tcPr marL="54864" marR="54864" marT="36576" marB="36576">
                    <a:solidFill>
                      <a:srgbClr val="F5F7F9"/>
                    </a:solidFill>
                  </a:tcPr>
                </a:tc>
                <a:tc>
                  <a:txBody>
                    <a:bodyPr/>
                    <a:lstStyle/>
                    <a:p>
                      <a:pPr algn="ctr"/>
                      <a:r>
                        <a:rPr sz="1100" b="0">
                          <a:solidFill>
                            <a:srgbClr val="232B32"/>
                          </a:solidFill>
                          <a:latin typeface="Aptos"/>
                        </a:rPr>
                        <a:t>3618</a:t>
                      </a:r>
                    </a:p>
                  </a:txBody>
                  <a:tcPr marL="54864" marR="54864" marT="36576" marB="36576">
                    <a:solidFill>
                      <a:srgbClr val="F5F7F9"/>
                    </a:solidFill>
                  </a:tcPr>
                </a:tc>
                <a:extLst>
                  <a:ext uri="{0D108BD9-81ED-4DB2-BD59-A6C34878D82A}">
                    <a16:rowId xmlns:a16="http://schemas.microsoft.com/office/drawing/2014/main" val="10002"/>
                  </a:ext>
                </a:extLst>
              </a:tr>
              <a:tr h="605790">
                <a:tc>
                  <a:txBody>
                    <a:bodyPr/>
                    <a:lstStyle/>
                    <a:p>
                      <a:pPr algn="l"/>
                      <a:r>
                        <a:rPr sz="1100" b="0">
                          <a:solidFill>
                            <a:srgbClr val="232B32"/>
                          </a:solidFill>
                          <a:latin typeface="Aptos"/>
                        </a:rPr>
                        <a:t>Élevé</a:t>
                      </a:r>
                    </a:p>
                  </a:txBody>
                  <a:tcPr marL="54864" marR="54864" marT="36576" marB="36576">
                    <a:solidFill>
                      <a:srgbClr val="FFFFFF"/>
                    </a:solidFill>
                  </a:tcPr>
                </a:tc>
                <a:tc>
                  <a:txBody>
                    <a:bodyPr/>
                    <a:lstStyle/>
                    <a:p>
                      <a:pPr algn="ctr"/>
                      <a:r>
                        <a:rPr sz="1100" b="1" dirty="0">
                          <a:solidFill>
                            <a:srgbClr val="232B32"/>
                          </a:solidFill>
                          <a:latin typeface="Aptos"/>
                        </a:rPr>
                        <a:t>0,15</a:t>
                      </a:r>
                    </a:p>
                  </a:txBody>
                  <a:tcPr marL="54864" marR="54864" marT="36576" marB="36576">
                    <a:solidFill>
                      <a:srgbClr val="FFFFFF"/>
                    </a:solidFill>
                  </a:tcPr>
                </a:tc>
                <a:tc>
                  <a:txBody>
                    <a:bodyPr/>
                    <a:lstStyle/>
                    <a:p>
                      <a:pPr algn="ctr"/>
                      <a:r>
                        <a:rPr sz="1100" b="0">
                          <a:solidFill>
                            <a:srgbClr val="232B32"/>
                          </a:solidFill>
                          <a:latin typeface="Aptos"/>
                        </a:rPr>
                        <a:t>0,79</a:t>
                      </a:r>
                    </a:p>
                  </a:txBody>
                  <a:tcPr marL="54864" marR="54864" marT="36576" marB="36576">
                    <a:solidFill>
                      <a:srgbClr val="FFFFFF"/>
                    </a:solidFill>
                  </a:tcPr>
                </a:tc>
                <a:tc>
                  <a:txBody>
                    <a:bodyPr/>
                    <a:lstStyle/>
                    <a:p>
                      <a:pPr algn="ctr"/>
                      <a:r>
                        <a:rPr sz="1100" b="0">
                          <a:solidFill>
                            <a:srgbClr val="232B32"/>
                          </a:solidFill>
                          <a:latin typeface="Aptos"/>
                        </a:rPr>
                        <a:t>0,26</a:t>
                      </a:r>
                    </a:p>
                  </a:txBody>
                  <a:tcPr marL="54864" marR="54864" marT="36576" marB="36576">
                    <a:solidFill>
                      <a:srgbClr val="FFFFFF"/>
                    </a:solidFill>
                  </a:tcPr>
                </a:tc>
                <a:tc>
                  <a:txBody>
                    <a:bodyPr/>
                    <a:lstStyle/>
                    <a:p>
                      <a:pPr algn="ctr"/>
                      <a:r>
                        <a:rPr sz="1100" b="0" dirty="0">
                          <a:solidFill>
                            <a:srgbClr val="232B32"/>
                          </a:solidFill>
                          <a:latin typeface="Aptos"/>
                        </a:rPr>
                        <a:t>29</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22" name="Rounded Rectangle 21"/>
          <p:cNvSpPr/>
          <p:nvPr/>
        </p:nvSpPr>
        <p:spPr>
          <a:xfrm>
            <a:off x="6509578" y="3602245"/>
            <a:ext cx="4389120" cy="1362456"/>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02552" y="3746386"/>
            <a:ext cx="4379976" cy="320040"/>
          </a:xfrm>
          <a:prstGeom prst="rect">
            <a:avLst/>
          </a:prstGeom>
          <a:noFill/>
        </p:spPr>
        <p:txBody>
          <a:bodyPr wrap="square" anchor="t">
            <a:spAutoFit/>
          </a:bodyPr>
          <a:lstStyle/>
          <a:p>
            <a:pPr algn="l"/>
            <a:r>
              <a:rPr sz="1500" b="1">
                <a:solidFill>
                  <a:srgbClr val="2E7D5A"/>
                </a:solidFill>
                <a:latin typeface="Aptos"/>
              </a:rPr>
              <a:t>Pourquoi le champion ?</a:t>
            </a:r>
          </a:p>
        </p:txBody>
      </p:sp>
      <p:sp>
        <p:nvSpPr>
          <p:cNvPr id="24" name="TextBox 23"/>
          <p:cNvSpPr txBox="1"/>
          <p:nvPr/>
        </p:nvSpPr>
        <p:spPr>
          <a:xfrm>
            <a:off x="6702552" y="4041946"/>
            <a:ext cx="4152261" cy="938719"/>
          </a:xfrm>
          <a:prstGeom prst="rect">
            <a:avLst/>
          </a:prstGeom>
          <a:noFill/>
        </p:spPr>
        <p:txBody>
          <a:bodyPr wrap="square" anchor="t">
            <a:spAutoFit/>
          </a:bodyPr>
          <a:lstStyle/>
          <a:p>
            <a:pPr algn="l"/>
            <a:r>
              <a:rPr lang="fr-CA" sz="1100" b="0" dirty="0">
                <a:solidFill>
                  <a:srgbClr val="232B32"/>
                </a:solidFill>
                <a:latin typeface="Aptos"/>
              </a:rPr>
              <a:t>Le modèle champion a été retenu sur la base du score F1 macro moyen calculé lors de la validation croisée. Parmi les modèles évalués, </a:t>
            </a:r>
            <a:r>
              <a:rPr lang="fr-CA" sz="1100" b="0" dirty="0" err="1">
                <a:solidFill>
                  <a:srgbClr val="232B32"/>
                </a:solidFill>
                <a:latin typeface="Aptos"/>
              </a:rPr>
              <a:t>Random</a:t>
            </a:r>
            <a:r>
              <a:rPr lang="fr-CA" sz="1100" b="0" dirty="0">
                <a:solidFill>
                  <a:srgbClr val="232B32"/>
                </a:solidFill>
                <a:latin typeface="Aptos"/>
              </a:rPr>
              <a:t> Forest offre les meilleures performances globales tout en maintenant un rappel élevé pour la classe minoritaire.</a:t>
            </a:r>
            <a:endParaRPr sz="1100" b="0" dirty="0">
              <a:solidFill>
                <a:srgbClr val="232B32"/>
              </a:solidFill>
              <a:latin typeface="Aptos"/>
            </a:endParaRPr>
          </a:p>
        </p:txBody>
      </p:sp>
      <p:sp>
        <p:nvSpPr>
          <p:cNvPr id="25" name="TextBox 24"/>
          <p:cNvSpPr txBox="1"/>
          <p:nvPr/>
        </p:nvSpPr>
        <p:spPr>
          <a:xfrm>
            <a:off x="6675120" y="5176683"/>
            <a:ext cx="4389120" cy="292608"/>
          </a:xfrm>
          <a:prstGeom prst="rect">
            <a:avLst/>
          </a:prstGeom>
          <a:noFill/>
        </p:spPr>
        <p:txBody>
          <a:bodyPr wrap="square" anchor="t">
            <a:spAutoFit/>
          </a:bodyPr>
          <a:lstStyle/>
          <a:p>
            <a:pPr algn="l"/>
            <a:r>
              <a:rPr sz="1600" b="1">
                <a:solidFill>
                  <a:srgbClr val="B44141"/>
                </a:solidFill>
                <a:latin typeface="Aptos"/>
              </a:rPr>
              <a:t>Erreur prioritaire : FAUX NÉGATIFS</a:t>
            </a:r>
          </a:p>
        </p:txBody>
      </p:sp>
      <p:sp>
        <p:nvSpPr>
          <p:cNvPr id="26" name="TextBox 25"/>
          <p:cNvSpPr txBox="1"/>
          <p:nvPr/>
        </p:nvSpPr>
        <p:spPr>
          <a:xfrm>
            <a:off x="6675120" y="5413248"/>
            <a:ext cx="4389120" cy="1015663"/>
          </a:xfrm>
          <a:prstGeom prst="rect">
            <a:avLst/>
          </a:prstGeom>
          <a:noFill/>
        </p:spPr>
        <p:txBody>
          <a:bodyPr wrap="square" anchor="t">
            <a:spAutoFit/>
          </a:bodyPr>
          <a:lstStyle/>
          <a:p>
            <a:pPr algn="l"/>
            <a:r>
              <a:rPr lang="fr-CA" sz="1200" b="0" dirty="0">
                <a:solidFill>
                  <a:srgbClr val="232B32"/>
                </a:solidFill>
                <a:latin typeface="Aptos"/>
              </a:rPr>
              <a:t>Dans ce contexte, manquer un séisme appartenant à la classe « Élevé » est considéré comme plus critique que de générer une fausse alerte. Par conséquent, l'accent est mis sur l'optimisation du rappel (</a:t>
            </a:r>
            <a:r>
              <a:rPr lang="fr-CA" sz="1200" b="0" dirty="0" err="1">
                <a:solidFill>
                  <a:srgbClr val="232B32"/>
                </a:solidFill>
                <a:latin typeface="Aptos"/>
              </a:rPr>
              <a:t>recall</a:t>
            </a:r>
            <a:r>
              <a:rPr lang="fr-CA" sz="1200" b="0" dirty="0">
                <a:solidFill>
                  <a:srgbClr val="232B32"/>
                </a:solidFill>
                <a:latin typeface="Aptos"/>
              </a:rPr>
              <a:t>), tout en tenant compte de la faible précision (</a:t>
            </a:r>
            <a:r>
              <a:rPr lang="fr-CA" sz="1200" b="0" dirty="0" err="1">
                <a:solidFill>
                  <a:srgbClr val="232B32"/>
                </a:solidFill>
                <a:latin typeface="Aptos"/>
              </a:rPr>
              <a:t>precision</a:t>
            </a:r>
            <a:r>
              <a:rPr lang="fr-CA" sz="1200" b="0" dirty="0">
                <a:solidFill>
                  <a:srgbClr val="232B32"/>
                </a:solidFill>
                <a:latin typeface="Aptos"/>
              </a:rPr>
              <a:t>) observée pour cette classe (0,15).</a:t>
            </a:r>
            <a:endParaRPr sz="1200" b="0" dirty="0">
              <a:solidFill>
                <a:srgbClr val="232B32"/>
              </a:solidFill>
              <a:latin typeface="Aptos"/>
            </a:endParaRPr>
          </a:p>
        </p:txBody>
      </p:sp>
      <p:sp>
        <p:nvSpPr>
          <p:cNvPr id="27" name="TextBox 26"/>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02_Model_Risk_Zone — validation croisée et évaluation finale du Random Forest.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dirty="0" err="1">
                <a:solidFill>
                  <a:srgbClr val="0F2238"/>
                </a:solidFill>
                <a:latin typeface="Aptos"/>
              </a:rPr>
              <a:t>Modèle</a:t>
            </a:r>
            <a:r>
              <a:rPr sz="2800" b="1" dirty="0">
                <a:solidFill>
                  <a:srgbClr val="0F2238"/>
                </a:solidFill>
                <a:latin typeface="Aptos"/>
              </a:rPr>
              <a:t> 03 — </a:t>
            </a:r>
            <a:r>
              <a:rPr sz="2800" b="1" dirty="0" err="1">
                <a:solidFill>
                  <a:srgbClr val="0F2238"/>
                </a:solidFill>
                <a:latin typeface="Aptos"/>
              </a:rPr>
              <a:t>Régression</a:t>
            </a:r>
            <a:r>
              <a:rPr sz="2800" b="1" dirty="0">
                <a:solidFill>
                  <a:srgbClr val="0F2238"/>
                </a:solidFill>
                <a:latin typeface="Aptos"/>
              </a:rPr>
              <a:t> de la </a:t>
            </a:r>
            <a:r>
              <a:rPr sz="2800" b="1" dirty="0" err="1">
                <a:solidFill>
                  <a:srgbClr val="0F2238"/>
                </a:solidFill>
                <a:latin typeface="Aptos"/>
              </a:rPr>
              <a:t>sévérité</a:t>
            </a:r>
            <a:r>
              <a:rPr sz="2800" b="1" dirty="0">
                <a:solidFill>
                  <a:srgbClr val="0F2238"/>
                </a:solidFill>
                <a:latin typeface="Aptos"/>
              </a:rPr>
              <a:t> (significance)</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289625"/>
            <a:ext cx="11427953" cy="1200329"/>
          </a:xfrm>
          <a:prstGeom prst="rect">
            <a:avLst/>
          </a:prstGeom>
          <a:noFill/>
        </p:spPr>
        <p:txBody>
          <a:bodyPr wrap="square" anchor="t">
            <a:spAutoFit/>
          </a:bodyPr>
          <a:lstStyle/>
          <a:p>
            <a:r>
              <a:rPr lang="fr-CA" sz="1200" b="1" dirty="0">
                <a:solidFill>
                  <a:srgbClr val="626F7B"/>
                </a:solidFill>
                <a:latin typeface="Aptos"/>
              </a:rPr>
              <a:t>Objectif : </a:t>
            </a:r>
            <a:r>
              <a:rPr lang="en-CA" sz="1200" dirty="0" err="1"/>
              <a:t>Entraîner</a:t>
            </a:r>
            <a:r>
              <a:rPr lang="en-CA" sz="1200" dirty="0"/>
              <a:t>, </a:t>
            </a:r>
            <a:r>
              <a:rPr lang="en-CA" sz="1200" dirty="0" err="1"/>
              <a:t>évaluer</a:t>
            </a:r>
            <a:r>
              <a:rPr lang="en-CA" sz="1200" dirty="0"/>
              <a:t> et comparer des </a:t>
            </a:r>
            <a:r>
              <a:rPr lang="en-CA" sz="1200" dirty="0" err="1"/>
              <a:t>modèles</a:t>
            </a:r>
            <a:r>
              <a:rPr lang="en-CA" sz="1200" dirty="0"/>
              <a:t> de </a:t>
            </a:r>
            <a:r>
              <a:rPr lang="en-CA" sz="1200" dirty="0" err="1"/>
              <a:t>régression</a:t>
            </a:r>
            <a:r>
              <a:rPr lang="en-CA" sz="1200" dirty="0"/>
              <a:t> </a:t>
            </a:r>
            <a:r>
              <a:rPr lang="en-CA" sz="1200" dirty="0" err="1"/>
              <a:t>supervisée</a:t>
            </a:r>
            <a:r>
              <a:rPr lang="en-CA" sz="1200" dirty="0"/>
              <a:t> </a:t>
            </a:r>
            <a:r>
              <a:rPr lang="en-CA" sz="1200" dirty="0" err="1"/>
              <a:t>afin</a:t>
            </a:r>
            <a:r>
              <a:rPr lang="en-CA" sz="1200" dirty="0"/>
              <a:t> de </a:t>
            </a:r>
            <a:r>
              <a:rPr lang="en-CA" sz="1200" dirty="0" err="1"/>
              <a:t>prédire</a:t>
            </a:r>
            <a:r>
              <a:rPr lang="en-CA" sz="1200" dirty="0"/>
              <a:t> </a:t>
            </a:r>
            <a:r>
              <a:rPr lang="en-CA" sz="1200" b="1" dirty="0" err="1"/>
              <a:t>l’importance</a:t>
            </a:r>
            <a:r>
              <a:rPr lang="en-CA" sz="1200" b="1" dirty="0"/>
              <a:t> (significance)</a:t>
            </a:r>
            <a:r>
              <a:rPr lang="en-CA" sz="1200" dirty="0"/>
              <a:t> d’un </a:t>
            </a:r>
            <a:r>
              <a:rPr lang="en-CA" sz="1200" dirty="0" err="1"/>
              <a:t>séisme</a:t>
            </a:r>
            <a:r>
              <a:rPr lang="en-CA" sz="1200" dirty="0"/>
              <a:t> à </a:t>
            </a:r>
            <a:r>
              <a:rPr lang="en-CA" sz="1200" dirty="0" err="1"/>
              <a:t>partir</a:t>
            </a:r>
            <a:r>
              <a:rPr lang="en-CA" sz="1200" dirty="0"/>
              <a:t> de </a:t>
            </a:r>
            <a:r>
              <a:rPr lang="en-CA" sz="1200" dirty="0" err="1"/>
              <a:t>ses</a:t>
            </a:r>
            <a:r>
              <a:rPr lang="en-CA" sz="1200" dirty="0"/>
              <a:t> </a:t>
            </a:r>
            <a:r>
              <a:rPr lang="en-CA" sz="1200" dirty="0" err="1"/>
              <a:t>caractéristiques</a:t>
            </a:r>
            <a:r>
              <a:rPr lang="en-CA" sz="1200" dirty="0"/>
              <a:t> </a:t>
            </a:r>
            <a:r>
              <a:rPr lang="en-CA" sz="1200" dirty="0" err="1"/>
              <a:t>géophysiques</a:t>
            </a:r>
            <a:r>
              <a:rPr lang="en-CA" sz="1200" dirty="0"/>
              <a:t> et des </a:t>
            </a:r>
            <a:r>
              <a:rPr lang="en-CA" sz="1200" dirty="0" err="1"/>
              <a:t>mesures</a:t>
            </a:r>
            <a:r>
              <a:rPr lang="en-CA" sz="1200" dirty="0"/>
              <a:t> </a:t>
            </a:r>
            <a:r>
              <a:rPr lang="en-CA" sz="1200" dirty="0" err="1"/>
              <a:t>enregistrées</a:t>
            </a:r>
            <a:r>
              <a:rPr lang="fr-CA" sz="1200" dirty="0">
                <a:solidFill>
                  <a:srgbClr val="626F7B"/>
                </a:solidFill>
                <a:latin typeface="Aptos"/>
              </a:rPr>
              <a:t>. </a:t>
            </a:r>
          </a:p>
          <a:p>
            <a:endParaRPr lang="fr-CA" sz="1200" dirty="0">
              <a:solidFill>
                <a:srgbClr val="626F7B"/>
              </a:solidFill>
              <a:latin typeface="Aptos"/>
            </a:endParaRPr>
          </a:p>
          <a:p>
            <a:r>
              <a:rPr lang="fr-CA" sz="1200" b="1" dirty="0">
                <a:solidFill>
                  <a:srgbClr val="626F7B"/>
                </a:solidFill>
                <a:latin typeface="Aptos"/>
              </a:rPr>
              <a:t>Variables conservées :</a:t>
            </a:r>
            <a:r>
              <a:rPr lang="fr-CA" sz="1200" dirty="0">
                <a:solidFill>
                  <a:srgbClr val="626F7B"/>
                </a:solidFill>
                <a:latin typeface="Aptos"/>
              </a:rPr>
              <a:t> </a:t>
            </a:r>
            <a:r>
              <a:rPr lang="en-CA" sz="1200" dirty="0"/>
              <a:t>Le </a:t>
            </a:r>
            <a:r>
              <a:rPr lang="en-CA" sz="1200" dirty="0" err="1"/>
              <a:t>modèle</a:t>
            </a:r>
            <a:r>
              <a:rPr lang="en-CA" sz="1200" dirty="0"/>
              <a:t> utilise des données </a:t>
            </a:r>
            <a:r>
              <a:rPr lang="en-CA" sz="1200" dirty="0" err="1"/>
              <a:t>géophysiques</a:t>
            </a:r>
            <a:r>
              <a:rPr lang="en-CA" sz="1200" dirty="0"/>
              <a:t> et </a:t>
            </a:r>
            <a:r>
              <a:rPr lang="en-CA" sz="1200" dirty="0" err="1"/>
              <a:t>spatiales</a:t>
            </a:r>
            <a:r>
              <a:rPr lang="en-CA" sz="1200" dirty="0"/>
              <a:t> (</a:t>
            </a:r>
            <a:r>
              <a:rPr lang="en-CA" sz="1200" b="1" dirty="0"/>
              <a:t>latitude</a:t>
            </a:r>
            <a:r>
              <a:rPr lang="en-CA" sz="1200" dirty="0"/>
              <a:t>, </a:t>
            </a:r>
            <a:r>
              <a:rPr lang="en-CA" sz="1200" b="1" dirty="0"/>
              <a:t>longitude</a:t>
            </a:r>
            <a:r>
              <a:rPr lang="en-CA" sz="1200" dirty="0"/>
              <a:t>, </a:t>
            </a:r>
            <a:r>
              <a:rPr lang="en-CA" sz="1200" b="1" dirty="0" err="1"/>
              <a:t>profondeur</a:t>
            </a:r>
            <a:r>
              <a:rPr lang="en-CA" sz="1200" dirty="0"/>
              <a:t>), des </a:t>
            </a:r>
            <a:r>
              <a:rPr lang="en-CA" sz="1200" dirty="0" err="1"/>
              <a:t>mesures</a:t>
            </a:r>
            <a:r>
              <a:rPr lang="en-CA" sz="1200" dirty="0"/>
              <a:t> de </a:t>
            </a:r>
            <a:r>
              <a:rPr lang="en-CA" sz="1200" dirty="0" err="1"/>
              <a:t>qualité</a:t>
            </a:r>
            <a:r>
              <a:rPr lang="en-CA" sz="1200" dirty="0"/>
              <a:t> de </a:t>
            </a:r>
            <a:r>
              <a:rPr lang="en-CA" sz="1200" dirty="0" err="1"/>
              <a:t>l’enregistrement</a:t>
            </a:r>
            <a:r>
              <a:rPr lang="en-CA" sz="1200" dirty="0"/>
              <a:t> (</a:t>
            </a:r>
            <a:r>
              <a:rPr lang="en-CA" sz="1200" b="1" dirty="0" err="1"/>
              <a:t>dmin</a:t>
            </a:r>
            <a:r>
              <a:rPr lang="en-CA" sz="1200" dirty="0"/>
              <a:t>, </a:t>
            </a:r>
            <a:r>
              <a:rPr lang="en-CA" sz="1200" b="1" dirty="0"/>
              <a:t>gap</a:t>
            </a:r>
            <a:r>
              <a:rPr lang="en-CA" sz="1200" dirty="0"/>
              <a:t>, </a:t>
            </a:r>
            <a:r>
              <a:rPr lang="en-CA" sz="1200" b="1" dirty="0"/>
              <a:t>rms</a:t>
            </a:r>
            <a:r>
              <a:rPr lang="en-CA" sz="1200" dirty="0"/>
              <a:t>, </a:t>
            </a:r>
            <a:r>
              <a:rPr lang="en-CA" sz="1200" b="1" dirty="0" err="1"/>
              <a:t>nst</a:t>
            </a:r>
            <a:r>
              <a:rPr lang="en-CA" sz="1200" dirty="0"/>
              <a:t>), </a:t>
            </a:r>
            <a:r>
              <a:rPr lang="en-CA" sz="1200" dirty="0" err="1"/>
              <a:t>ainsi</a:t>
            </a:r>
            <a:r>
              <a:rPr lang="en-CA" sz="1200" dirty="0"/>
              <a:t> </a:t>
            </a:r>
            <a:r>
              <a:rPr lang="en-CA" sz="1200" dirty="0" err="1"/>
              <a:t>que</a:t>
            </a:r>
            <a:r>
              <a:rPr lang="en-CA" sz="1200" dirty="0"/>
              <a:t> la </a:t>
            </a:r>
            <a:r>
              <a:rPr lang="en-CA" sz="1200" b="1" dirty="0"/>
              <a:t>magnitude</a:t>
            </a:r>
            <a:r>
              <a:rPr lang="en-CA" sz="1200" dirty="0"/>
              <a:t>, </a:t>
            </a:r>
            <a:r>
              <a:rPr lang="en-CA" sz="1200" dirty="0" err="1"/>
              <a:t>afin</a:t>
            </a:r>
            <a:r>
              <a:rPr lang="en-CA" sz="1200" dirty="0"/>
              <a:t> </a:t>
            </a:r>
            <a:r>
              <a:rPr lang="en-CA" sz="1200" dirty="0" err="1"/>
              <a:t>d’estimer</a:t>
            </a:r>
            <a:r>
              <a:rPr lang="en-CA" sz="1200" dirty="0"/>
              <a:t> </a:t>
            </a:r>
            <a:r>
              <a:rPr lang="en-CA" sz="1200" b="1" dirty="0" err="1"/>
              <a:t>l’importance</a:t>
            </a:r>
            <a:r>
              <a:rPr lang="en-CA" sz="1200" b="1" dirty="0"/>
              <a:t> (significance)</a:t>
            </a:r>
            <a:r>
              <a:rPr lang="en-CA" sz="1200" dirty="0"/>
              <a:t> du </a:t>
            </a:r>
            <a:r>
              <a:rPr lang="en-CA" sz="1200" dirty="0" err="1"/>
              <a:t>séisme</a:t>
            </a:r>
            <a:r>
              <a:rPr lang="fr-CA" sz="1200" dirty="0">
                <a:solidFill>
                  <a:srgbClr val="626F7B"/>
                </a:solidFill>
                <a:latin typeface="Aptos"/>
              </a:rPr>
              <a:t>.</a:t>
            </a:r>
          </a:p>
          <a:p>
            <a:pPr algn="l"/>
            <a:endParaRPr sz="1200" b="0" dirty="0">
              <a:solidFill>
                <a:srgbClr val="626F7B"/>
              </a:solidFill>
              <a:latin typeface="Aptos"/>
            </a:endParaRP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05</a:t>
            </a:r>
          </a:p>
        </p:txBody>
      </p:sp>
      <p:graphicFrame>
        <p:nvGraphicFramePr>
          <p:cNvPr id="6" name="Table 5"/>
          <p:cNvGraphicFramePr>
            <a:graphicFrameLocks noGrp="1"/>
          </p:cNvGraphicFramePr>
          <p:nvPr>
            <p:extLst>
              <p:ext uri="{D42A27DB-BD31-4B8C-83A1-F6EECF244321}">
                <p14:modId xmlns:p14="http://schemas.microsoft.com/office/powerpoint/2010/main" val="228999659"/>
              </p:ext>
            </p:extLst>
          </p:nvPr>
        </p:nvGraphicFramePr>
        <p:xfrm>
          <a:off x="534309" y="2729485"/>
          <a:ext cx="5852161" cy="2898648"/>
        </p:xfrm>
        <a:graphic>
          <a:graphicData uri="http://schemas.openxmlformats.org/drawingml/2006/table">
            <a:tbl>
              <a:tblPr firstRow="1" bandRow="1">
                <a:tableStyleId>{5C22544A-7EE6-4342-B048-85BDC9FD1C3A}</a:tableStyleId>
              </a:tblPr>
              <a:tblGrid>
                <a:gridCol w="2110615">
                  <a:extLst>
                    <a:ext uri="{9D8B030D-6E8A-4147-A177-3AD203B41FA5}">
                      <a16:colId xmlns:a16="http://schemas.microsoft.com/office/drawing/2014/main" val="20000"/>
                    </a:ext>
                  </a:extLst>
                </a:gridCol>
                <a:gridCol w="1247182">
                  <a:extLst>
                    <a:ext uri="{9D8B030D-6E8A-4147-A177-3AD203B41FA5}">
                      <a16:colId xmlns:a16="http://schemas.microsoft.com/office/drawing/2014/main" val="20001"/>
                    </a:ext>
                  </a:extLst>
                </a:gridCol>
                <a:gridCol w="1247182">
                  <a:extLst>
                    <a:ext uri="{9D8B030D-6E8A-4147-A177-3AD203B41FA5}">
                      <a16:colId xmlns:a16="http://schemas.microsoft.com/office/drawing/2014/main" val="20002"/>
                    </a:ext>
                  </a:extLst>
                </a:gridCol>
                <a:gridCol w="1247182">
                  <a:extLst>
                    <a:ext uri="{9D8B030D-6E8A-4147-A177-3AD203B41FA5}">
                      <a16:colId xmlns:a16="http://schemas.microsoft.com/office/drawing/2014/main" val="20003"/>
                    </a:ext>
                  </a:extLst>
                </a:gridCol>
              </a:tblGrid>
              <a:tr h="724662">
                <a:tc>
                  <a:txBody>
                    <a:bodyPr/>
                    <a:lstStyle/>
                    <a:p>
                      <a:pPr algn="l"/>
                      <a:r>
                        <a:rPr sz="1200" b="1">
                          <a:solidFill>
                            <a:srgbClr val="FFFFFF"/>
                          </a:solidFill>
                          <a:latin typeface="Aptos"/>
                        </a:rPr>
                        <a:t>Algorithme</a:t>
                      </a:r>
                    </a:p>
                  </a:txBody>
                  <a:tcPr marL="54864" marR="54864" marT="36576" marB="36576">
                    <a:solidFill>
                      <a:srgbClr val="0F2238"/>
                    </a:solidFill>
                  </a:tcPr>
                </a:tc>
                <a:tc>
                  <a:txBody>
                    <a:bodyPr/>
                    <a:lstStyle/>
                    <a:p>
                      <a:pPr algn="ctr"/>
                      <a:r>
                        <a:rPr sz="1200" b="1" dirty="0">
                          <a:solidFill>
                            <a:srgbClr val="FFFFFF"/>
                          </a:solidFill>
                          <a:latin typeface="Aptos"/>
                        </a:rPr>
                        <a:t>MAE ↓</a:t>
                      </a:r>
                    </a:p>
                  </a:txBody>
                  <a:tcPr marL="54864" marR="54864" marT="36576" marB="36576">
                    <a:solidFill>
                      <a:srgbClr val="0F2238"/>
                    </a:solidFill>
                  </a:tcPr>
                </a:tc>
                <a:tc>
                  <a:txBody>
                    <a:bodyPr/>
                    <a:lstStyle/>
                    <a:p>
                      <a:pPr algn="ctr"/>
                      <a:r>
                        <a:rPr sz="1200" b="1">
                          <a:solidFill>
                            <a:srgbClr val="FFFFFF"/>
                          </a:solidFill>
                          <a:latin typeface="Aptos"/>
                        </a:rPr>
                        <a:t>RMSE ↓</a:t>
                      </a:r>
                    </a:p>
                  </a:txBody>
                  <a:tcPr marL="54864" marR="54864" marT="36576" marB="36576">
                    <a:solidFill>
                      <a:srgbClr val="0F2238"/>
                    </a:solidFill>
                  </a:tcPr>
                </a:tc>
                <a:tc>
                  <a:txBody>
                    <a:bodyPr/>
                    <a:lstStyle/>
                    <a:p>
                      <a:pPr algn="ctr"/>
                      <a:r>
                        <a:rPr sz="1200" b="1">
                          <a:solidFill>
                            <a:srgbClr val="FFFFFF"/>
                          </a:solidFill>
                          <a:latin typeface="Aptos"/>
                        </a:rPr>
                        <a:t>R² ↑</a:t>
                      </a:r>
                    </a:p>
                  </a:txBody>
                  <a:tcPr marL="54864" marR="54864" marT="36576" marB="36576">
                    <a:solidFill>
                      <a:srgbClr val="0F2238"/>
                    </a:solidFill>
                  </a:tcPr>
                </a:tc>
                <a:extLst>
                  <a:ext uri="{0D108BD9-81ED-4DB2-BD59-A6C34878D82A}">
                    <a16:rowId xmlns:a16="http://schemas.microsoft.com/office/drawing/2014/main" val="10000"/>
                  </a:ext>
                </a:extLst>
              </a:tr>
              <a:tr h="724662">
                <a:tc>
                  <a:txBody>
                    <a:bodyPr/>
                    <a:lstStyle/>
                    <a:p>
                      <a:pPr algn="l"/>
                      <a:r>
                        <a:rPr sz="1200" b="0">
                          <a:solidFill>
                            <a:srgbClr val="232B32"/>
                          </a:solidFill>
                          <a:latin typeface="Aptos"/>
                        </a:rPr>
                        <a:t>KNN</a:t>
                      </a:r>
                    </a:p>
                  </a:txBody>
                  <a:tcPr marL="54864" marR="54864" marT="36576" marB="36576">
                    <a:solidFill>
                      <a:srgbClr val="FFFFFF"/>
                    </a:solidFill>
                  </a:tcPr>
                </a:tc>
                <a:tc>
                  <a:txBody>
                    <a:bodyPr/>
                    <a:lstStyle/>
                    <a:p>
                      <a:pPr algn="ctr"/>
                      <a:r>
                        <a:rPr sz="1200" b="0">
                          <a:solidFill>
                            <a:srgbClr val="232B32"/>
                          </a:solidFill>
                          <a:latin typeface="Aptos"/>
                        </a:rPr>
                        <a:t>30,0385</a:t>
                      </a:r>
                    </a:p>
                  </a:txBody>
                  <a:tcPr marL="54864" marR="54864" marT="36576" marB="36576">
                    <a:solidFill>
                      <a:srgbClr val="FFFFFF"/>
                    </a:solidFill>
                  </a:tcPr>
                </a:tc>
                <a:tc>
                  <a:txBody>
                    <a:bodyPr/>
                    <a:lstStyle/>
                    <a:p>
                      <a:pPr algn="ctr"/>
                      <a:r>
                        <a:rPr sz="1200" b="0">
                          <a:solidFill>
                            <a:srgbClr val="232B32"/>
                          </a:solidFill>
                          <a:latin typeface="Aptos"/>
                        </a:rPr>
                        <a:t>52,1553</a:t>
                      </a:r>
                    </a:p>
                  </a:txBody>
                  <a:tcPr marL="54864" marR="54864" marT="36576" marB="36576">
                    <a:solidFill>
                      <a:srgbClr val="FFFFFF"/>
                    </a:solidFill>
                  </a:tcPr>
                </a:tc>
                <a:tc>
                  <a:txBody>
                    <a:bodyPr/>
                    <a:lstStyle/>
                    <a:p>
                      <a:pPr algn="ctr"/>
                      <a:r>
                        <a:rPr sz="1200" b="0">
                          <a:solidFill>
                            <a:srgbClr val="232B32"/>
                          </a:solidFill>
                          <a:latin typeface="Aptos"/>
                        </a:rPr>
                        <a:t>0,7099</a:t>
                      </a:r>
                    </a:p>
                  </a:txBody>
                  <a:tcPr marL="54864" marR="54864" marT="36576" marB="36576">
                    <a:solidFill>
                      <a:srgbClr val="FFFFFF"/>
                    </a:solidFill>
                  </a:tcPr>
                </a:tc>
                <a:extLst>
                  <a:ext uri="{0D108BD9-81ED-4DB2-BD59-A6C34878D82A}">
                    <a16:rowId xmlns:a16="http://schemas.microsoft.com/office/drawing/2014/main" val="10001"/>
                  </a:ext>
                </a:extLst>
              </a:tr>
              <a:tr h="724662">
                <a:tc>
                  <a:txBody>
                    <a:bodyPr/>
                    <a:lstStyle/>
                    <a:p>
                      <a:pPr algn="l"/>
                      <a:r>
                        <a:rPr sz="1200" b="0">
                          <a:solidFill>
                            <a:srgbClr val="232B32"/>
                          </a:solidFill>
                          <a:latin typeface="Aptos"/>
                        </a:rPr>
                        <a:t>Decision Tree</a:t>
                      </a:r>
                    </a:p>
                  </a:txBody>
                  <a:tcPr marL="54864" marR="54864" marT="36576" marB="36576">
                    <a:solidFill>
                      <a:srgbClr val="F5F7F9"/>
                    </a:solidFill>
                  </a:tcPr>
                </a:tc>
                <a:tc>
                  <a:txBody>
                    <a:bodyPr/>
                    <a:lstStyle/>
                    <a:p>
                      <a:pPr algn="ctr"/>
                      <a:r>
                        <a:rPr sz="1200" b="0">
                          <a:solidFill>
                            <a:srgbClr val="232B32"/>
                          </a:solidFill>
                          <a:latin typeface="Aptos"/>
                        </a:rPr>
                        <a:t>2,3077</a:t>
                      </a:r>
                    </a:p>
                  </a:txBody>
                  <a:tcPr marL="54864" marR="54864" marT="36576" marB="36576">
                    <a:solidFill>
                      <a:srgbClr val="F5F7F9"/>
                    </a:solidFill>
                  </a:tcPr>
                </a:tc>
                <a:tc>
                  <a:txBody>
                    <a:bodyPr/>
                    <a:lstStyle/>
                    <a:p>
                      <a:pPr algn="ctr"/>
                      <a:r>
                        <a:rPr sz="1200" b="0">
                          <a:solidFill>
                            <a:srgbClr val="232B32"/>
                          </a:solidFill>
                          <a:latin typeface="Aptos"/>
                        </a:rPr>
                        <a:t>5,6603</a:t>
                      </a:r>
                    </a:p>
                  </a:txBody>
                  <a:tcPr marL="54864" marR="54864" marT="36576" marB="36576">
                    <a:solidFill>
                      <a:srgbClr val="F5F7F9"/>
                    </a:solidFill>
                  </a:tcPr>
                </a:tc>
                <a:tc>
                  <a:txBody>
                    <a:bodyPr/>
                    <a:lstStyle/>
                    <a:p>
                      <a:pPr algn="ctr"/>
                      <a:r>
                        <a:rPr sz="1200" b="0">
                          <a:solidFill>
                            <a:srgbClr val="232B32"/>
                          </a:solidFill>
                          <a:latin typeface="Aptos"/>
                        </a:rPr>
                        <a:t>0,9966</a:t>
                      </a:r>
                    </a:p>
                  </a:txBody>
                  <a:tcPr marL="54864" marR="54864" marT="36576" marB="36576">
                    <a:solidFill>
                      <a:srgbClr val="F5F7F9"/>
                    </a:solidFill>
                  </a:tcPr>
                </a:tc>
                <a:extLst>
                  <a:ext uri="{0D108BD9-81ED-4DB2-BD59-A6C34878D82A}">
                    <a16:rowId xmlns:a16="http://schemas.microsoft.com/office/drawing/2014/main" val="10002"/>
                  </a:ext>
                </a:extLst>
              </a:tr>
              <a:tr h="724662">
                <a:tc>
                  <a:txBody>
                    <a:bodyPr/>
                    <a:lstStyle/>
                    <a:p>
                      <a:pPr algn="l"/>
                      <a:r>
                        <a:rPr sz="1200" b="0">
                          <a:solidFill>
                            <a:srgbClr val="232B32"/>
                          </a:solidFill>
                          <a:latin typeface="Aptos"/>
                        </a:rPr>
                        <a:t>Random Forest</a:t>
                      </a:r>
                    </a:p>
                  </a:txBody>
                  <a:tcPr marL="54864" marR="54864" marT="36576" marB="36576">
                    <a:solidFill>
                      <a:srgbClr val="FFFFFF"/>
                    </a:solidFill>
                  </a:tcPr>
                </a:tc>
                <a:tc>
                  <a:txBody>
                    <a:bodyPr/>
                    <a:lstStyle/>
                    <a:p>
                      <a:pPr algn="ctr"/>
                      <a:r>
                        <a:rPr sz="1200" b="0">
                          <a:solidFill>
                            <a:srgbClr val="232B32"/>
                          </a:solidFill>
                          <a:latin typeface="Aptos"/>
                        </a:rPr>
                        <a:t>1,2621</a:t>
                      </a:r>
                    </a:p>
                  </a:txBody>
                  <a:tcPr marL="54864" marR="54864" marT="36576" marB="36576">
                    <a:solidFill>
                      <a:srgbClr val="FFFFFF"/>
                    </a:solidFill>
                  </a:tcPr>
                </a:tc>
                <a:tc>
                  <a:txBody>
                    <a:bodyPr/>
                    <a:lstStyle/>
                    <a:p>
                      <a:pPr algn="ctr"/>
                      <a:r>
                        <a:rPr sz="1200" b="0">
                          <a:solidFill>
                            <a:srgbClr val="232B32"/>
                          </a:solidFill>
                          <a:latin typeface="Aptos"/>
                        </a:rPr>
                        <a:t>3,5675</a:t>
                      </a:r>
                    </a:p>
                  </a:txBody>
                  <a:tcPr marL="54864" marR="54864" marT="36576" marB="36576">
                    <a:solidFill>
                      <a:srgbClr val="FFFFFF"/>
                    </a:solidFill>
                  </a:tcPr>
                </a:tc>
                <a:tc>
                  <a:txBody>
                    <a:bodyPr/>
                    <a:lstStyle/>
                    <a:p>
                      <a:pPr algn="ctr"/>
                      <a:r>
                        <a:rPr sz="1200" b="0" dirty="0">
                          <a:solidFill>
                            <a:srgbClr val="232B32"/>
                          </a:solidFill>
                          <a:latin typeface="Aptos"/>
                        </a:rPr>
                        <a:t>0,9986</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606579" y="2441448"/>
            <a:ext cx="4389120"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1171" y="2587752"/>
            <a:ext cx="4059935" cy="320040"/>
          </a:xfrm>
          <a:prstGeom prst="rect">
            <a:avLst/>
          </a:prstGeom>
          <a:noFill/>
        </p:spPr>
        <p:txBody>
          <a:bodyPr wrap="square" anchor="t">
            <a:spAutoFit/>
          </a:bodyPr>
          <a:lstStyle/>
          <a:p>
            <a:pPr algn="l"/>
            <a:r>
              <a:rPr sz="1500" b="1">
                <a:solidFill>
                  <a:srgbClr val="2E7D5A"/>
                </a:solidFill>
                <a:latin typeface="Aptos"/>
              </a:rPr>
              <a:t>Champion — Random Forest</a:t>
            </a:r>
          </a:p>
        </p:txBody>
      </p:sp>
      <p:sp>
        <p:nvSpPr>
          <p:cNvPr id="9" name="TextBox 8"/>
          <p:cNvSpPr txBox="1"/>
          <p:nvPr/>
        </p:nvSpPr>
        <p:spPr>
          <a:xfrm>
            <a:off x="7771171" y="2971800"/>
            <a:ext cx="4059935" cy="667512"/>
          </a:xfrm>
          <a:prstGeom prst="rect">
            <a:avLst/>
          </a:prstGeom>
          <a:noFill/>
        </p:spPr>
        <p:txBody>
          <a:bodyPr wrap="square" anchor="t">
            <a:spAutoFit/>
          </a:bodyPr>
          <a:lstStyle/>
          <a:p>
            <a:pPr algn="l"/>
            <a:r>
              <a:rPr sz="1100" b="0">
                <a:solidFill>
                  <a:srgbClr val="232B32"/>
                </a:solidFill>
                <a:latin typeface="Aptos"/>
              </a:rPr>
              <a:t>Plus faible MAE et RMSE, R² le plus élevé, meilleure robustesse et généralisation selon le notebook.</a:t>
            </a:r>
          </a:p>
        </p:txBody>
      </p:sp>
      <p:sp>
        <p:nvSpPr>
          <p:cNvPr id="10" name="Rounded Rectangle 9"/>
          <p:cNvSpPr/>
          <p:nvPr/>
        </p:nvSpPr>
        <p:spPr>
          <a:xfrm>
            <a:off x="7606579" y="3995928"/>
            <a:ext cx="4389120"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1171" y="4142232"/>
            <a:ext cx="4059935" cy="320040"/>
          </a:xfrm>
          <a:prstGeom prst="rect">
            <a:avLst/>
          </a:prstGeom>
          <a:noFill/>
        </p:spPr>
        <p:txBody>
          <a:bodyPr wrap="square" anchor="t">
            <a:spAutoFit/>
          </a:bodyPr>
          <a:lstStyle/>
          <a:p>
            <a:pPr algn="l"/>
            <a:r>
              <a:rPr sz="1500" b="1">
                <a:solidFill>
                  <a:srgbClr val="B44141"/>
                </a:solidFill>
                <a:latin typeface="Aptos"/>
              </a:rPr>
              <a:t>Métrique à privilégier — RMSE</a:t>
            </a:r>
          </a:p>
        </p:txBody>
      </p:sp>
      <p:sp>
        <p:nvSpPr>
          <p:cNvPr id="12" name="TextBox 11"/>
          <p:cNvSpPr txBox="1"/>
          <p:nvPr/>
        </p:nvSpPr>
        <p:spPr>
          <a:xfrm>
            <a:off x="7771171" y="4526280"/>
            <a:ext cx="4059935" cy="667512"/>
          </a:xfrm>
          <a:prstGeom prst="rect">
            <a:avLst/>
          </a:prstGeom>
          <a:noFill/>
        </p:spPr>
        <p:txBody>
          <a:bodyPr wrap="square" anchor="t">
            <a:spAutoFit/>
          </a:bodyPr>
          <a:lstStyle/>
          <a:p>
            <a:pPr algn="l"/>
            <a:r>
              <a:rPr sz="1100" b="0">
                <a:solidFill>
                  <a:srgbClr val="232B32"/>
                </a:solidFill>
                <a:latin typeface="Aptos"/>
              </a:rPr>
              <a:t>Le RMSE pénalise davantage les grosses erreurs : utile lorsque sous-estimer fortement la sévérité serait problématique.</a:t>
            </a:r>
          </a:p>
        </p:txBody>
      </p:sp>
      <p:sp>
        <p:nvSpPr>
          <p:cNvPr id="13" name="Rounded Rectangle 12"/>
          <p:cNvSpPr/>
          <p:nvPr/>
        </p:nvSpPr>
        <p:spPr>
          <a:xfrm>
            <a:off x="7606579" y="5550408"/>
            <a:ext cx="4389120" cy="10515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1171" y="5696712"/>
            <a:ext cx="4059935" cy="320040"/>
          </a:xfrm>
          <a:prstGeom prst="rect">
            <a:avLst/>
          </a:prstGeom>
          <a:noFill/>
        </p:spPr>
        <p:txBody>
          <a:bodyPr wrap="square" anchor="t">
            <a:spAutoFit/>
          </a:bodyPr>
          <a:lstStyle/>
          <a:p>
            <a:pPr algn="l"/>
            <a:r>
              <a:rPr sz="1500" b="1" dirty="0" err="1">
                <a:solidFill>
                  <a:srgbClr val="215E91"/>
                </a:solidFill>
                <a:latin typeface="Aptos"/>
              </a:rPr>
              <a:t>Pourquoi</a:t>
            </a:r>
            <a:r>
              <a:rPr sz="1500" b="1" dirty="0">
                <a:solidFill>
                  <a:srgbClr val="215E91"/>
                </a:solidFill>
                <a:latin typeface="Aptos"/>
              </a:rPr>
              <a:t> pas </a:t>
            </a:r>
            <a:r>
              <a:rPr sz="1500" b="1" dirty="0" err="1">
                <a:solidFill>
                  <a:srgbClr val="215E91"/>
                </a:solidFill>
                <a:latin typeface="Aptos"/>
              </a:rPr>
              <a:t>seulement</a:t>
            </a:r>
            <a:r>
              <a:rPr sz="1500" b="1" dirty="0">
                <a:solidFill>
                  <a:srgbClr val="215E91"/>
                </a:solidFill>
                <a:latin typeface="Aptos"/>
              </a:rPr>
              <a:t> R² ?</a:t>
            </a:r>
          </a:p>
        </p:txBody>
      </p:sp>
      <p:sp>
        <p:nvSpPr>
          <p:cNvPr id="15" name="TextBox 14"/>
          <p:cNvSpPr txBox="1"/>
          <p:nvPr/>
        </p:nvSpPr>
        <p:spPr>
          <a:xfrm>
            <a:off x="7771171" y="6080760"/>
            <a:ext cx="4059935" cy="393191"/>
          </a:xfrm>
          <a:prstGeom prst="rect">
            <a:avLst/>
          </a:prstGeom>
          <a:noFill/>
        </p:spPr>
        <p:txBody>
          <a:bodyPr wrap="square" anchor="t">
            <a:spAutoFit/>
          </a:bodyPr>
          <a:lstStyle/>
          <a:p>
            <a:pPr algn="l"/>
            <a:r>
              <a:rPr sz="1100" b="0" dirty="0">
                <a:solidFill>
                  <a:srgbClr val="232B32"/>
                </a:solidFill>
                <a:latin typeface="Aptos"/>
              </a:rPr>
              <a:t>R² </a:t>
            </a:r>
            <a:r>
              <a:rPr sz="1100" b="0" dirty="0" err="1">
                <a:solidFill>
                  <a:srgbClr val="232B32"/>
                </a:solidFill>
                <a:latin typeface="Aptos"/>
              </a:rPr>
              <a:t>décrit</a:t>
            </a:r>
            <a:r>
              <a:rPr sz="1100" b="0" dirty="0">
                <a:solidFill>
                  <a:srgbClr val="232B32"/>
                </a:solidFill>
                <a:latin typeface="Aptos"/>
              </a:rPr>
              <a:t> </a:t>
            </a:r>
            <a:r>
              <a:rPr sz="1100" b="0" dirty="0" err="1">
                <a:solidFill>
                  <a:srgbClr val="232B32"/>
                </a:solidFill>
                <a:latin typeface="Aptos"/>
              </a:rPr>
              <a:t>l’ajustement</a:t>
            </a:r>
            <a:r>
              <a:rPr sz="1100" b="0" dirty="0">
                <a:solidFill>
                  <a:srgbClr val="232B32"/>
                </a:solidFill>
                <a:latin typeface="Aptos"/>
              </a:rPr>
              <a:t> global; MAE/RMSE </a:t>
            </a:r>
            <a:r>
              <a:rPr sz="1100" b="0" dirty="0" err="1">
                <a:solidFill>
                  <a:srgbClr val="232B32"/>
                </a:solidFill>
                <a:latin typeface="Aptos"/>
              </a:rPr>
              <a:t>donnent</a:t>
            </a:r>
            <a:r>
              <a:rPr sz="1100" b="0" dirty="0">
                <a:solidFill>
                  <a:srgbClr val="232B32"/>
                </a:solidFill>
                <a:latin typeface="Aptos"/>
              </a:rPr>
              <a:t> </a:t>
            </a:r>
            <a:r>
              <a:rPr sz="1100" b="0" dirty="0" err="1">
                <a:solidFill>
                  <a:srgbClr val="232B32"/>
                </a:solidFill>
                <a:latin typeface="Aptos"/>
              </a:rPr>
              <a:t>directement</a:t>
            </a:r>
            <a:r>
              <a:rPr sz="1100" b="0" dirty="0">
                <a:solidFill>
                  <a:srgbClr val="232B32"/>
                </a:solidFill>
                <a:latin typeface="Aptos"/>
              </a:rPr>
              <a:t> la taille des </a:t>
            </a:r>
            <a:r>
              <a:rPr sz="1100" b="0" dirty="0" err="1">
                <a:solidFill>
                  <a:srgbClr val="232B32"/>
                </a:solidFill>
                <a:latin typeface="Aptos"/>
              </a:rPr>
              <a:t>erreurs</a:t>
            </a:r>
            <a:r>
              <a:rPr sz="1100" b="0" dirty="0">
                <a:solidFill>
                  <a:srgbClr val="232B32"/>
                </a:solidFill>
                <a:latin typeface="Aptos"/>
              </a:rPr>
              <a:t>.</a:t>
            </a:r>
          </a:p>
        </p:txBody>
      </p:sp>
      <p:sp>
        <p:nvSpPr>
          <p:cNvPr id="16" name="TextBox 15"/>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03_Model_PGA — tableau comparatif KNN / Decision Tree / Random Forest.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04 — Classification du facteur de risque</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1134445"/>
            <a:ext cx="10881360" cy="1200329"/>
          </a:xfrm>
          <a:prstGeom prst="rect">
            <a:avLst/>
          </a:prstGeom>
          <a:noFill/>
        </p:spPr>
        <p:txBody>
          <a:bodyPr wrap="square" anchor="t">
            <a:spAutoFit/>
          </a:bodyPr>
          <a:lstStyle/>
          <a:p>
            <a:pPr algn="l"/>
            <a:r>
              <a:rPr lang="fr-CA" sz="1200" b="1" dirty="0">
                <a:solidFill>
                  <a:srgbClr val="626F7B"/>
                </a:solidFill>
                <a:latin typeface="Aptos"/>
              </a:rPr>
              <a:t>Objectif:</a:t>
            </a:r>
            <a:r>
              <a:rPr lang="fr-CA" sz="1200" b="0" dirty="0">
                <a:solidFill>
                  <a:srgbClr val="626F7B"/>
                </a:solidFill>
                <a:latin typeface="Aptos"/>
              </a:rPr>
              <a:t> </a:t>
            </a:r>
            <a:r>
              <a:rPr lang="fr-CA" sz="1200" b="0" dirty="0">
                <a:latin typeface="Aptos"/>
              </a:rPr>
              <a:t>Entraîner et d'évaluer des modèles de classification par Machine Learning pour prédire des catégories de facteurs de risque des séismes à partir d'un jeu de données de l'USGS.</a:t>
            </a:r>
          </a:p>
          <a:p>
            <a:pPr algn="l"/>
            <a:endParaRPr lang="fr-CA" sz="1200" dirty="0">
              <a:solidFill>
                <a:srgbClr val="626F7B"/>
              </a:solidFill>
              <a:latin typeface="Aptos"/>
            </a:endParaRPr>
          </a:p>
          <a:p>
            <a:pPr algn="l"/>
            <a:r>
              <a:rPr lang="fr-CA" sz="1200" b="0" dirty="0">
                <a:solidFill>
                  <a:srgbClr val="626F7B"/>
                </a:solidFill>
                <a:latin typeface="Aptos"/>
              </a:rPr>
              <a:t>Construction d'une variable cible sur mesure (</a:t>
            </a:r>
            <a:r>
              <a:rPr lang="fr-CA" sz="1200" b="1" dirty="0" err="1">
                <a:solidFill>
                  <a:srgbClr val="626F7B"/>
                </a:solidFill>
                <a:latin typeface="Aptos"/>
              </a:rPr>
              <a:t>target_risk_category</a:t>
            </a:r>
            <a:r>
              <a:rPr lang="fr-CA" sz="1200" b="0" dirty="0">
                <a:solidFill>
                  <a:srgbClr val="626F7B"/>
                </a:solidFill>
                <a:latin typeface="Aptos"/>
              </a:rPr>
              <a:t>) : </a:t>
            </a:r>
          </a:p>
          <a:p>
            <a:pPr algn="l"/>
            <a:r>
              <a:rPr lang="fr-CA" sz="1200" b="0" dirty="0">
                <a:latin typeface="Aptos"/>
              </a:rPr>
              <a:t>La  segmentation </a:t>
            </a:r>
            <a:r>
              <a:rPr lang="fr-CA" sz="1200" dirty="0">
                <a:latin typeface="Aptos"/>
              </a:rPr>
              <a:t>d</a:t>
            </a:r>
            <a:r>
              <a:rPr lang="fr-CA" sz="1200" b="0" dirty="0">
                <a:latin typeface="Aptos"/>
              </a:rPr>
              <a:t>es séismes en 5 catégories hiérarchisées (Risque Tsunami, Forte Secousse, Forte Exposition, Faible Profondeur, Risque Modéré ou Faible)</a:t>
            </a:r>
          </a:p>
          <a:p>
            <a:pPr algn="l"/>
            <a:r>
              <a:rPr lang="fr-CA" sz="1200" b="0" dirty="0">
                <a:latin typeface="Aptos"/>
              </a:rPr>
              <a:t>basées sur des règles métier (magnitude, profondeur, intensité MMI, alertes, etc.) tout en évitant les fuites de données (data </a:t>
            </a:r>
            <a:r>
              <a:rPr lang="fr-CA" sz="1200" b="0" dirty="0" err="1">
                <a:latin typeface="Aptos"/>
              </a:rPr>
              <a:t>leakage</a:t>
            </a:r>
            <a:r>
              <a:rPr lang="fr-CA" sz="1200" b="0" dirty="0">
                <a:latin typeface="Aptos"/>
              </a:rPr>
              <a:t>).</a:t>
            </a:r>
            <a:endParaRPr sz="1200" b="0" dirty="0">
              <a:latin typeface="Aptos"/>
            </a:endParaRP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06</a:t>
            </a:r>
          </a:p>
        </p:txBody>
      </p:sp>
      <p:graphicFrame>
        <p:nvGraphicFramePr>
          <p:cNvPr id="6" name="Table 5"/>
          <p:cNvGraphicFramePr>
            <a:graphicFrameLocks noGrp="1"/>
          </p:cNvGraphicFramePr>
          <p:nvPr>
            <p:extLst>
              <p:ext uri="{D42A27DB-BD31-4B8C-83A1-F6EECF244321}">
                <p14:modId xmlns:p14="http://schemas.microsoft.com/office/powerpoint/2010/main" val="260021514"/>
              </p:ext>
            </p:extLst>
          </p:nvPr>
        </p:nvGraphicFramePr>
        <p:xfrm>
          <a:off x="685800" y="3438834"/>
          <a:ext cx="5897880" cy="24688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617220">
                <a:tc>
                  <a:txBody>
                    <a:bodyPr/>
                    <a:lstStyle/>
                    <a:p>
                      <a:pPr algn="l"/>
                      <a:r>
                        <a:rPr sz="1200" b="1">
                          <a:solidFill>
                            <a:srgbClr val="FFFFFF"/>
                          </a:solidFill>
                          <a:latin typeface="Aptos"/>
                        </a:rPr>
                        <a:t>Algorithme</a:t>
                      </a:r>
                    </a:p>
                  </a:txBody>
                  <a:tcPr marL="54864" marR="54864" marT="36576" marB="36576">
                    <a:solidFill>
                      <a:srgbClr val="0F2238"/>
                    </a:solidFill>
                  </a:tcPr>
                </a:tc>
                <a:tc>
                  <a:txBody>
                    <a:bodyPr/>
                    <a:lstStyle/>
                    <a:p>
                      <a:pPr algn="ctr"/>
                      <a:r>
                        <a:rPr sz="1200" b="1">
                          <a:solidFill>
                            <a:srgbClr val="FFFFFF"/>
                          </a:solidFill>
                          <a:latin typeface="Aptos"/>
                        </a:rPr>
                        <a:t>Accuracy</a:t>
                      </a:r>
                    </a:p>
                  </a:txBody>
                  <a:tcPr marL="54864" marR="54864" marT="36576" marB="36576">
                    <a:solidFill>
                      <a:srgbClr val="0F2238"/>
                    </a:solidFill>
                  </a:tcPr>
                </a:tc>
                <a:tc>
                  <a:txBody>
                    <a:bodyPr/>
                    <a:lstStyle/>
                    <a:p>
                      <a:pPr algn="ctr"/>
                      <a:r>
                        <a:rPr sz="1200" b="1">
                          <a:solidFill>
                            <a:srgbClr val="FFFFFF"/>
                          </a:solidFill>
                          <a:latin typeface="Aptos"/>
                        </a:rPr>
                        <a:t>F1 weighted</a:t>
                      </a:r>
                    </a:p>
                  </a:txBody>
                  <a:tcPr marL="54864" marR="54864" marT="36576" marB="36576">
                    <a:solidFill>
                      <a:srgbClr val="0F2238"/>
                    </a:solidFill>
                  </a:tcPr>
                </a:tc>
                <a:tc>
                  <a:txBody>
                    <a:bodyPr/>
                    <a:lstStyle/>
                    <a:p>
                      <a:pPr algn="ctr"/>
                      <a:r>
                        <a:rPr sz="1200" b="1">
                          <a:solidFill>
                            <a:srgbClr val="FFFFFF"/>
                          </a:solidFill>
                          <a:latin typeface="Aptos"/>
                        </a:rPr>
                        <a:t>F1 macro</a:t>
                      </a:r>
                    </a:p>
                  </a:txBody>
                  <a:tcPr marL="54864" marR="54864" marT="36576" marB="36576">
                    <a:solidFill>
                      <a:srgbClr val="0F2238"/>
                    </a:solidFill>
                  </a:tcPr>
                </a:tc>
                <a:extLst>
                  <a:ext uri="{0D108BD9-81ED-4DB2-BD59-A6C34878D82A}">
                    <a16:rowId xmlns:a16="http://schemas.microsoft.com/office/drawing/2014/main" val="10000"/>
                  </a:ext>
                </a:extLst>
              </a:tr>
              <a:tr h="617220">
                <a:tc>
                  <a:txBody>
                    <a:bodyPr/>
                    <a:lstStyle/>
                    <a:p>
                      <a:pPr algn="l"/>
                      <a:r>
                        <a:rPr sz="1200" b="0">
                          <a:solidFill>
                            <a:srgbClr val="232B32"/>
                          </a:solidFill>
                          <a:latin typeface="Aptos"/>
                        </a:rPr>
                        <a:t>LightGBM</a:t>
                      </a:r>
                    </a:p>
                  </a:txBody>
                  <a:tcPr marL="54864" marR="54864" marT="36576" marB="36576">
                    <a:solidFill>
                      <a:srgbClr val="FFFFFF"/>
                    </a:solidFill>
                  </a:tcPr>
                </a:tc>
                <a:tc>
                  <a:txBody>
                    <a:bodyPr/>
                    <a:lstStyle/>
                    <a:p>
                      <a:pPr algn="ctr"/>
                      <a:r>
                        <a:rPr sz="1200" b="0">
                          <a:solidFill>
                            <a:srgbClr val="232B32"/>
                          </a:solidFill>
                          <a:latin typeface="Aptos"/>
                        </a:rPr>
                        <a:t>0,9936</a:t>
                      </a:r>
                    </a:p>
                  </a:txBody>
                  <a:tcPr marL="54864" marR="54864" marT="36576" marB="36576">
                    <a:solidFill>
                      <a:srgbClr val="FFFFFF"/>
                    </a:solidFill>
                  </a:tcPr>
                </a:tc>
                <a:tc>
                  <a:txBody>
                    <a:bodyPr/>
                    <a:lstStyle/>
                    <a:p>
                      <a:pPr algn="ctr"/>
                      <a:r>
                        <a:rPr sz="1200" b="0">
                          <a:solidFill>
                            <a:srgbClr val="232B32"/>
                          </a:solidFill>
                          <a:latin typeface="Aptos"/>
                        </a:rPr>
                        <a:t>0,9932</a:t>
                      </a:r>
                    </a:p>
                  </a:txBody>
                  <a:tcPr marL="54864" marR="54864" marT="36576" marB="36576">
                    <a:solidFill>
                      <a:srgbClr val="FFFFFF"/>
                    </a:solidFill>
                  </a:tcPr>
                </a:tc>
                <a:tc>
                  <a:txBody>
                    <a:bodyPr/>
                    <a:lstStyle/>
                    <a:p>
                      <a:pPr algn="ctr"/>
                      <a:r>
                        <a:rPr sz="1200" b="0">
                          <a:solidFill>
                            <a:srgbClr val="232B32"/>
                          </a:solidFill>
                          <a:latin typeface="Aptos"/>
                        </a:rPr>
                        <a:t>0,6949</a:t>
                      </a:r>
                    </a:p>
                  </a:txBody>
                  <a:tcPr marL="54864" marR="54864" marT="36576" marB="36576">
                    <a:solidFill>
                      <a:srgbClr val="FFFFFF"/>
                    </a:solidFill>
                  </a:tcPr>
                </a:tc>
                <a:extLst>
                  <a:ext uri="{0D108BD9-81ED-4DB2-BD59-A6C34878D82A}">
                    <a16:rowId xmlns:a16="http://schemas.microsoft.com/office/drawing/2014/main" val="10001"/>
                  </a:ext>
                </a:extLst>
              </a:tr>
              <a:tr h="617220">
                <a:tc>
                  <a:txBody>
                    <a:bodyPr/>
                    <a:lstStyle/>
                    <a:p>
                      <a:pPr algn="l"/>
                      <a:r>
                        <a:rPr sz="1200" b="0">
                          <a:solidFill>
                            <a:srgbClr val="232B32"/>
                          </a:solidFill>
                          <a:latin typeface="Aptos"/>
                        </a:rPr>
                        <a:t>Random Forest</a:t>
                      </a:r>
                    </a:p>
                  </a:txBody>
                  <a:tcPr marL="54864" marR="54864" marT="36576" marB="36576">
                    <a:solidFill>
                      <a:srgbClr val="F5F7F9"/>
                    </a:solidFill>
                  </a:tcPr>
                </a:tc>
                <a:tc>
                  <a:txBody>
                    <a:bodyPr/>
                    <a:lstStyle/>
                    <a:p>
                      <a:pPr algn="ctr"/>
                      <a:r>
                        <a:rPr sz="1200" b="0">
                          <a:solidFill>
                            <a:srgbClr val="232B32"/>
                          </a:solidFill>
                          <a:latin typeface="Aptos"/>
                        </a:rPr>
                        <a:t>0,9924</a:t>
                      </a:r>
                    </a:p>
                  </a:txBody>
                  <a:tcPr marL="54864" marR="54864" marT="36576" marB="36576">
                    <a:solidFill>
                      <a:srgbClr val="F5F7F9"/>
                    </a:solidFill>
                  </a:tcPr>
                </a:tc>
                <a:tc>
                  <a:txBody>
                    <a:bodyPr/>
                    <a:lstStyle/>
                    <a:p>
                      <a:pPr algn="ctr"/>
                      <a:r>
                        <a:rPr sz="1200" b="0">
                          <a:solidFill>
                            <a:srgbClr val="232B32"/>
                          </a:solidFill>
                          <a:latin typeface="Aptos"/>
                        </a:rPr>
                        <a:t>0,9918</a:t>
                      </a:r>
                    </a:p>
                  </a:txBody>
                  <a:tcPr marL="54864" marR="54864" marT="36576" marB="36576">
                    <a:solidFill>
                      <a:srgbClr val="F5F7F9"/>
                    </a:solidFill>
                  </a:tcPr>
                </a:tc>
                <a:tc>
                  <a:txBody>
                    <a:bodyPr/>
                    <a:lstStyle/>
                    <a:p>
                      <a:pPr algn="ctr"/>
                      <a:r>
                        <a:rPr sz="1200" b="0">
                          <a:solidFill>
                            <a:srgbClr val="232B32"/>
                          </a:solidFill>
                          <a:latin typeface="Aptos"/>
                        </a:rPr>
                        <a:t>0,6671</a:t>
                      </a:r>
                    </a:p>
                  </a:txBody>
                  <a:tcPr marL="54864" marR="54864" marT="36576" marB="36576">
                    <a:solidFill>
                      <a:srgbClr val="F5F7F9"/>
                    </a:solidFill>
                  </a:tcPr>
                </a:tc>
                <a:extLst>
                  <a:ext uri="{0D108BD9-81ED-4DB2-BD59-A6C34878D82A}">
                    <a16:rowId xmlns:a16="http://schemas.microsoft.com/office/drawing/2014/main" val="10002"/>
                  </a:ext>
                </a:extLst>
              </a:tr>
              <a:tr h="617220">
                <a:tc>
                  <a:txBody>
                    <a:bodyPr/>
                    <a:lstStyle/>
                    <a:p>
                      <a:pPr algn="l"/>
                      <a:r>
                        <a:rPr sz="1200" b="0">
                          <a:solidFill>
                            <a:srgbClr val="232B32"/>
                          </a:solidFill>
                          <a:latin typeface="Aptos"/>
                        </a:rPr>
                        <a:t>XGBoost</a:t>
                      </a:r>
                    </a:p>
                  </a:txBody>
                  <a:tcPr marL="54864" marR="54864" marT="36576" marB="36576">
                    <a:solidFill>
                      <a:srgbClr val="FFFFFF"/>
                    </a:solidFill>
                  </a:tcPr>
                </a:tc>
                <a:tc>
                  <a:txBody>
                    <a:bodyPr/>
                    <a:lstStyle/>
                    <a:p>
                      <a:pPr algn="ctr"/>
                      <a:r>
                        <a:rPr sz="1200" b="0">
                          <a:solidFill>
                            <a:srgbClr val="232B32"/>
                          </a:solidFill>
                          <a:latin typeface="Aptos"/>
                        </a:rPr>
                        <a:t>0,9936</a:t>
                      </a:r>
                    </a:p>
                  </a:txBody>
                  <a:tcPr marL="54864" marR="54864" marT="36576" marB="36576">
                    <a:solidFill>
                      <a:srgbClr val="FFFFFF"/>
                    </a:solidFill>
                  </a:tcPr>
                </a:tc>
                <a:tc>
                  <a:txBody>
                    <a:bodyPr/>
                    <a:lstStyle/>
                    <a:p>
                      <a:pPr algn="ctr"/>
                      <a:r>
                        <a:rPr sz="1200" b="0">
                          <a:solidFill>
                            <a:srgbClr val="232B32"/>
                          </a:solidFill>
                          <a:latin typeface="Aptos"/>
                        </a:rPr>
                        <a:t>0,9930</a:t>
                      </a:r>
                    </a:p>
                  </a:txBody>
                  <a:tcPr marL="54864" marR="54864" marT="36576" marB="36576">
                    <a:solidFill>
                      <a:srgbClr val="FFFFFF"/>
                    </a:solidFill>
                  </a:tcPr>
                </a:tc>
                <a:tc>
                  <a:txBody>
                    <a:bodyPr/>
                    <a:lstStyle/>
                    <a:p>
                      <a:pPr algn="ctr"/>
                      <a:r>
                        <a:rPr sz="1200" b="0" dirty="0">
                          <a:solidFill>
                            <a:srgbClr val="232B32"/>
                          </a:solidFill>
                          <a:latin typeface="Aptos"/>
                        </a:rPr>
                        <a:t>0,6564</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040880" y="2632590"/>
            <a:ext cx="4251960" cy="1181821"/>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05472" y="2680574"/>
            <a:ext cx="3922776" cy="320040"/>
          </a:xfrm>
          <a:prstGeom prst="rect">
            <a:avLst/>
          </a:prstGeom>
          <a:noFill/>
        </p:spPr>
        <p:txBody>
          <a:bodyPr wrap="square" anchor="t">
            <a:spAutoFit/>
          </a:bodyPr>
          <a:lstStyle/>
          <a:p>
            <a:pPr algn="l"/>
            <a:r>
              <a:rPr sz="1500" b="1">
                <a:solidFill>
                  <a:srgbClr val="2E7D5A"/>
                </a:solidFill>
                <a:latin typeface="Aptos"/>
              </a:rPr>
              <a:t>Champion — LightGBM</a:t>
            </a:r>
          </a:p>
        </p:txBody>
      </p:sp>
      <p:sp>
        <p:nvSpPr>
          <p:cNvPr id="9" name="TextBox 8"/>
          <p:cNvSpPr txBox="1"/>
          <p:nvPr/>
        </p:nvSpPr>
        <p:spPr>
          <a:xfrm>
            <a:off x="7205472" y="3064622"/>
            <a:ext cx="3922776" cy="667512"/>
          </a:xfrm>
          <a:prstGeom prst="rect">
            <a:avLst/>
          </a:prstGeom>
          <a:noFill/>
        </p:spPr>
        <p:txBody>
          <a:bodyPr wrap="square" anchor="t">
            <a:spAutoFit/>
          </a:bodyPr>
          <a:lstStyle/>
          <a:p>
            <a:pPr algn="l"/>
            <a:r>
              <a:rPr sz="1100" b="0">
                <a:solidFill>
                  <a:srgbClr val="232B32"/>
                </a:solidFill>
                <a:latin typeface="Aptos"/>
              </a:rPr>
              <a:t>Même accuracy que XGBoost, mais meilleur F1 macro. Il traite mieux l’ensemble des classes, y compris les classes rares.</a:t>
            </a:r>
          </a:p>
        </p:txBody>
      </p:sp>
      <p:sp>
        <p:nvSpPr>
          <p:cNvPr id="10" name="Rounded Rectangle 9"/>
          <p:cNvSpPr/>
          <p:nvPr/>
        </p:nvSpPr>
        <p:spPr>
          <a:xfrm>
            <a:off x="7040880" y="4019916"/>
            <a:ext cx="4251960" cy="1145451"/>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05472" y="4048236"/>
            <a:ext cx="3922776" cy="320040"/>
          </a:xfrm>
          <a:prstGeom prst="rect">
            <a:avLst/>
          </a:prstGeom>
          <a:noFill/>
        </p:spPr>
        <p:txBody>
          <a:bodyPr wrap="square" anchor="t">
            <a:spAutoFit/>
          </a:bodyPr>
          <a:lstStyle/>
          <a:p>
            <a:pPr algn="l"/>
            <a:r>
              <a:rPr sz="1500" b="1">
                <a:solidFill>
                  <a:srgbClr val="36A2BF"/>
                </a:solidFill>
                <a:latin typeface="Aptos"/>
              </a:rPr>
              <a:t>Pourquoi F1 macro ?</a:t>
            </a:r>
          </a:p>
        </p:txBody>
      </p:sp>
      <p:sp>
        <p:nvSpPr>
          <p:cNvPr id="12" name="TextBox 11"/>
          <p:cNvSpPr txBox="1"/>
          <p:nvPr/>
        </p:nvSpPr>
        <p:spPr>
          <a:xfrm>
            <a:off x="7205472" y="4432284"/>
            <a:ext cx="3922776" cy="758952"/>
          </a:xfrm>
          <a:prstGeom prst="rect">
            <a:avLst/>
          </a:prstGeom>
          <a:noFill/>
        </p:spPr>
        <p:txBody>
          <a:bodyPr wrap="square" anchor="t">
            <a:spAutoFit/>
          </a:bodyPr>
          <a:lstStyle/>
          <a:p>
            <a:pPr algn="l"/>
            <a:r>
              <a:rPr sz="1100" b="0">
                <a:solidFill>
                  <a:srgbClr val="232B32"/>
                </a:solidFill>
                <a:latin typeface="Aptos"/>
              </a:rPr>
              <a:t>L’accuracy ≈ 99 % peut masquer une mauvaise détection des petites classes. Le F1 macro donne le même poids à chaque catégorie.</a:t>
            </a:r>
          </a:p>
        </p:txBody>
      </p:sp>
      <p:sp>
        <p:nvSpPr>
          <p:cNvPr id="13" name="Rounded Rectangle 12"/>
          <p:cNvSpPr/>
          <p:nvPr/>
        </p:nvSpPr>
        <p:spPr>
          <a:xfrm>
            <a:off x="7040880" y="5469192"/>
            <a:ext cx="4251960" cy="1072217"/>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5472" y="5517176"/>
            <a:ext cx="3922776" cy="320040"/>
          </a:xfrm>
          <a:prstGeom prst="rect">
            <a:avLst/>
          </a:prstGeom>
          <a:noFill/>
        </p:spPr>
        <p:txBody>
          <a:bodyPr wrap="square" anchor="t">
            <a:spAutoFit/>
          </a:bodyPr>
          <a:lstStyle/>
          <a:p>
            <a:pPr algn="l"/>
            <a:r>
              <a:rPr sz="1500" b="1">
                <a:solidFill>
                  <a:srgbClr val="DA8437"/>
                </a:solidFill>
                <a:latin typeface="Aptos"/>
              </a:rPr>
              <a:t>FP ou FN ?</a:t>
            </a:r>
          </a:p>
        </p:txBody>
      </p:sp>
      <p:sp>
        <p:nvSpPr>
          <p:cNvPr id="15" name="TextBox 14"/>
          <p:cNvSpPr txBox="1"/>
          <p:nvPr/>
        </p:nvSpPr>
        <p:spPr>
          <a:xfrm>
            <a:off x="7205472" y="5901224"/>
            <a:ext cx="3922776" cy="347472"/>
          </a:xfrm>
          <a:prstGeom prst="rect">
            <a:avLst/>
          </a:prstGeom>
          <a:noFill/>
        </p:spPr>
        <p:txBody>
          <a:bodyPr wrap="square" anchor="t">
            <a:spAutoFit/>
          </a:bodyPr>
          <a:lstStyle/>
          <a:p>
            <a:pPr algn="l"/>
            <a:r>
              <a:rPr sz="1100" b="0">
                <a:solidFill>
                  <a:srgbClr val="232B32"/>
                </a:solidFill>
                <a:latin typeface="Aptos"/>
              </a:rPr>
              <a:t>Pour les catégories critiques, on cherche surtout à éviter les FN; mais le notebook fournit surtout F1 macro/weighted, pas une politique de coût explicite par classe.</a:t>
            </a:r>
          </a:p>
        </p:txBody>
      </p:sp>
      <p:sp>
        <p:nvSpPr>
          <p:cNvPr id="16" name="TextBox 15"/>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04_Model_Risk_Factors — tableau comparatif affiché dans le notebook.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05 — Dommages : le déséquilibre change tout</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904 événements : 865 Faible, 25 Modéré, 14 Sévère. Test : seulement 3 cas Sévère.</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07</a:t>
            </a:r>
          </a:p>
        </p:txBody>
      </p:sp>
      <p:graphicFrame>
        <p:nvGraphicFramePr>
          <p:cNvPr id="6" name="Table 5"/>
          <p:cNvGraphicFramePr>
            <a:graphicFrameLocks noGrp="1"/>
          </p:cNvGraphicFramePr>
          <p:nvPr/>
        </p:nvGraphicFramePr>
        <p:xfrm>
          <a:off x="594360" y="1600200"/>
          <a:ext cx="6720840" cy="25146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628650">
                <a:tc>
                  <a:txBody>
                    <a:bodyPr/>
                    <a:lstStyle/>
                    <a:p>
                      <a:pPr algn="l"/>
                      <a:r>
                        <a:rPr sz="1100" b="1">
                          <a:solidFill>
                            <a:srgbClr val="FFFFFF"/>
                          </a:solidFill>
                          <a:latin typeface="Aptos"/>
                        </a:rPr>
                        <a:t>Algorithme</a:t>
                      </a:r>
                    </a:p>
                  </a:txBody>
                  <a:tcPr marL="54864" marR="54864" marT="36576" marB="36576">
                    <a:solidFill>
                      <a:srgbClr val="0F2238"/>
                    </a:solidFill>
                  </a:tcPr>
                </a:tc>
                <a:tc>
                  <a:txBody>
                    <a:bodyPr/>
                    <a:lstStyle/>
                    <a:p>
                      <a:pPr algn="ctr"/>
                      <a:r>
                        <a:rPr sz="1100" b="1">
                          <a:solidFill>
                            <a:srgbClr val="FFFFFF"/>
                          </a:solidFill>
                          <a:latin typeface="Aptos"/>
                        </a:rPr>
                        <a:t>Accuracy</a:t>
                      </a:r>
                    </a:p>
                  </a:txBody>
                  <a:tcPr marL="54864" marR="54864" marT="36576" marB="36576">
                    <a:solidFill>
                      <a:srgbClr val="0F2238"/>
                    </a:solidFill>
                  </a:tcPr>
                </a:tc>
                <a:tc>
                  <a:txBody>
                    <a:bodyPr/>
                    <a:lstStyle/>
                    <a:p>
                      <a:pPr algn="ctr"/>
                      <a:r>
                        <a:rPr sz="1100" b="1">
                          <a:solidFill>
                            <a:srgbClr val="FFFFFF"/>
                          </a:solidFill>
                          <a:latin typeface="Aptos"/>
                        </a:rPr>
                        <a:t>Precision Sévère</a:t>
                      </a:r>
                    </a:p>
                  </a:txBody>
                  <a:tcPr marL="54864" marR="54864" marT="36576" marB="36576">
                    <a:solidFill>
                      <a:srgbClr val="0F2238"/>
                    </a:solidFill>
                  </a:tcPr>
                </a:tc>
                <a:tc>
                  <a:txBody>
                    <a:bodyPr/>
                    <a:lstStyle/>
                    <a:p>
                      <a:pPr algn="ctr"/>
                      <a:r>
                        <a:rPr sz="1100" b="1">
                          <a:solidFill>
                            <a:srgbClr val="FFFFFF"/>
                          </a:solidFill>
                          <a:latin typeface="Aptos"/>
                        </a:rPr>
                        <a:t>Recall Sévère</a:t>
                      </a:r>
                    </a:p>
                  </a:txBody>
                  <a:tcPr marL="54864" marR="54864" marT="36576" marB="36576">
                    <a:solidFill>
                      <a:srgbClr val="0F2238"/>
                    </a:solidFill>
                  </a:tcPr>
                </a:tc>
                <a:tc>
                  <a:txBody>
                    <a:bodyPr/>
                    <a:lstStyle/>
                    <a:p>
                      <a:pPr algn="ctr"/>
                      <a:r>
                        <a:rPr sz="1100" b="1">
                          <a:solidFill>
                            <a:srgbClr val="FFFFFF"/>
                          </a:solidFill>
                          <a:latin typeface="Aptos"/>
                        </a:rPr>
                        <a:t>F1 Sévère</a:t>
                      </a:r>
                    </a:p>
                  </a:txBody>
                  <a:tcPr marL="54864" marR="54864" marT="36576" marB="36576">
                    <a:solidFill>
                      <a:srgbClr val="0F2238"/>
                    </a:solidFill>
                  </a:tcPr>
                </a:tc>
                <a:extLst>
                  <a:ext uri="{0D108BD9-81ED-4DB2-BD59-A6C34878D82A}">
                    <a16:rowId xmlns:a16="http://schemas.microsoft.com/office/drawing/2014/main" val="10000"/>
                  </a:ext>
                </a:extLst>
              </a:tr>
              <a:tr h="628650">
                <a:tc>
                  <a:txBody>
                    <a:bodyPr/>
                    <a:lstStyle/>
                    <a:p>
                      <a:pPr algn="l"/>
                      <a:r>
                        <a:rPr sz="1100" b="0">
                          <a:solidFill>
                            <a:srgbClr val="232B32"/>
                          </a:solidFill>
                          <a:latin typeface="Aptos"/>
                        </a:rPr>
                        <a:t>KNN</a:t>
                      </a:r>
                    </a:p>
                  </a:txBody>
                  <a:tcPr marL="54864" marR="54864" marT="36576" marB="36576">
                    <a:solidFill>
                      <a:srgbClr val="FFFFFF"/>
                    </a:solidFill>
                  </a:tcPr>
                </a:tc>
                <a:tc>
                  <a:txBody>
                    <a:bodyPr/>
                    <a:lstStyle/>
                    <a:p>
                      <a:pPr algn="ctr"/>
                      <a:r>
                        <a:rPr sz="1100" b="0">
                          <a:solidFill>
                            <a:srgbClr val="232B32"/>
                          </a:solidFill>
                          <a:latin typeface="Aptos"/>
                        </a:rPr>
                        <a:t>96,1 %</a:t>
                      </a:r>
                    </a:p>
                  </a:txBody>
                  <a:tcPr marL="54864" marR="54864" marT="36576" marB="36576">
                    <a:solidFill>
                      <a:srgbClr val="FFFFFF"/>
                    </a:solidFill>
                  </a:tcPr>
                </a:tc>
                <a:tc>
                  <a:txBody>
                    <a:bodyPr/>
                    <a:lstStyle/>
                    <a:p>
                      <a:pPr algn="ctr"/>
                      <a:r>
                        <a:rPr sz="1100" b="0">
                          <a:solidFill>
                            <a:srgbClr val="232B32"/>
                          </a:solidFill>
                          <a:latin typeface="Aptos"/>
                        </a:rPr>
                        <a:t>1,00</a:t>
                      </a:r>
                    </a:p>
                  </a:txBody>
                  <a:tcPr marL="54864" marR="54864" marT="36576" marB="36576">
                    <a:solidFill>
                      <a:srgbClr val="FFFFFF"/>
                    </a:solidFill>
                  </a:tcPr>
                </a:tc>
                <a:tc>
                  <a:txBody>
                    <a:bodyPr/>
                    <a:lstStyle/>
                    <a:p>
                      <a:pPr algn="ctr"/>
                      <a:r>
                        <a:rPr sz="1100" b="0">
                          <a:solidFill>
                            <a:srgbClr val="232B32"/>
                          </a:solidFill>
                          <a:latin typeface="Aptos"/>
                        </a:rPr>
                        <a:t>0,33</a:t>
                      </a:r>
                    </a:p>
                  </a:txBody>
                  <a:tcPr marL="54864" marR="54864" marT="36576" marB="36576">
                    <a:solidFill>
                      <a:srgbClr val="FFFFFF"/>
                    </a:solidFill>
                  </a:tcPr>
                </a:tc>
                <a:tc>
                  <a:txBody>
                    <a:bodyPr/>
                    <a:lstStyle/>
                    <a:p>
                      <a:pPr algn="ctr"/>
                      <a:r>
                        <a:rPr sz="1100" b="0">
                          <a:solidFill>
                            <a:srgbClr val="232B32"/>
                          </a:solidFill>
                          <a:latin typeface="Aptos"/>
                        </a:rPr>
                        <a:t>0,50</a:t>
                      </a:r>
                    </a:p>
                  </a:txBody>
                  <a:tcPr marL="54864" marR="54864" marT="36576" marB="36576">
                    <a:solidFill>
                      <a:srgbClr val="FFFFFF"/>
                    </a:solidFill>
                  </a:tcPr>
                </a:tc>
                <a:extLst>
                  <a:ext uri="{0D108BD9-81ED-4DB2-BD59-A6C34878D82A}">
                    <a16:rowId xmlns:a16="http://schemas.microsoft.com/office/drawing/2014/main" val="10001"/>
                  </a:ext>
                </a:extLst>
              </a:tr>
              <a:tr h="628650">
                <a:tc>
                  <a:txBody>
                    <a:bodyPr/>
                    <a:lstStyle/>
                    <a:p>
                      <a:pPr algn="l"/>
                      <a:r>
                        <a:rPr sz="1100" b="0">
                          <a:solidFill>
                            <a:srgbClr val="232B32"/>
                          </a:solidFill>
                          <a:latin typeface="Aptos"/>
                        </a:rPr>
                        <a:t>Decision Tree</a:t>
                      </a:r>
                    </a:p>
                  </a:txBody>
                  <a:tcPr marL="54864" marR="54864" marT="36576" marB="36576">
                    <a:solidFill>
                      <a:srgbClr val="F5F7F9"/>
                    </a:solidFill>
                  </a:tcPr>
                </a:tc>
                <a:tc>
                  <a:txBody>
                    <a:bodyPr/>
                    <a:lstStyle/>
                    <a:p>
                      <a:pPr algn="ctr"/>
                      <a:r>
                        <a:rPr sz="1100" b="0">
                          <a:solidFill>
                            <a:srgbClr val="232B32"/>
                          </a:solidFill>
                          <a:latin typeface="Aptos"/>
                        </a:rPr>
                        <a:t>98,3 %</a:t>
                      </a:r>
                    </a:p>
                  </a:txBody>
                  <a:tcPr marL="54864" marR="54864" marT="36576" marB="36576">
                    <a:solidFill>
                      <a:srgbClr val="F5F7F9"/>
                    </a:solidFill>
                  </a:tcPr>
                </a:tc>
                <a:tc>
                  <a:txBody>
                    <a:bodyPr/>
                    <a:lstStyle/>
                    <a:p>
                      <a:pPr algn="ctr"/>
                      <a:r>
                        <a:rPr sz="1100" b="0">
                          <a:solidFill>
                            <a:srgbClr val="232B32"/>
                          </a:solidFill>
                          <a:latin typeface="Aptos"/>
                        </a:rPr>
                        <a:t>0,67</a:t>
                      </a:r>
                    </a:p>
                  </a:txBody>
                  <a:tcPr marL="54864" marR="54864" marT="36576" marB="36576">
                    <a:solidFill>
                      <a:srgbClr val="F5F7F9"/>
                    </a:solidFill>
                  </a:tcPr>
                </a:tc>
                <a:tc>
                  <a:txBody>
                    <a:bodyPr/>
                    <a:lstStyle/>
                    <a:p>
                      <a:pPr algn="ctr"/>
                      <a:r>
                        <a:rPr sz="1100" b="0">
                          <a:solidFill>
                            <a:srgbClr val="232B32"/>
                          </a:solidFill>
                          <a:latin typeface="Aptos"/>
                        </a:rPr>
                        <a:t>0,67</a:t>
                      </a:r>
                    </a:p>
                  </a:txBody>
                  <a:tcPr marL="54864" marR="54864" marT="36576" marB="36576">
                    <a:solidFill>
                      <a:srgbClr val="F5F7F9"/>
                    </a:solidFill>
                  </a:tcPr>
                </a:tc>
                <a:tc>
                  <a:txBody>
                    <a:bodyPr/>
                    <a:lstStyle/>
                    <a:p>
                      <a:pPr algn="ctr"/>
                      <a:r>
                        <a:rPr sz="1100" b="0">
                          <a:solidFill>
                            <a:srgbClr val="232B32"/>
                          </a:solidFill>
                          <a:latin typeface="Aptos"/>
                        </a:rPr>
                        <a:t>0,67</a:t>
                      </a:r>
                    </a:p>
                  </a:txBody>
                  <a:tcPr marL="54864" marR="54864" marT="36576" marB="36576">
                    <a:solidFill>
                      <a:srgbClr val="F5F7F9"/>
                    </a:solidFill>
                  </a:tcPr>
                </a:tc>
                <a:extLst>
                  <a:ext uri="{0D108BD9-81ED-4DB2-BD59-A6C34878D82A}">
                    <a16:rowId xmlns:a16="http://schemas.microsoft.com/office/drawing/2014/main" val="10002"/>
                  </a:ext>
                </a:extLst>
              </a:tr>
              <a:tr h="628650">
                <a:tc>
                  <a:txBody>
                    <a:bodyPr/>
                    <a:lstStyle/>
                    <a:p>
                      <a:pPr algn="l"/>
                      <a:r>
                        <a:rPr sz="1100" b="0">
                          <a:solidFill>
                            <a:srgbClr val="232B32"/>
                          </a:solidFill>
                          <a:latin typeface="Aptos"/>
                        </a:rPr>
                        <a:t>Random Forest</a:t>
                      </a:r>
                    </a:p>
                  </a:txBody>
                  <a:tcPr marL="54864" marR="54864" marT="36576" marB="36576">
                    <a:solidFill>
                      <a:srgbClr val="FFFFFF"/>
                    </a:solidFill>
                  </a:tcPr>
                </a:tc>
                <a:tc>
                  <a:txBody>
                    <a:bodyPr/>
                    <a:lstStyle/>
                    <a:p>
                      <a:pPr algn="ctr"/>
                      <a:r>
                        <a:rPr sz="1100" b="0">
                          <a:solidFill>
                            <a:srgbClr val="232B32"/>
                          </a:solidFill>
                          <a:latin typeface="Aptos"/>
                        </a:rPr>
                        <a:t>98,9 %</a:t>
                      </a:r>
                    </a:p>
                  </a:txBody>
                  <a:tcPr marL="54864" marR="54864" marT="36576" marB="36576">
                    <a:solidFill>
                      <a:srgbClr val="FFFFFF"/>
                    </a:solidFill>
                  </a:tcPr>
                </a:tc>
                <a:tc>
                  <a:txBody>
                    <a:bodyPr/>
                    <a:lstStyle/>
                    <a:p>
                      <a:pPr algn="ctr"/>
                      <a:r>
                        <a:rPr sz="1100" b="0">
                          <a:solidFill>
                            <a:srgbClr val="232B32"/>
                          </a:solidFill>
                          <a:latin typeface="Aptos"/>
                        </a:rPr>
                        <a:t>1,00</a:t>
                      </a:r>
                    </a:p>
                  </a:txBody>
                  <a:tcPr marL="54864" marR="54864" marT="36576" marB="36576">
                    <a:solidFill>
                      <a:srgbClr val="FFFFFF"/>
                    </a:solidFill>
                  </a:tcPr>
                </a:tc>
                <a:tc>
                  <a:txBody>
                    <a:bodyPr/>
                    <a:lstStyle/>
                    <a:p>
                      <a:pPr algn="ctr"/>
                      <a:r>
                        <a:rPr sz="1100" b="0">
                          <a:solidFill>
                            <a:srgbClr val="232B32"/>
                          </a:solidFill>
                          <a:latin typeface="Aptos"/>
                        </a:rPr>
                        <a:t>0,67</a:t>
                      </a:r>
                    </a:p>
                  </a:txBody>
                  <a:tcPr marL="54864" marR="54864" marT="36576" marB="36576">
                    <a:solidFill>
                      <a:srgbClr val="FFFFFF"/>
                    </a:solidFill>
                  </a:tcPr>
                </a:tc>
                <a:tc>
                  <a:txBody>
                    <a:bodyPr/>
                    <a:lstStyle/>
                    <a:p>
                      <a:pPr algn="ctr"/>
                      <a:r>
                        <a:rPr sz="1100" b="0">
                          <a:solidFill>
                            <a:srgbClr val="232B32"/>
                          </a:solidFill>
                          <a:latin typeface="Aptos"/>
                        </a:rPr>
                        <a:t>0,80</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452360" y="1600200"/>
            <a:ext cx="3977639" cy="12344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16952" y="1746504"/>
            <a:ext cx="3648456" cy="320040"/>
          </a:xfrm>
          <a:prstGeom prst="rect">
            <a:avLst/>
          </a:prstGeom>
          <a:noFill/>
        </p:spPr>
        <p:txBody>
          <a:bodyPr wrap="square" anchor="t">
            <a:spAutoFit/>
          </a:bodyPr>
          <a:lstStyle/>
          <a:p>
            <a:pPr algn="l"/>
            <a:r>
              <a:rPr sz="1500" b="1">
                <a:solidFill>
                  <a:srgbClr val="2E7D5A"/>
                </a:solidFill>
                <a:latin typeface="Aptos"/>
              </a:rPr>
              <a:t>Champion — Random Forest</a:t>
            </a:r>
          </a:p>
        </p:txBody>
      </p:sp>
      <p:sp>
        <p:nvSpPr>
          <p:cNvPr id="9" name="TextBox 8"/>
          <p:cNvSpPr txBox="1"/>
          <p:nvPr/>
        </p:nvSpPr>
        <p:spPr>
          <a:xfrm>
            <a:off x="7616952" y="2130552"/>
            <a:ext cx="3648456" cy="576072"/>
          </a:xfrm>
          <a:prstGeom prst="rect">
            <a:avLst/>
          </a:prstGeom>
          <a:noFill/>
        </p:spPr>
        <p:txBody>
          <a:bodyPr wrap="square" anchor="t">
            <a:spAutoFit/>
          </a:bodyPr>
          <a:lstStyle/>
          <a:p>
            <a:pPr algn="l"/>
            <a:r>
              <a:rPr sz="1100" b="0">
                <a:solidFill>
                  <a:srgbClr val="232B32"/>
                </a:solidFill>
                <a:latin typeface="Aptos"/>
              </a:rPr>
              <a:t>Même recall Sévère que Decision Tree, mais meilleure accuracy et meilleur F1 Sévère.</a:t>
            </a:r>
          </a:p>
        </p:txBody>
      </p:sp>
      <p:sp>
        <p:nvSpPr>
          <p:cNvPr id="10" name="Rounded Rectangle 9"/>
          <p:cNvSpPr/>
          <p:nvPr/>
        </p:nvSpPr>
        <p:spPr>
          <a:xfrm>
            <a:off x="7452360" y="3063240"/>
            <a:ext cx="3977639"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16952" y="3209544"/>
            <a:ext cx="3648456" cy="320040"/>
          </a:xfrm>
          <a:prstGeom prst="rect">
            <a:avLst/>
          </a:prstGeom>
          <a:noFill/>
        </p:spPr>
        <p:txBody>
          <a:bodyPr wrap="square" anchor="t">
            <a:spAutoFit/>
          </a:bodyPr>
          <a:lstStyle/>
          <a:p>
            <a:pPr algn="l"/>
            <a:r>
              <a:rPr sz="1500" b="1">
                <a:solidFill>
                  <a:srgbClr val="B44141"/>
                </a:solidFill>
                <a:latin typeface="Aptos"/>
              </a:rPr>
              <a:t>Erreur la plus critique — FN</a:t>
            </a:r>
          </a:p>
        </p:txBody>
      </p:sp>
      <p:sp>
        <p:nvSpPr>
          <p:cNvPr id="12" name="TextBox 11"/>
          <p:cNvSpPr txBox="1"/>
          <p:nvPr/>
        </p:nvSpPr>
        <p:spPr>
          <a:xfrm>
            <a:off x="7616952" y="3593592"/>
            <a:ext cx="3648456" cy="667512"/>
          </a:xfrm>
          <a:prstGeom prst="rect">
            <a:avLst/>
          </a:prstGeom>
          <a:noFill/>
        </p:spPr>
        <p:txBody>
          <a:bodyPr wrap="square" anchor="t">
            <a:spAutoFit/>
          </a:bodyPr>
          <a:lstStyle/>
          <a:p>
            <a:pPr algn="l"/>
            <a:r>
              <a:rPr sz="1100" b="0">
                <a:solidFill>
                  <a:srgbClr val="232B32"/>
                </a:solidFill>
                <a:latin typeface="Aptos"/>
              </a:rPr>
              <a:t>Un cas réellement Sévère classé Faible/Modéré peut retarder l’intervention. Donc le Recall Sévère est prioritaire.</a:t>
            </a:r>
          </a:p>
        </p:txBody>
      </p:sp>
      <p:sp>
        <p:nvSpPr>
          <p:cNvPr id="13" name="Rounded Rectangle 12"/>
          <p:cNvSpPr/>
          <p:nvPr/>
        </p:nvSpPr>
        <p:spPr>
          <a:xfrm>
            <a:off x="7452360" y="4617720"/>
            <a:ext cx="3977639" cy="11430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4764024"/>
            <a:ext cx="3648456" cy="320040"/>
          </a:xfrm>
          <a:prstGeom prst="rect">
            <a:avLst/>
          </a:prstGeom>
          <a:noFill/>
        </p:spPr>
        <p:txBody>
          <a:bodyPr wrap="square" anchor="t">
            <a:spAutoFit/>
          </a:bodyPr>
          <a:lstStyle/>
          <a:p>
            <a:pPr algn="l"/>
            <a:r>
              <a:rPr sz="1500" b="1">
                <a:solidFill>
                  <a:srgbClr val="215E91"/>
                </a:solidFill>
                <a:latin typeface="Aptos"/>
              </a:rPr>
              <a:t>Pourquoi garder Precision ?</a:t>
            </a:r>
          </a:p>
        </p:txBody>
      </p:sp>
      <p:sp>
        <p:nvSpPr>
          <p:cNvPr id="15" name="TextBox 14"/>
          <p:cNvSpPr txBox="1"/>
          <p:nvPr/>
        </p:nvSpPr>
        <p:spPr>
          <a:xfrm>
            <a:off x="7616952" y="5148072"/>
            <a:ext cx="3648456" cy="484632"/>
          </a:xfrm>
          <a:prstGeom prst="rect">
            <a:avLst/>
          </a:prstGeom>
          <a:noFill/>
        </p:spPr>
        <p:txBody>
          <a:bodyPr wrap="square" anchor="t">
            <a:spAutoFit/>
          </a:bodyPr>
          <a:lstStyle/>
          <a:p>
            <a:pPr algn="l"/>
            <a:r>
              <a:rPr sz="1100" b="0">
                <a:solidFill>
                  <a:srgbClr val="232B32"/>
                </a:solidFill>
                <a:latin typeface="Aptos"/>
              </a:rPr>
              <a:t>Trop de FP Sévère mobiliseraient inutilement des ressources. Ici RF obtient Precision Sévère = 1,00 sur le test.</a:t>
            </a:r>
          </a:p>
        </p:txBody>
      </p:sp>
      <p:sp>
        <p:nvSpPr>
          <p:cNvPr id="16" name="TextBox 15"/>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05_Model_Damage — KNN, Decision Tree et Random Forest.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05 — XGBoost challenger : pourquoi RF reste champion</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L’optimisation XGBoost vise surtout le Recall de la classe Sévère.</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08</a:t>
            </a:r>
          </a:p>
        </p:txBody>
      </p:sp>
      <p:graphicFrame>
        <p:nvGraphicFramePr>
          <p:cNvPr id="6" name="Table 5"/>
          <p:cNvGraphicFramePr>
            <a:graphicFrameLocks noGrp="1"/>
          </p:cNvGraphicFramePr>
          <p:nvPr/>
        </p:nvGraphicFramePr>
        <p:xfrm>
          <a:off x="685800" y="1600200"/>
          <a:ext cx="5577840" cy="3337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56260">
                <a:tc>
                  <a:txBody>
                    <a:bodyPr/>
                    <a:lstStyle/>
                    <a:p>
                      <a:pPr algn="l"/>
                      <a:r>
                        <a:rPr sz="1100" b="1">
                          <a:solidFill>
                            <a:srgbClr val="FFFFFF"/>
                          </a:solidFill>
                          <a:latin typeface="Aptos"/>
                        </a:rPr>
                        <a:t>Mesure</a:t>
                      </a:r>
                    </a:p>
                  </a:txBody>
                  <a:tcPr marL="54864" marR="54864" marT="36576" marB="36576">
                    <a:solidFill>
                      <a:srgbClr val="0F2238"/>
                    </a:solidFill>
                  </a:tcPr>
                </a:tc>
                <a:tc>
                  <a:txBody>
                    <a:bodyPr/>
                    <a:lstStyle/>
                    <a:p>
                      <a:pPr algn="ctr"/>
                      <a:r>
                        <a:rPr sz="1100" b="1">
                          <a:solidFill>
                            <a:srgbClr val="FFFFFF"/>
                          </a:solidFill>
                          <a:latin typeface="Aptos"/>
                        </a:rPr>
                        <a:t>Random Forest</a:t>
                      </a:r>
                    </a:p>
                  </a:txBody>
                  <a:tcPr marL="54864" marR="54864" marT="36576" marB="36576">
                    <a:solidFill>
                      <a:srgbClr val="0F2238"/>
                    </a:solidFill>
                  </a:tcPr>
                </a:tc>
                <a:tc>
                  <a:txBody>
                    <a:bodyPr/>
                    <a:lstStyle/>
                    <a:p>
                      <a:pPr algn="ctr"/>
                      <a:r>
                        <a:rPr sz="1100" b="1">
                          <a:solidFill>
                            <a:srgbClr val="FFFFFF"/>
                          </a:solidFill>
                          <a:latin typeface="Aptos"/>
                        </a:rPr>
                        <a:t>XGBoost optimisé</a:t>
                      </a:r>
                    </a:p>
                  </a:txBody>
                  <a:tcPr marL="54864" marR="54864" marT="36576" marB="36576">
                    <a:solidFill>
                      <a:srgbClr val="0F2238"/>
                    </a:solidFill>
                  </a:tcPr>
                </a:tc>
                <a:extLst>
                  <a:ext uri="{0D108BD9-81ED-4DB2-BD59-A6C34878D82A}">
                    <a16:rowId xmlns:a16="http://schemas.microsoft.com/office/drawing/2014/main" val="10000"/>
                  </a:ext>
                </a:extLst>
              </a:tr>
              <a:tr h="556260">
                <a:tc>
                  <a:txBody>
                    <a:bodyPr/>
                    <a:lstStyle/>
                    <a:p>
                      <a:pPr algn="l"/>
                      <a:r>
                        <a:rPr sz="1100" b="0">
                          <a:solidFill>
                            <a:srgbClr val="232B32"/>
                          </a:solidFill>
                          <a:latin typeface="Aptos"/>
                        </a:rPr>
                        <a:t>Accuracy test</a:t>
                      </a:r>
                    </a:p>
                  </a:txBody>
                  <a:tcPr marL="54864" marR="54864" marT="36576" marB="36576">
                    <a:solidFill>
                      <a:srgbClr val="FFFFFF"/>
                    </a:solidFill>
                  </a:tcPr>
                </a:tc>
                <a:tc>
                  <a:txBody>
                    <a:bodyPr/>
                    <a:lstStyle/>
                    <a:p>
                      <a:pPr algn="ctr"/>
                      <a:r>
                        <a:rPr sz="1100" b="0">
                          <a:solidFill>
                            <a:srgbClr val="232B32"/>
                          </a:solidFill>
                          <a:latin typeface="Aptos"/>
                        </a:rPr>
                        <a:t>98,9 %</a:t>
                      </a:r>
                    </a:p>
                  </a:txBody>
                  <a:tcPr marL="54864" marR="54864" marT="36576" marB="36576">
                    <a:solidFill>
                      <a:srgbClr val="FFFFFF"/>
                    </a:solidFill>
                  </a:tcPr>
                </a:tc>
                <a:tc>
                  <a:txBody>
                    <a:bodyPr/>
                    <a:lstStyle/>
                    <a:p>
                      <a:pPr algn="ctr"/>
                      <a:r>
                        <a:rPr sz="1100" b="0">
                          <a:solidFill>
                            <a:srgbClr val="232B32"/>
                          </a:solidFill>
                          <a:latin typeface="Aptos"/>
                        </a:rPr>
                        <a:t>98,34 %</a:t>
                      </a:r>
                    </a:p>
                  </a:txBody>
                  <a:tcPr marL="54864" marR="54864" marT="36576" marB="36576">
                    <a:solidFill>
                      <a:srgbClr val="FFFFFF"/>
                    </a:solidFill>
                  </a:tcPr>
                </a:tc>
                <a:extLst>
                  <a:ext uri="{0D108BD9-81ED-4DB2-BD59-A6C34878D82A}">
                    <a16:rowId xmlns:a16="http://schemas.microsoft.com/office/drawing/2014/main" val="10001"/>
                  </a:ext>
                </a:extLst>
              </a:tr>
              <a:tr h="556260">
                <a:tc>
                  <a:txBody>
                    <a:bodyPr/>
                    <a:lstStyle/>
                    <a:p>
                      <a:pPr algn="l"/>
                      <a:r>
                        <a:rPr sz="1100" b="0">
                          <a:solidFill>
                            <a:srgbClr val="232B32"/>
                          </a:solidFill>
                          <a:latin typeface="Aptos"/>
                        </a:rPr>
                        <a:t>Recall Sévère test</a:t>
                      </a:r>
                    </a:p>
                  </a:txBody>
                  <a:tcPr marL="54864" marR="54864" marT="36576" marB="36576">
                    <a:solidFill>
                      <a:srgbClr val="F5F7F9"/>
                    </a:solidFill>
                  </a:tcPr>
                </a:tc>
                <a:tc>
                  <a:txBody>
                    <a:bodyPr/>
                    <a:lstStyle/>
                    <a:p>
                      <a:pPr algn="ctr"/>
                      <a:r>
                        <a:rPr sz="1100" b="0">
                          <a:solidFill>
                            <a:srgbClr val="232B32"/>
                          </a:solidFill>
                          <a:latin typeface="Aptos"/>
                        </a:rPr>
                        <a:t>66,7 %</a:t>
                      </a:r>
                    </a:p>
                  </a:txBody>
                  <a:tcPr marL="54864" marR="54864" marT="36576" marB="36576">
                    <a:solidFill>
                      <a:srgbClr val="F5F7F9"/>
                    </a:solidFill>
                  </a:tcPr>
                </a:tc>
                <a:tc>
                  <a:txBody>
                    <a:bodyPr/>
                    <a:lstStyle/>
                    <a:p>
                      <a:pPr algn="ctr"/>
                      <a:r>
                        <a:rPr sz="1100" b="0">
                          <a:solidFill>
                            <a:srgbClr val="232B32"/>
                          </a:solidFill>
                          <a:latin typeface="Aptos"/>
                        </a:rPr>
                        <a:t>66,7 %</a:t>
                      </a:r>
                    </a:p>
                  </a:txBody>
                  <a:tcPr marL="54864" marR="54864" marT="36576" marB="36576">
                    <a:solidFill>
                      <a:srgbClr val="F5F7F9"/>
                    </a:solidFill>
                  </a:tcPr>
                </a:tc>
                <a:extLst>
                  <a:ext uri="{0D108BD9-81ED-4DB2-BD59-A6C34878D82A}">
                    <a16:rowId xmlns:a16="http://schemas.microsoft.com/office/drawing/2014/main" val="10002"/>
                  </a:ext>
                </a:extLst>
              </a:tr>
              <a:tr h="556260">
                <a:tc>
                  <a:txBody>
                    <a:bodyPr/>
                    <a:lstStyle/>
                    <a:p>
                      <a:pPr algn="l"/>
                      <a:r>
                        <a:rPr sz="1100" b="0">
                          <a:solidFill>
                            <a:srgbClr val="232B32"/>
                          </a:solidFill>
                          <a:latin typeface="Aptos"/>
                        </a:rPr>
                        <a:t>F1 Sévère test</a:t>
                      </a:r>
                    </a:p>
                  </a:txBody>
                  <a:tcPr marL="54864" marR="54864" marT="36576" marB="36576">
                    <a:solidFill>
                      <a:srgbClr val="FFFFFF"/>
                    </a:solidFill>
                  </a:tcPr>
                </a:tc>
                <a:tc>
                  <a:txBody>
                    <a:bodyPr/>
                    <a:lstStyle/>
                    <a:p>
                      <a:pPr algn="ctr"/>
                      <a:r>
                        <a:rPr sz="1100" b="0">
                          <a:solidFill>
                            <a:srgbClr val="232B32"/>
                          </a:solidFill>
                          <a:latin typeface="Aptos"/>
                        </a:rPr>
                        <a:t>0,80</a:t>
                      </a:r>
                    </a:p>
                  </a:txBody>
                  <a:tcPr marL="54864" marR="54864" marT="36576" marB="36576">
                    <a:solidFill>
                      <a:srgbClr val="FFFFFF"/>
                    </a:solidFill>
                  </a:tcPr>
                </a:tc>
                <a:tc>
                  <a:txBody>
                    <a:bodyPr/>
                    <a:lstStyle/>
                    <a:p>
                      <a:pPr algn="ctr"/>
                      <a:r>
                        <a:rPr sz="1100" b="0">
                          <a:solidFill>
                            <a:srgbClr val="232B32"/>
                          </a:solidFill>
                          <a:latin typeface="Aptos"/>
                        </a:rPr>
                        <a:t>0,80</a:t>
                      </a:r>
                    </a:p>
                  </a:txBody>
                  <a:tcPr marL="54864" marR="54864" marT="36576" marB="36576">
                    <a:solidFill>
                      <a:srgbClr val="FFFFFF"/>
                    </a:solidFill>
                  </a:tcPr>
                </a:tc>
                <a:extLst>
                  <a:ext uri="{0D108BD9-81ED-4DB2-BD59-A6C34878D82A}">
                    <a16:rowId xmlns:a16="http://schemas.microsoft.com/office/drawing/2014/main" val="10003"/>
                  </a:ext>
                </a:extLst>
              </a:tr>
              <a:tr h="556260">
                <a:tc>
                  <a:txBody>
                    <a:bodyPr/>
                    <a:lstStyle/>
                    <a:p>
                      <a:pPr algn="l"/>
                      <a:r>
                        <a:rPr sz="1100" b="0">
                          <a:solidFill>
                            <a:srgbClr val="232B32"/>
                          </a:solidFill>
                          <a:latin typeface="Aptos"/>
                        </a:rPr>
                        <a:t>Accuracy CV</a:t>
                      </a:r>
                    </a:p>
                  </a:txBody>
                  <a:tcPr marL="54864" marR="54864" marT="36576" marB="36576">
                    <a:solidFill>
                      <a:srgbClr val="F5F7F9"/>
                    </a:solidFill>
                  </a:tcPr>
                </a:tc>
                <a:tc>
                  <a:txBody>
                    <a:bodyPr/>
                    <a:lstStyle/>
                    <a:p>
                      <a:pPr algn="ctr"/>
                      <a:r>
                        <a:rPr sz="1100" b="0">
                          <a:solidFill>
                            <a:srgbClr val="232B32"/>
                          </a:solidFill>
                          <a:latin typeface="Aptos"/>
                        </a:rPr>
                        <a:t>97,1 %</a:t>
                      </a:r>
                    </a:p>
                  </a:txBody>
                  <a:tcPr marL="54864" marR="54864" marT="36576" marB="36576">
                    <a:solidFill>
                      <a:srgbClr val="F5F7F9"/>
                    </a:solidFill>
                  </a:tcPr>
                </a:tc>
                <a:tc>
                  <a:txBody>
                    <a:bodyPr/>
                    <a:lstStyle/>
                    <a:p>
                      <a:pPr algn="ctr"/>
                      <a:r>
                        <a:rPr sz="1100" b="0">
                          <a:solidFill>
                            <a:srgbClr val="232B32"/>
                          </a:solidFill>
                          <a:latin typeface="Aptos"/>
                        </a:rPr>
                        <a:t>95,99 %</a:t>
                      </a:r>
                    </a:p>
                  </a:txBody>
                  <a:tcPr marL="54864" marR="54864" marT="36576" marB="36576">
                    <a:solidFill>
                      <a:srgbClr val="F5F7F9"/>
                    </a:solidFill>
                  </a:tcPr>
                </a:tc>
                <a:extLst>
                  <a:ext uri="{0D108BD9-81ED-4DB2-BD59-A6C34878D82A}">
                    <a16:rowId xmlns:a16="http://schemas.microsoft.com/office/drawing/2014/main" val="10004"/>
                  </a:ext>
                </a:extLst>
              </a:tr>
              <a:tr h="556260">
                <a:tc>
                  <a:txBody>
                    <a:bodyPr/>
                    <a:lstStyle/>
                    <a:p>
                      <a:pPr algn="l"/>
                      <a:r>
                        <a:rPr sz="1100" b="0">
                          <a:solidFill>
                            <a:srgbClr val="232B32"/>
                          </a:solidFill>
                          <a:latin typeface="Aptos"/>
                        </a:rPr>
                        <a:t>Recall Sévère CV</a:t>
                      </a:r>
                    </a:p>
                  </a:txBody>
                  <a:tcPr marL="54864" marR="54864" marT="36576" marB="36576">
                    <a:solidFill>
                      <a:srgbClr val="FFFFFF"/>
                    </a:solidFill>
                  </a:tcPr>
                </a:tc>
                <a:tc>
                  <a:txBody>
                    <a:bodyPr/>
                    <a:lstStyle/>
                    <a:p>
                      <a:pPr algn="ctr"/>
                      <a:r>
                        <a:rPr sz="1100" b="0">
                          <a:solidFill>
                            <a:srgbClr val="232B32"/>
                          </a:solidFill>
                          <a:latin typeface="Aptos"/>
                        </a:rPr>
                        <a:t>90,0 %</a:t>
                      </a:r>
                    </a:p>
                  </a:txBody>
                  <a:tcPr marL="54864" marR="54864" marT="36576" marB="36576">
                    <a:solidFill>
                      <a:srgbClr val="FFFFFF"/>
                    </a:solidFill>
                  </a:tcPr>
                </a:tc>
                <a:tc>
                  <a:txBody>
                    <a:bodyPr/>
                    <a:lstStyle/>
                    <a:p>
                      <a:pPr algn="ctr"/>
                      <a:r>
                        <a:rPr sz="1100" b="0">
                          <a:solidFill>
                            <a:srgbClr val="232B32"/>
                          </a:solidFill>
                          <a:latin typeface="Aptos"/>
                        </a:rPr>
                        <a:t>90,0 %</a:t>
                      </a:r>
                    </a:p>
                  </a:txBody>
                  <a:tcPr marL="54864" marR="54864" marT="36576" marB="36576">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6903720" y="1600200"/>
            <a:ext cx="4343400"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68312" y="1746504"/>
            <a:ext cx="4014215" cy="320040"/>
          </a:xfrm>
          <a:prstGeom prst="rect">
            <a:avLst/>
          </a:prstGeom>
          <a:noFill/>
        </p:spPr>
        <p:txBody>
          <a:bodyPr wrap="square" anchor="t">
            <a:spAutoFit/>
          </a:bodyPr>
          <a:lstStyle/>
          <a:p>
            <a:pPr algn="l"/>
            <a:r>
              <a:rPr sz="1500" b="1">
                <a:solidFill>
                  <a:srgbClr val="2E7D5A"/>
                </a:solidFill>
                <a:latin typeface="Aptos"/>
              </a:rPr>
              <a:t>Décision</a:t>
            </a:r>
          </a:p>
        </p:txBody>
      </p:sp>
      <p:sp>
        <p:nvSpPr>
          <p:cNvPr id="9" name="TextBox 8"/>
          <p:cNvSpPr txBox="1"/>
          <p:nvPr/>
        </p:nvSpPr>
        <p:spPr>
          <a:xfrm>
            <a:off x="7068312" y="2130552"/>
            <a:ext cx="4014215" cy="667512"/>
          </a:xfrm>
          <a:prstGeom prst="rect">
            <a:avLst/>
          </a:prstGeom>
          <a:noFill/>
        </p:spPr>
        <p:txBody>
          <a:bodyPr wrap="square" anchor="t">
            <a:spAutoFit/>
          </a:bodyPr>
          <a:lstStyle/>
          <a:p>
            <a:pPr algn="l"/>
            <a:r>
              <a:rPr sz="1100" b="0">
                <a:solidFill>
                  <a:srgbClr val="232B32"/>
                </a:solidFill>
                <a:latin typeface="Aptos"/>
              </a:rPr>
              <a:t>Random Forest reste champion : même recall Sévère, même F1 Sévère, mais meilleure accuracy globale.</a:t>
            </a:r>
          </a:p>
        </p:txBody>
      </p:sp>
      <p:sp>
        <p:nvSpPr>
          <p:cNvPr id="10" name="Rounded Rectangle 9"/>
          <p:cNvSpPr/>
          <p:nvPr/>
        </p:nvSpPr>
        <p:spPr>
          <a:xfrm>
            <a:off x="6903720" y="3154680"/>
            <a:ext cx="43434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68312" y="3300984"/>
            <a:ext cx="4014215" cy="320040"/>
          </a:xfrm>
          <a:prstGeom prst="rect">
            <a:avLst/>
          </a:prstGeom>
          <a:noFill/>
        </p:spPr>
        <p:txBody>
          <a:bodyPr wrap="square" anchor="t">
            <a:spAutoFit/>
          </a:bodyPr>
          <a:lstStyle/>
          <a:p>
            <a:pPr algn="l"/>
            <a:r>
              <a:rPr sz="1500" b="1">
                <a:solidFill>
                  <a:srgbClr val="36A2BF"/>
                </a:solidFill>
                <a:latin typeface="Aptos"/>
              </a:rPr>
              <a:t>Acquis important</a:t>
            </a:r>
          </a:p>
        </p:txBody>
      </p:sp>
      <p:sp>
        <p:nvSpPr>
          <p:cNvPr id="12" name="TextBox 11"/>
          <p:cNvSpPr txBox="1"/>
          <p:nvPr/>
        </p:nvSpPr>
        <p:spPr>
          <a:xfrm>
            <a:off x="7068312" y="3685032"/>
            <a:ext cx="4014215" cy="758952"/>
          </a:xfrm>
          <a:prstGeom prst="rect">
            <a:avLst/>
          </a:prstGeom>
          <a:noFill/>
        </p:spPr>
        <p:txBody>
          <a:bodyPr wrap="square" anchor="t">
            <a:spAutoFit/>
          </a:bodyPr>
          <a:lstStyle/>
          <a:p>
            <a:pPr algn="l"/>
            <a:r>
              <a:rPr sz="1100" b="0">
                <a:solidFill>
                  <a:srgbClr val="232B32"/>
                </a:solidFill>
                <a:latin typeface="Aptos"/>
              </a:rPr>
              <a:t>L’équilibrage + optimisation fait passer le Recall Sévère CV de XGBoost de 63,3 % à 90,0 %.</a:t>
            </a:r>
          </a:p>
        </p:txBody>
      </p:sp>
      <p:sp>
        <p:nvSpPr>
          <p:cNvPr id="13" name="Rounded Rectangle 12"/>
          <p:cNvSpPr/>
          <p:nvPr/>
        </p:nvSpPr>
        <p:spPr>
          <a:xfrm>
            <a:off x="6903720" y="4800600"/>
            <a:ext cx="4343400" cy="10058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68312" y="4946904"/>
            <a:ext cx="4014215" cy="320040"/>
          </a:xfrm>
          <a:prstGeom prst="rect">
            <a:avLst/>
          </a:prstGeom>
          <a:noFill/>
        </p:spPr>
        <p:txBody>
          <a:bodyPr wrap="square" anchor="t">
            <a:spAutoFit/>
          </a:bodyPr>
          <a:lstStyle/>
          <a:p>
            <a:pPr algn="l"/>
            <a:r>
              <a:rPr sz="1500" b="1">
                <a:solidFill>
                  <a:srgbClr val="DA8437"/>
                </a:solidFill>
                <a:latin typeface="Aptos"/>
              </a:rPr>
              <a:t>Prudence</a:t>
            </a:r>
          </a:p>
        </p:txBody>
      </p:sp>
      <p:sp>
        <p:nvSpPr>
          <p:cNvPr id="15" name="TextBox 14"/>
          <p:cNvSpPr txBox="1"/>
          <p:nvPr/>
        </p:nvSpPr>
        <p:spPr>
          <a:xfrm>
            <a:off x="7068312" y="5330952"/>
            <a:ext cx="4014215" cy="347472"/>
          </a:xfrm>
          <a:prstGeom prst="rect">
            <a:avLst/>
          </a:prstGeom>
          <a:noFill/>
        </p:spPr>
        <p:txBody>
          <a:bodyPr wrap="square" anchor="t">
            <a:spAutoFit/>
          </a:bodyPr>
          <a:lstStyle/>
          <a:p>
            <a:pPr algn="l"/>
            <a:r>
              <a:rPr sz="1100" b="0">
                <a:solidFill>
                  <a:srgbClr val="232B32"/>
                </a:solidFill>
                <a:latin typeface="Aptos"/>
              </a:rPr>
              <a:t>Seulement 14 événements Sévère au total et 3 dans le test : une seule erreur change fortement les métriques.</a:t>
            </a:r>
          </a:p>
        </p:txBody>
      </p:sp>
      <p:sp>
        <p:nvSpPr>
          <p:cNvPr id="16" name="TextBox 15"/>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05_Model_Damage — section Gen 3 XGBoost.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06 — Action : pas de champion ML</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Ce notebook transforme le niveau de dommages en décision opérationnelle avec des règles explicites.</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09</a:t>
            </a:r>
          </a:p>
        </p:txBody>
      </p:sp>
      <p:graphicFrame>
        <p:nvGraphicFramePr>
          <p:cNvPr id="6" name="Table 5"/>
          <p:cNvGraphicFramePr>
            <a:graphicFrameLocks noGrp="1"/>
          </p:cNvGraphicFramePr>
          <p:nvPr/>
        </p:nvGraphicFramePr>
        <p:xfrm>
          <a:off x="777240" y="1691640"/>
          <a:ext cx="5486400" cy="23317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582930">
                <a:tc>
                  <a:txBody>
                    <a:bodyPr/>
                    <a:lstStyle/>
                    <a:p>
                      <a:pPr algn="l"/>
                      <a:r>
                        <a:rPr sz="1200" b="1">
                          <a:solidFill>
                            <a:srgbClr val="FFFFFF"/>
                          </a:solidFill>
                          <a:latin typeface="Aptos"/>
                        </a:rPr>
                        <a:t>Dommage</a:t>
                      </a:r>
                    </a:p>
                  </a:txBody>
                  <a:tcPr marL="54864" marR="54864" marT="36576" marB="36576">
                    <a:solidFill>
                      <a:srgbClr val="0F2238"/>
                    </a:solidFill>
                  </a:tcPr>
                </a:tc>
                <a:tc>
                  <a:txBody>
                    <a:bodyPr/>
                    <a:lstStyle/>
                    <a:p>
                      <a:pPr algn="ctr"/>
                      <a:r>
                        <a:rPr sz="1200" b="1">
                          <a:solidFill>
                            <a:srgbClr val="FFFFFF"/>
                          </a:solidFill>
                          <a:latin typeface="Aptos"/>
                        </a:rPr>
                        <a:t>Action</a:t>
                      </a:r>
                    </a:p>
                  </a:txBody>
                  <a:tcPr marL="54864" marR="54864" marT="36576" marB="36576">
                    <a:solidFill>
                      <a:srgbClr val="0F2238"/>
                    </a:solidFill>
                  </a:tcPr>
                </a:tc>
                <a:tc>
                  <a:txBody>
                    <a:bodyPr/>
                    <a:lstStyle/>
                    <a:p>
                      <a:pPr algn="ctr"/>
                      <a:r>
                        <a:rPr sz="1200" b="1">
                          <a:solidFill>
                            <a:srgbClr val="FFFFFF"/>
                          </a:solidFill>
                          <a:latin typeface="Aptos"/>
                        </a:rPr>
                        <a:t>Priorité</a:t>
                      </a:r>
                    </a:p>
                  </a:txBody>
                  <a:tcPr marL="54864" marR="54864" marT="36576" marB="36576">
                    <a:solidFill>
                      <a:srgbClr val="0F2238"/>
                    </a:solidFill>
                  </a:tcPr>
                </a:tc>
                <a:extLst>
                  <a:ext uri="{0D108BD9-81ED-4DB2-BD59-A6C34878D82A}">
                    <a16:rowId xmlns:a16="http://schemas.microsoft.com/office/drawing/2014/main" val="10000"/>
                  </a:ext>
                </a:extLst>
              </a:tr>
              <a:tr h="582930">
                <a:tc>
                  <a:txBody>
                    <a:bodyPr/>
                    <a:lstStyle/>
                    <a:p>
                      <a:pPr algn="l"/>
                      <a:r>
                        <a:rPr sz="1200" b="0">
                          <a:solidFill>
                            <a:srgbClr val="232B32"/>
                          </a:solidFill>
                          <a:latin typeface="Aptos"/>
                        </a:rPr>
                        <a:t>Faible</a:t>
                      </a:r>
                    </a:p>
                  </a:txBody>
                  <a:tcPr marL="54864" marR="54864" marT="36576" marB="36576">
                    <a:solidFill>
                      <a:srgbClr val="FFFFFF"/>
                    </a:solidFill>
                  </a:tcPr>
                </a:tc>
                <a:tc>
                  <a:txBody>
                    <a:bodyPr/>
                    <a:lstStyle/>
                    <a:p>
                      <a:pPr algn="ctr"/>
                      <a:r>
                        <a:rPr sz="1200" b="0">
                          <a:solidFill>
                            <a:srgbClr val="232B32"/>
                          </a:solidFill>
                          <a:latin typeface="Aptos"/>
                        </a:rPr>
                        <a:t>Surveillance</a:t>
                      </a:r>
                    </a:p>
                  </a:txBody>
                  <a:tcPr marL="54864" marR="54864" marT="36576" marB="36576">
                    <a:solidFill>
                      <a:srgbClr val="FFFFFF"/>
                    </a:solidFill>
                  </a:tcPr>
                </a:tc>
                <a:tc>
                  <a:txBody>
                    <a:bodyPr/>
                    <a:lstStyle/>
                    <a:p>
                      <a:pPr algn="ctr"/>
                      <a:r>
                        <a:rPr sz="1200" b="0">
                          <a:solidFill>
                            <a:srgbClr val="232B32"/>
                          </a:solidFill>
                          <a:latin typeface="Aptos"/>
                        </a:rPr>
                        <a:t>Faible</a:t>
                      </a:r>
                    </a:p>
                  </a:txBody>
                  <a:tcPr marL="54864" marR="54864" marT="36576" marB="36576">
                    <a:solidFill>
                      <a:srgbClr val="FFFFFF"/>
                    </a:solidFill>
                  </a:tcPr>
                </a:tc>
                <a:extLst>
                  <a:ext uri="{0D108BD9-81ED-4DB2-BD59-A6C34878D82A}">
                    <a16:rowId xmlns:a16="http://schemas.microsoft.com/office/drawing/2014/main" val="10001"/>
                  </a:ext>
                </a:extLst>
              </a:tr>
              <a:tr h="582930">
                <a:tc>
                  <a:txBody>
                    <a:bodyPr/>
                    <a:lstStyle/>
                    <a:p>
                      <a:pPr algn="l"/>
                      <a:r>
                        <a:rPr sz="1200" b="0">
                          <a:solidFill>
                            <a:srgbClr val="232B32"/>
                          </a:solidFill>
                          <a:latin typeface="Aptos"/>
                        </a:rPr>
                        <a:t>Modéré</a:t>
                      </a:r>
                    </a:p>
                  </a:txBody>
                  <a:tcPr marL="54864" marR="54864" marT="36576" marB="36576">
                    <a:solidFill>
                      <a:srgbClr val="F5F7F9"/>
                    </a:solidFill>
                  </a:tcPr>
                </a:tc>
                <a:tc>
                  <a:txBody>
                    <a:bodyPr/>
                    <a:lstStyle/>
                    <a:p>
                      <a:pPr algn="ctr"/>
                      <a:r>
                        <a:rPr sz="1200" b="0">
                          <a:solidFill>
                            <a:srgbClr val="232B32"/>
                          </a:solidFill>
                          <a:latin typeface="Aptos"/>
                        </a:rPr>
                        <a:t>Évaluation prioritaire</a:t>
                      </a:r>
                    </a:p>
                  </a:txBody>
                  <a:tcPr marL="54864" marR="54864" marT="36576" marB="36576">
                    <a:solidFill>
                      <a:srgbClr val="F5F7F9"/>
                    </a:solidFill>
                  </a:tcPr>
                </a:tc>
                <a:tc>
                  <a:txBody>
                    <a:bodyPr/>
                    <a:lstStyle/>
                    <a:p>
                      <a:pPr algn="ctr"/>
                      <a:r>
                        <a:rPr sz="1200" b="0">
                          <a:solidFill>
                            <a:srgbClr val="232B32"/>
                          </a:solidFill>
                          <a:latin typeface="Aptos"/>
                        </a:rPr>
                        <a:t>Moyenne</a:t>
                      </a:r>
                    </a:p>
                  </a:txBody>
                  <a:tcPr marL="54864" marR="54864" marT="36576" marB="36576">
                    <a:solidFill>
                      <a:srgbClr val="F5F7F9"/>
                    </a:solidFill>
                  </a:tcPr>
                </a:tc>
                <a:extLst>
                  <a:ext uri="{0D108BD9-81ED-4DB2-BD59-A6C34878D82A}">
                    <a16:rowId xmlns:a16="http://schemas.microsoft.com/office/drawing/2014/main" val="10002"/>
                  </a:ext>
                </a:extLst>
              </a:tr>
              <a:tr h="582930">
                <a:tc>
                  <a:txBody>
                    <a:bodyPr/>
                    <a:lstStyle/>
                    <a:p>
                      <a:pPr algn="l"/>
                      <a:r>
                        <a:rPr sz="1200" b="0">
                          <a:solidFill>
                            <a:srgbClr val="232B32"/>
                          </a:solidFill>
                          <a:latin typeface="Aptos"/>
                        </a:rPr>
                        <a:t>Sévère</a:t>
                      </a:r>
                    </a:p>
                  </a:txBody>
                  <a:tcPr marL="54864" marR="54864" marT="36576" marB="36576">
                    <a:solidFill>
                      <a:srgbClr val="FFFFFF"/>
                    </a:solidFill>
                  </a:tcPr>
                </a:tc>
                <a:tc>
                  <a:txBody>
                    <a:bodyPr/>
                    <a:lstStyle/>
                    <a:p>
                      <a:pPr algn="ctr"/>
                      <a:r>
                        <a:rPr sz="1200" b="0">
                          <a:solidFill>
                            <a:srgbClr val="232B32"/>
                          </a:solidFill>
                          <a:latin typeface="Aptos"/>
                        </a:rPr>
                        <a:t>Intervention prioritaire</a:t>
                      </a:r>
                    </a:p>
                  </a:txBody>
                  <a:tcPr marL="54864" marR="54864" marT="36576" marB="36576">
                    <a:solidFill>
                      <a:srgbClr val="FFFFFF"/>
                    </a:solidFill>
                  </a:tcPr>
                </a:tc>
                <a:tc>
                  <a:txBody>
                    <a:bodyPr/>
                    <a:lstStyle/>
                    <a:p>
                      <a:pPr algn="ctr"/>
                      <a:r>
                        <a:rPr sz="1200" b="0">
                          <a:solidFill>
                            <a:srgbClr val="232B32"/>
                          </a:solidFill>
                          <a:latin typeface="Aptos"/>
                        </a:rPr>
                        <a:t>Élevée</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675120" y="1691640"/>
            <a:ext cx="4480560"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39712" y="1837944"/>
            <a:ext cx="4151376" cy="320040"/>
          </a:xfrm>
          <a:prstGeom prst="rect">
            <a:avLst/>
          </a:prstGeom>
          <a:noFill/>
        </p:spPr>
        <p:txBody>
          <a:bodyPr wrap="square" anchor="t">
            <a:spAutoFit/>
          </a:bodyPr>
          <a:lstStyle/>
          <a:p>
            <a:pPr algn="l"/>
            <a:r>
              <a:rPr sz="1500" b="1">
                <a:solidFill>
                  <a:srgbClr val="215E91"/>
                </a:solidFill>
                <a:latin typeface="Aptos"/>
              </a:rPr>
              <a:t>Pourquoi pas Accuracy / F1 ?</a:t>
            </a:r>
          </a:p>
        </p:txBody>
      </p:sp>
      <p:sp>
        <p:nvSpPr>
          <p:cNvPr id="9" name="TextBox 8"/>
          <p:cNvSpPr txBox="1"/>
          <p:nvPr/>
        </p:nvSpPr>
        <p:spPr>
          <a:xfrm>
            <a:off x="6839712" y="2221992"/>
            <a:ext cx="4151376" cy="667512"/>
          </a:xfrm>
          <a:prstGeom prst="rect">
            <a:avLst/>
          </a:prstGeom>
          <a:noFill/>
        </p:spPr>
        <p:txBody>
          <a:bodyPr wrap="square" anchor="t">
            <a:spAutoFit/>
          </a:bodyPr>
          <a:lstStyle/>
          <a:p>
            <a:pPr algn="l"/>
            <a:r>
              <a:rPr sz="1100" b="0">
                <a:solidFill>
                  <a:srgbClr val="232B32"/>
                </a:solidFill>
                <a:latin typeface="Aptos"/>
              </a:rPr>
              <a:t>Ce n’est pas un modèle supervisé entraîné sur une cible indépendante. Les règles déterminent directement l’action.</a:t>
            </a:r>
          </a:p>
        </p:txBody>
      </p:sp>
      <p:sp>
        <p:nvSpPr>
          <p:cNvPr id="10" name="Rounded Rectangle 9"/>
          <p:cNvSpPr/>
          <p:nvPr/>
        </p:nvSpPr>
        <p:spPr>
          <a:xfrm>
            <a:off x="6675120" y="3246120"/>
            <a:ext cx="4480560" cy="13258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9712" y="3392424"/>
            <a:ext cx="4151376" cy="320040"/>
          </a:xfrm>
          <a:prstGeom prst="rect">
            <a:avLst/>
          </a:prstGeom>
          <a:noFill/>
        </p:spPr>
        <p:txBody>
          <a:bodyPr wrap="square" anchor="t">
            <a:spAutoFit/>
          </a:bodyPr>
          <a:lstStyle/>
          <a:p>
            <a:pPr algn="l"/>
            <a:r>
              <a:rPr sz="1500" b="1">
                <a:solidFill>
                  <a:srgbClr val="2E7D5A"/>
                </a:solidFill>
                <a:latin typeface="Aptos"/>
              </a:rPr>
              <a:t>Ce qu’on valide</a:t>
            </a:r>
          </a:p>
        </p:txBody>
      </p:sp>
      <p:sp>
        <p:nvSpPr>
          <p:cNvPr id="12" name="TextBox 11"/>
          <p:cNvSpPr txBox="1"/>
          <p:nvPr/>
        </p:nvSpPr>
        <p:spPr>
          <a:xfrm>
            <a:off x="6839712" y="3776472"/>
            <a:ext cx="4151376" cy="667512"/>
          </a:xfrm>
          <a:prstGeom prst="rect">
            <a:avLst/>
          </a:prstGeom>
          <a:noFill/>
        </p:spPr>
        <p:txBody>
          <a:bodyPr wrap="square" anchor="t">
            <a:spAutoFit/>
          </a:bodyPr>
          <a:lstStyle/>
          <a:p>
            <a:pPr algn="l"/>
            <a:r>
              <a:rPr sz="1100" b="0">
                <a:solidFill>
                  <a:srgbClr val="232B32"/>
                </a:solidFill>
                <a:latin typeface="Aptos"/>
              </a:rPr>
              <a:t>Actions manquantes, priorités manquantes, valeurs indéterminées, doublons et incohérences.</a:t>
            </a:r>
          </a:p>
        </p:txBody>
      </p:sp>
      <p:sp>
        <p:nvSpPr>
          <p:cNvPr id="13" name="Rounded Rectangle 12"/>
          <p:cNvSpPr/>
          <p:nvPr/>
        </p:nvSpPr>
        <p:spPr>
          <a:xfrm>
            <a:off x="6675120" y="4800600"/>
            <a:ext cx="4480560" cy="9601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9712" y="4946904"/>
            <a:ext cx="4151376" cy="320040"/>
          </a:xfrm>
          <a:prstGeom prst="rect">
            <a:avLst/>
          </a:prstGeom>
          <a:noFill/>
        </p:spPr>
        <p:txBody>
          <a:bodyPr wrap="square" anchor="t">
            <a:spAutoFit/>
          </a:bodyPr>
          <a:lstStyle/>
          <a:p>
            <a:pPr algn="l"/>
            <a:r>
              <a:rPr sz="1500" b="1">
                <a:solidFill>
                  <a:srgbClr val="DA8437"/>
                </a:solidFill>
                <a:latin typeface="Aptos"/>
              </a:rPr>
              <a:t>FP / FN ?</a:t>
            </a:r>
          </a:p>
        </p:txBody>
      </p:sp>
      <p:sp>
        <p:nvSpPr>
          <p:cNvPr id="15" name="TextBox 14"/>
          <p:cNvSpPr txBox="1"/>
          <p:nvPr/>
        </p:nvSpPr>
        <p:spPr>
          <a:xfrm>
            <a:off x="6839712" y="5330952"/>
            <a:ext cx="4151376" cy="301752"/>
          </a:xfrm>
          <a:prstGeom prst="rect">
            <a:avLst/>
          </a:prstGeom>
          <a:noFill/>
        </p:spPr>
        <p:txBody>
          <a:bodyPr wrap="square" anchor="t">
            <a:spAutoFit/>
          </a:bodyPr>
          <a:lstStyle/>
          <a:p>
            <a:pPr algn="l"/>
            <a:r>
              <a:rPr sz="1100" b="0">
                <a:solidFill>
                  <a:srgbClr val="232B32"/>
                </a:solidFill>
                <a:latin typeface="Aptos"/>
              </a:rPr>
              <a:t>Ils appartiennent surtout au modèle de dommages en amont. Le moteur d’action doit être cohérent et reproductible.</a:t>
            </a:r>
          </a:p>
        </p:txBody>
      </p:sp>
      <p:sp>
        <p:nvSpPr>
          <p:cNvPr id="16" name="TextBox 15"/>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06_Model_Action — moteur de décision déterministe.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07 — Pertes économiques : quelle erreur regarder ?</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734 séismes : 625 pertes nulles, 109 pertes positives. Cible transformée avec log1p.</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10</a:t>
            </a:r>
          </a:p>
        </p:txBody>
      </p:sp>
      <p:sp>
        <p:nvSpPr>
          <p:cNvPr id="6" name="Rounded Rectangle 5"/>
          <p:cNvSpPr/>
          <p:nvPr/>
        </p:nvSpPr>
        <p:spPr>
          <a:xfrm>
            <a:off x="640080" y="1417320"/>
            <a:ext cx="2240280" cy="658368"/>
          </a:xfrm>
          <a:prstGeom prst="roundRect">
            <a:avLst/>
          </a:prstGeom>
          <a:solidFill>
            <a:srgbClr val="EBF4F8"/>
          </a:solidFill>
          <a:ln>
            <a:solidFill>
              <a:srgbClr val="2E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587416"/>
            <a:ext cx="995781" cy="276999"/>
          </a:xfrm>
          <a:prstGeom prst="rect">
            <a:avLst/>
          </a:prstGeom>
          <a:noFill/>
        </p:spPr>
        <p:txBody>
          <a:bodyPr wrap="square" anchor="t">
            <a:spAutoFit/>
          </a:bodyPr>
          <a:lstStyle/>
          <a:p>
            <a:pPr algn="l"/>
            <a:r>
              <a:rPr sz="1200" b="1" dirty="0">
                <a:solidFill>
                  <a:srgbClr val="626F7B"/>
                </a:solidFill>
                <a:latin typeface="Aptos"/>
              </a:rPr>
              <a:t>CHAMPION</a:t>
            </a:r>
          </a:p>
        </p:txBody>
      </p:sp>
      <p:sp>
        <p:nvSpPr>
          <p:cNvPr id="8" name="TextBox 7"/>
          <p:cNvSpPr txBox="1"/>
          <p:nvPr/>
        </p:nvSpPr>
        <p:spPr>
          <a:xfrm>
            <a:off x="1774449" y="1473393"/>
            <a:ext cx="1134770" cy="523220"/>
          </a:xfrm>
          <a:prstGeom prst="rect">
            <a:avLst/>
          </a:prstGeom>
          <a:noFill/>
        </p:spPr>
        <p:txBody>
          <a:bodyPr wrap="square" anchor="t">
            <a:spAutoFit/>
          </a:bodyPr>
          <a:lstStyle/>
          <a:p>
            <a:r>
              <a:rPr sz="1400" b="1" dirty="0">
                <a:solidFill>
                  <a:srgbClr val="2E7D5A"/>
                </a:solidFill>
                <a:latin typeface="Aptos"/>
              </a:rPr>
              <a:t>Gradient Boosting</a:t>
            </a:r>
          </a:p>
        </p:txBody>
      </p:sp>
      <p:sp>
        <p:nvSpPr>
          <p:cNvPr id="9" name="Rounded Rectangle 8"/>
          <p:cNvSpPr/>
          <p:nvPr/>
        </p:nvSpPr>
        <p:spPr>
          <a:xfrm>
            <a:off x="3063240" y="1417320"/>
            <a:ext cx="1965960" cy="658368"/>
          </a:xfrm>
          <a:prstGeom prst="roundRect">
            <a:avLst/>
          </a:prstGeom>
          <a:solidFill>
            <a:srgbClr val="EBF4F8"/>
          </a:solidFill>
          <a:ln>
            <a:solidFill>
              <a:srgbClr val="215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72968" y="1577584"/>
            <a:ext cx="1022299" cy="307777"/>
          </a:xfrm>
          <a:prstGeom prst="rect">
            <a:avLst/>
          </a:prstGeom>
          <a:noFill/>
        </p:spPr>
        <p:txBody>
          <a:bodyPr wrap="square" anchor="t">
            <a:spAutoFit/>
          </a:bodyPr>
          <a:lstStyle/>
          <a:p>
            <a:pPr algn="l"/>
            <a:r>
              <a:rPr sz="1400" b="1" dirty="0">
                <a:solidFill>
                  <a:srgbClr val="626F7B"/>
                </a:solidFill>
                <a:latin typeface="Aptos"/>
              </a:rPr>
              <a:t>R² (log)</a:t>
            </a:r>
          </a:p>
        </p:txBody>
      </p:sp>
      <p:sp>
        <p:nvSpPr>
          <p:cNvPr id="11" name="TextBox 10"/>
          <p:cNvSpPr txBox="1"/>
          <p:nvPr/>
        </p:nvSpPr>
        <p:spPr>
          <a:xfrm>
            <a:off x="3760445" y="1559296"/>
            <a:ext cx="1052475" cy="353943"/>
          </a:xfrm>
          <a:prstGeom prst="rect">
            <a:avLst/>
          </a:prstGeom>
          <a:noFill/>
        </p:spPr>
        <p:txBody>
          <a:bodyPr wrap="square" anchor="t">
            <a:spAutoFit/>
          </a:bodyPr>
          <a:lstStyle/>
          <a:p>
            <a:pPr algn="r"/>
            <a:r>
              <a:rPr sz="1700" b="1" dirty="0">
                <a:solidFill>
                  <a:srgbClr val="215E91"/>
                </a:solidFill>
                <a:latin typeface="Aptos"/>
              </a:rPr>
              <a:t>0,6859</a:t>
            </a:r>
          </a:p>
        </p:txBody>
      </p:sp>
      <p:sp>
        <p:nvSpPr>
          <p:cNvPr id="12" name="Rounded Rectangle 11"/>
          <p:cNvSpPr/>
          <p:nvPr/>
        </p:nvSpPr>
        <p:spPr>
          <a:xfrm>
            <a:off x="5212080" y="1417320"/>
            <a:ext cx="1965960" cy="658368"/>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21808" y="1587417"/>
            <a:ext cx="619963" cy="307777"/>
          </a:xfrm>
          <a:prstGeom prst="rect">
            <a:avLst/>
          </a:prstGeom>
          <a:noFill/>
        </p:spPr>
        <p:txBody>
          <a:bodyPr wrap="square" anchor="t">
            <a:spAutoFit/>
          </a:bodyPr>
          <a:lstStyle/>
          <a:p>
            <a:pPr algn="l"/>
            <a:r>
              <a:rPr sz="1400" b="1" dirty="0">
                <a:solidFill>
                  <a:srgbClr val="626F7B"/>
                </a:solidFill>
                <a:latin typeface="Aptos"/>
              </a:rPr>
              <a:t>MAE</a:t>
            </a:r>
            <a:endParaRPr sz="900" b="1" dirty="0">
              <a:solidFill>
                <a:srgbClr val="626F7B"/>
              </a:solidFill>
              <a:latin typeface="Aptos"/>
            </a:endParaRPr>
          </a:p>
        </p:txBody>
      </p:sp>
      <p:sp>
        <p:nvSpPr>
          <p:cNvPr id="14" name="TextBox 13"/>
          <p:cNvSpPr txBox="1"/>
          <p:nvPr/>
        </p:nvSpPr>
        <p:spPr>
          <a:xfrm>
            <a:off x="5815525" y="1554480"/>
            <a:ext cx="1236269" cy="353943"/>
          </a:xfrm>
          <a:prstGeom prst="rect">
            <a:avLst/>
          </a:prstGeom>
          <a:noFill/>
        </p:spPr>
        <p:txBody>
          <a:bodyPr wrap="square" anchor="t">
            <a:spAutoFit/>
          </a:bodyPr>
          <a:lstStyle/>
          <a:p>
            <a:pPr algn="r"/>
            <a:r>
              <a:rPr sz="1700" b="1" dirty="0">
                <a:solidFill>
                  <a:srgbClr val="36A2BF"/>
                </a:solidFill>
                <a:latin typeface="Aptos"/>
              </a:rPr>
              <a:t>353,47 M$</a:t>
            </a:r>
          </a:p>
        </p:txBody>
      </p:sp>
      <p:sp>
        <p:nvSpPr>
          <p:cNvPr id="15" name="Rounded Rectangle 14"/>
          <p:cNvSpPr/>
          <p:nvPr/>
        </p:nvSpPr>
        <p:spPr>
          <a:xfrm>
            <a:off x="7360920" y="1417320"/>
            <a:ext cx="1965960" cy="658368"/>
          </a:xfrm>
          <a:prstGeom prst="roundRect">
            <a:avLst/>
          </a:prstGeom>
          <a:solidFill>
            <a:srgbClr val="EBF4F8"/>
          </a:solidFill>
          <a:ln>
            <a:solidFill>
              <a:srgbClr val="B4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0648" y="1567752"/>
            <a:ext cx="1022299" cy="338554"/>
          </a:xfrm>
          <a:prstGeom prst="rect">
            <a:avLst/>
          </a:prstGeom>
          <a:noFill/>
        </p:spPr>
        <p:txBody>
          <a:bodyPr wrap="square" anchor="t">
            <a:spAutoFit/>
          </a:bodyPr>
          <a:lstStyle/>
          <a:p>
            <a:pPr algn="l"/>
            <a:r>
              <a:rPr sz="1600" b="1" dirty="0">
                <a:solidFill>
                  <a:srgbClr val="626F7B"/>
                </a:solidFill>
                <a:latin typeface="Aptos"/>
              </a:rPr>
              <a:t>RMSE</a:t>
            </a:r>
            <a:endParaRPr sz="900" b="1" dirty="0">
              <a:solidFill>
                <a:srgbClr val="626F7B"/>
              </a:solidFill>
              <a:latin typeface="Aptos"/>
            </a:endParaRPr>
          </a:p>
        </p:txBody>
      </p:sp>
      <p:sp>
        <p:nvSpPr>
          <p:cNvPr id="17" name="TextBox 16"/>
          <p:cNvSpPr txBox="1"/>
          <p:nvPr/>
        </p:nvSpPr>
        <p:spPr>
          <a:xfrm>
            <a:off x="8130830" y="1579415"/>
            <a:ext cx="1022299" cy="353943"/>
          </a:xfrm>
          <a:prstGeom prst="rect">
            <a:avLst/>
          </a:prstGeom>
          <a:noFill/>
        </p:spPr>
        <p:txBody>
          <a:bodyPr wrap="square" anchor="t">
            <a:spAutoFit/>
          </a:bodyPr>
          <a:lstStyle/>
          <a:p>
            <a:pPr algn="r"/>
            <a:r>
              <a:rPr sz="1700" b="1" dirty="0">
                <a:solidFill>
                  <a:srgbClr val="B44141"/>
                </a:solidFill>
                <a:latin typeface="Aptos"/>
              </a:rPr>
              <a:t>4,27 G$</a:t>
            </a:r>
          </a:p>
        </p:txBody>
      </p:sp>
      <p:sp>
        <p:nvSpPr>
          <p:cNvPr id="18" name="Rounded Rectangle 17"/>
          <p:cNvSpPr/>
          <p:nvPr/>
        </p:nvSpPr>
        <p:spPr>
          <a:xfrm>
            <a:off x="9509760" y="1417320"/>
            <a:ext cx="1965960" cy="658368"/>
          </a:xfrm>
          <a:prstGeom prst="roundRect">
            <a:avLst/>
          </a:prstGeom>
          <a:solidFill>
            <a:srgbClr val="EBF4F8"/>
          </a:solidFill>
          <a:ln>
            <a:solidFill>
              <a:srgbClr val="B4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19488" y="1508760"/>
            <a:ext cx="1022299" cy="523220"/>
          </a:xfrm>
          <a:prstGeom prst="rect">
            <a:avLst/>
          </a:prstGeom>
          <a:noFill/>
        </p:spPr>
        <p:txBody>
          <a:bodyPr wrap="square" anchor="t">
            <a:spAutoFit/>
          </a:bodyPr>
          <a:lstStyle/>
          <a:p>
            <a:pPr algn="l"/>
            <a:r>
              <a:rPr sz="1400" b="1" dirty="0">
                <a:solidFill>
                  <a:srgbClr val="626F7B"/>
                </a:solidFill>
                <a:latin typeface="Aptos"/>
              </a:rPr>
              <a:t>RMSE</a:t>
            </a:r>
            <a:r>
              <a:rPr sz="900" b="1" dirty="0">
                <a:solidFill>
                  <a:srgbClr val="626F7B"/>
                </a:solidFill>
                <a:latin typeface="Aptos"/>
              </a:rPr>
              <a:t> </a:t>
            </a:r>
            <a:r>
              <a:rPr sz="1400" b="1" dirty="0" err="1">
                <a:solidFill>
                  <a:srgbClr val="626F7B"/>
                </a:solidFill>
                <a:latin typeface="Aptos"/>
              </a:rPr>
              <a:t>pertes</a:t>
            </a:r>
            <a:r>
              <a:rPr sz="900" b="1" dirty="0">
                <a:solidFill>
                  <a:srgbClr val="626F7B"/>
                </a:solidFill>
                <a:latin typeface="Aptos"/>
              </a:rPr>
              <a:t> +</a:t>
            </a:r>
          </a:p>
        </p:txBody>
      </p:sp>
      <p:sp>
        <p:nvSpPr>
          <p:cNvPr id="20" name="TextBox 19"/>
          <p:cNvSpPr txBox="1"/>
          <p:nvPr/>
        </p:nvSpPr>
        <p:spPr>
          <a:xfrm>
            <a:off x="10404240" y="1569128"/>
            <a:ext cx="1053389" cy="353943"/>
          </a:xfrm>
          <a:prstGeom prst="rect">
            <a:avLst/>
          </a:prstGeom>
          <a:noFill/>
        </p:spPr>
        <p:txBody>
          <a:bodyPr wrap="square" anchor="t">
            <a:spAutoFit/>
          </a:bodyPr>
          <a:lstStyle/>
          <a:p>
            <a:r>
              <a:rPr sz="1700" b="1" dirty="0">
                <a:solidFill>
                  <a:srgbClr val="B44141"/>
                </a:solidFill>
                <a:latin typeface="Aptos"/>
              </a:rPr>
              <a:t>11,03 G$</a:t>
            </a:r>
          </a:p>
        </p:txBody>
      </p:sp>
      <p:sp>
        <p:nvSpPr>
          <p:cNvPr id="21" name="Rounded Rectangle 20"/>
          <p:cNvSpPr/>
          <p:nvPr/>
        </p:nvSpPr>
        <p:spPr>
          <a:xfrm>
            <a:off x="640080" y="2423160"/>
            <a:ext cx="338328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1" y="2569464"/>
            <a:ext cx="3054096" cy="320040"/>
          </a:xfrm>
          <a:prstGeom prst="rect">
            <a:avLst/>
          </a:prstGeom>
          <a:noFill/>
        </p:spPr>
        <p:txBody>
          <a:bodyPr wrap="square" anchor="t">
            <a:spAutoFit/>
          </a:bodyPr>
          <a:lstStyle/>
          <a:p>
            <a:pPr algn="l"/>
            <a:r>
              <a:rPr sz="1500" b="1">
                <a:solidFill>
                  <a:srgbClr val="215E91"/>
                </a:solidFill>
                <a:latin typeface="Aptos"/>
              </a:rPr>
              <a:t>Algorithmes comparés</a:t>
            </a:r>
          </a:p>
        </p:txBody>
      </p:sp>
      <p:sp>
        <p:nvSpPr>
          <p:cNvPr id="23" name="TextBox 22"/>
          <p:cNvSpPr txBox="1"/>
          <p:nvPr/>
        </p:nvSpPr>
        <p:spPr>
          <a:xfrm>
            <a:off x="804671" y="2953512"/>
            <a:ext cx="3054096" cy="1399032"/>
          </a:xfrm>
          <a:prstGeom prst="rect">
            <a:avLst/>
          </a:prstGeom>
          <a:noFill/>
        </p:spPr>
        <p:txBody>
          <a:bodyPr wrap="square" anchor="t">
            <a:spAutoFit/>
          </a:bodyPr>
          <a:lstStyle/>
          <a:p>
            <a:pPr algn="l"/>
            <a:r>
              <a:rPr sz="1100" b="0">
                <a:solidFill>
                  <a:srgbClr val="232B32"/>
                </a:solidFill>
                <a:latin typeface="Aptos"/>
              </a:rPr>
              <a:t>Linear Regression
Random Forest
Gradient Boosting</a:t>
            </a:r>
          </a:p>
        </p:txBody>
      </p:sp>
      <p:sp>
        <p:nvSpPr>
          <p:cNvPr id="24" name="Rounded Rectangle 23"/>
          <p:cNvSpPr/>
          <p:nvPr/>
        </p:nvSpPr>
        <p:spPr>
          <a:xfrm>
            <a:off x="4251960" y="2423160"/>
            <a:ext cx="338328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16552" y="2569464"/>
            <a:ext cx="3054096" cy="320040"/>
          </a:xfrm>
          <a:prstGeom prst="rect">
            <a:avLst/>
          </a:prstGeom>
          <a:noFill/>
        </p:spPr>
        <p:txBody>
          <a:bodyPr wrap="square" anchor="t">
            <a:spAutoFit/>
          </a:bodyPr>
          <a:lstStyle/>
          <a:p>
            <a:pPr algn="l"/>
            <a:r>
              <a:rPr sz="1500" b="1">
                <a:solidFill>
                  <a:srgbClr val="2E7D5A"/>
                </a:solidFill>
                <a:latin typeface="Aptos"/>
              </a:rPr>
              <a:t>Pourquoi Gradient Boosting ?</a:t>
            </a:r>
          </a:p>
        </p:txBody>
      </p:sp>
      <p:sp>
        <p:nvSpPr>
          <p:cNvPr id="26" name="TextBox 25"/>
          <p:cNvSpPr txBox="1"/>
          <p:nvPr/>
        </p:nvSpPr>
        <p:spPr>
          <a:xfrm>
            <a:off x="4416552" y="2953512"/>
            <a:ext cx="3054096" cy="1399032"/>
          </a:xfrm>
          <a:prstGeom prst="rect">
            <a:avLst/>
          </a:prstGeom>
          <a:noFill/>
        </p:spPr>
        <p:txBody>
          <a:bodyPr wrap="square" anchor="t">
            <a:spAutoFit/>
          </a:bodyPr>
          <a:lstStyle/>
          <a:p>
            <a:pPr algn="l"/>
            <a:r>
              <a:rPr sz="1100" b="0">
                <a:solidFill>
                  <a:srgbClr val="232B32"/>
                </a:solidFill>
                <a:latin typeface="Aptos"/>
              </a:rPr>
              <a:t>Meilleures erreurs sur le jeu de test et sur les 22 événements du test avec pertes positives; meilleur R² moyen CV (0,6675).</a:t>
            </a:r>
          </a:p>
        </p:txBody>
      </p:sp>
      <p:sp>
        <p:nvSpPr>
          <p:cNvPr id="27" name="Rounded Rectangle 26"/>
          <p:cNvSpPr/>
          <p:nvPr/>
        </p:nvSpPr>
        <p:spPr>
          <a:xfrm>
            <a:off x="7863840" y="2423160"/>
            <a:ext cx="338328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28431" y="2569464"/>
            <a:ext cx="3054096" cy="320040"/>
          </a:xfrm>
          <a:prstGeom prst="rect">
            <a:avLst/>
          </a:prstGeom>
          <a:noFill/>
        </p:spPr>
        <p:txBody>
          <a:bodyPr wrap="square" anchor="t">
            <a:spAutoFit/>
          </a:bodyPr>
          <a:lstStyle/>
          <a:p>
            <a:pPr algn="l"/>
            <a:r>
              <a:rPr sz="1500" b="1">
                <a:solidFill>
                  <a:srgbClr val="DA8437"/>
                </a:solidFill>
                <a:latin typeface="Aptos"/>
              </a:rPr>
              <a:t>Nuance importante</a:t>
            </a:r>
          </a:p>
        </p:txBody>
      </p:sp>
      <p:sp>
        <p:nvSpPr>
          <p:cNvPr id="29" name="TextBox 28"/>
          <p:cNvSpPr txBox="1"/>
          <p:nvPr/>
        </p:nvSpPr>
        <p:spPr>
          <a:xfrm>
            <a:off x="8028431" y="2953512"/>
            <a:ext cx="3054096" cy="1399032"/>
          </a:xfrm>
          <a:prstGeom prst="rect">
            <a:avLst/>
          </a:prstGeom>
          <a:noFill/>
        </p:spPr>
        <p:txBody>
          <a:bodyPr wrap="square" anchor="t">
            <a:spAutoFit/>
          </a:bodyPr>
          <a:lstStyle/>
          <a:p>
            <a:pPr algn="l"/>
            <a:r>
              <a:rPr sz="1100" b="0">
                <a:solidFill>
                  <a:srgbClr val="232B32"/>
                </a:solidFill>
                <a:latin typeface="Aptos"/>
              </a:rPr>
              <a:t>Random Forest a de meilleures erreurs moyennes en dollars en validation croisée. Le choix dépend donc de la métrique considérée.</a:t>
            </a:r>
          </a:p>
        </p:txBody>
      </p:sp>
      <p:sp>
        <p:nvSpPr>
          <p:cNvPr id="30" name="TextBox 29"/>
          <p:cNvSpPr txBox="1"/>
          <p:nvPr/>
        </p:nvSpPr>
        <p:spPr>
          <a:xfrm>
            <a:off x="685800" y="4892040"/>
            <a:ext cx="1508760" cy="274320"/>
          </a:xfrm>
          <a:prstGeom prst="rect">
            <a:avLst/>
          </a:prstGeom>
          <a:noFill/>
        </p:spPr>
        <p:txBody>
          <a:bodyPr wrap="square" anchor="t">
            <a:spAutoFit/>
          </a:bodyPr>
          <a:lstStyle/>
          <a:p>
            <a:pPr algn="l"/>
            <a:r>
              <a:rPr sz="1500" b="1">
                <a:solidFill>
                  <a:srgbClr val="0F2238"/>
                </a:solidFill>
                <a:latin typeface="Aptos"/>
              </a:rPr>
              <a:t>Risque principal</a:t>
            </a:r>
          </a:p>
        </p:txBody>
      </p:sp>
      <p:sp>
        <p:nvSpPr>
          <p:cNvPr id="31" name="TextBox 30"/>
          <p:cNvSpPr txBox="1"/>
          <p:nvPr/>
        </p:nvSpPr>
        <p:spPr>
          <a:xfrm>
            <a:off x="2240280" y="4892040"/>
            <a:ext cx="8595360" cy="411480"/>
          </a:xfrm>
          <a:prstGeom prst="rect">
            <a:avLst/>
          </a:prstGeom>
          <a:noFill/>
        </p:spPr>
        <p:txBody>
          <a:bodyPr wrap="square" anchor="t">
            <a:spAutoFit/>
          </a:bodyPr>
          <a:lstStyle/>
          <a:p>
            <a:pPr algn="l"/>
            <a:r>
              <a:rPr sz="1400" b="0">
                <a:solidFill>
                  <a:srgbClr val="232B32"/>
                </a:solidFill>
                <a:latin typeface="Aptos"/>
              </a:rPr>
              <a:t>Sous-estimer une perte extrême. On surveille donc particulièrement le RMSE, qui pénalise les grosses erreurs.</a:t>
            </a:r>
          </a:p>
        </p:txBody>
      </p:sp>
      <p:sp>
        <p:nvSpPr>
          <p:cNvPr id="32" name="TextBox 31"/>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07_Model_Economic_Loss — comparaison et conclusion finale.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Modèle 08 — H2O AutoML : automatiser la comparaison</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Même problème de dommages, avec sélection automatique de plusieurs modèles et hyperparamètres.</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11</a:t>
            </a:r>
          </a:p>
        </p:txBody>
      </p:sp>
      <p:sp>
        <p:nvSpPr>
          <p:cNvPr id="6" name="Rounded Rectangle 5"/>
          <p:cNvSpPr/>
          <p:nvPr/>
        </p:nvSpPr>
        <p:spPr>
          <a:xfrm>
            <a:off x="685800" y="1600200"/>
            <a:ext cx="3337560" cy="15087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746504"/>
            <a:ext cx="3008376" cy="320040"/>
          </a:xfrm>
          <a:prstGeom prst="rect">
            <a:avLst/>
          </a:prstGeom>
          <a:noFill/>
        </p:spPr>
        <p:txBody>
          <a:bodyPr wrap="square" anchor="t">
            <a:spAutoFit/>
          </a:bodyPr>
          <a:lstStyle/>
          <a:p>
            <a:pPr algn="l"/>
            <a:r>
              <a:rPr sz="1500" b="1">
                <a:solidFill>
                  <a:srgbClr val="215E91"/>
                </a:solidFill>
                <a:latin typeface="Aptos"/>
              </a:rPr>
              <a:t>Ce que fait AutoML</a:t>
            </a:r>
          </a:p>
        </p:txBody>
      </p:sp>
      <p:sp>
        <p:nvSpPr>
          <p:cNvPr id="8" name="TextBox 7"/>
          <p:cNvSpPr txBox="1"/>
          <p:nvPr/>
        </p:nvSpPr>
        <p:spPr>
          <a:xfrm>
            <a:off x="850392" y="2130552"/>
            <a:ext cx="3008376" cy="850392"/>
          </a:xfrm>
          <a:prstGeom prst="rect">
            <a:avLst/>
          </a:prstGeom>
          <a:noFill/>
        </p:spPr>
        <p:txBody>
          <a:bodyPr wrap="square" anchor="t">
            <a:spAutoFit/>
          </a:bodyPr>
          <a:lstStyle/>
          <a:p>
            <a:pPr algn="l"/>
            <a:r>
              <a:rPr sz="1100" b="0">
                <a:solidFill>
                  <a:srgbClr val="232B32"/>
                </a:solidFill>
                <a:latin typeface="Aptos"/>
              </a:rPr>
              <a:t>Entraîne plusieurs familles de modèles, explore des hyperparamètres, construit un leaderboard et sélectionne selon une métrique.</a:t>
            </a:r>
          </a:p>
        </p:txBody>
      </p:sp>
      <p:sp>
        <p:nvSpPr>
          <p:cNvPr id="9" name="Rounded Rectangle 8"/>
          <p:cNvSpPr/>
          <p:nvPr/>
        </p:nvSpPr>
        <p:spPr>
          <a:xfrm>
            <a:off x="4297680" y="1600200"/>
            <a:ext cx="3337560" cy="15087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62272" y="1746504"/>
            <a:ext cx="3008376" cy="320040"/>
          </a:xfrm>
          <a:prstGeom prst="rect">
            <a:avLst/>
          </a:prstGeom>
          <a:noFill/>
        </p:spPr>
        <p:txBody>
          <a:bodyPr wrap="square" anchor="t">
            <a:spAutoFit/>
          </a:bodyPr>
          <a:lstStyle/>
          <a:p>
            <a:pPr algn="l"/>
            <a:r>
              <a:rPr sz="1500" b="1">
                <a:solidFill>
                  <a:srgbClr val="2E7D5A"/>
                </a:solidFill>
                <a:latin typeface="Aptos"/>
              </a:rPr>
              <a:t>Métrique demandée</a:t>
            </a:r>
          </a:p>
        </p:txBody>
      </p:sp>
      <p:sp>
        <p:nvSpPr>
          <p:cNvPr id="11" name="TextBox 10"/>
          <p:cNvSpPr txBox="1"/>
          <p:nvPr/>
        </p:nvSpPr>
        <p:spPr>
          <a:xfrm>
            <a:off x="4462272" y="2130552"/>
            <a:ext cx="3008376" cy="850392"/>
          </a:xfrm>
          <a:prstGeom prst="rect">
            <a:avLst/>
          </a:prstGeom>
          <a:noFill/>
        </p:spPr>
        <p:txBody>
          <a:bodyPr wrap="square" anchor="t">
            <a:spAutoFit/>
          </a:bodyPr>
          <a:lstStyle/>
          <a:p>
            <a:pPr algn="l"/>
            <a:r>
              <a:rPr sz="1100" b="0">
                <a:solidFill>
                  <a:srgbClr val="232B32"/>
                </a:solidFill>
                <a:latin typeface="Aptos"/>
              </a:rPr>
              <a:t>Le notebook configure sort_metric = mean_per_class_error, cohérent avec un problème multiclasses déséquilibré.</a:t>
            </a:r>
          </a:p>
        </p:txBody>
      </p:sp>
      <p:sp>
        <p:nvSpPr>
          <p:cNvPr id="12" name="Rounded Rectangle 11"/>
          <p:cNvSpPr/>
          <p:nvPr/>
        </p:nvSpPr>
        <p:spPr>
          <a:xfrm>
            <a:off x="7909560" y="1600200"/>
            <a:ext cx="3337560" cy="15087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74152" y="1746504"/>
            <a:ext cx="3008376" cy="320040"/>
          </a:xfrm>
          <a:prstGeom prst="rect">
            <a:avLst/>
          </a:prstGeom>
          <a:noFill/>
        </p:spPr>
        <p:txBody>
          <a:bodyPr wrap="square" anchor="t">
            <a:spAutoFit/>
          </a:bodyPr>
          <a:lstStyle/>
          <a:p>
            <a:pPr algn="l"/>
            <a:r>
              <a:rPr sz="1500" b="1">
                <a:solidFill>
                  <a:srgbClr val="DA8437"/>
                </a:solidFill>
                <a:latin typeface="Aptos"/>
              </a:rPr>
              <a:t>Limite observée</a:t>
            </a:r>
          </a:p>
        </p:txBody>
      </p:sp>
      <p:sp>
        <p:nvSpPr>
          <p:cNvPr id="14" name="TextBox 13"/>
          <p:cNvSpPr txBox="1"/>
          <p:nvPr/>
        </p:nvSpPr>
        <p:spPr>
          <a:xfrm>
            <a:off x="8074152" y="2130552"/>
            <a:ext cx="3008376" cy="850392"/>
          </a:xfrm>
          <a:prstGeom prst="rect">
            <a:avLst/>
          </a:prstGeom>
          <a:noFill/>
        </p:spPr>
        <p:txBody>
          <a:bodyPr wrap="square" anchor="t">
            <a:spAutoFit/>
          </a:bodyPr>
          <a:lstStyle/>
          <a:p>
            <a:pPr algn="l"/>
            <a:r>
              <a:rPr sz="1100" b="0">
                <a:solidFill>
                  <a:srgbClr val="232B32"/>
                </a:solidFill>
                <a:latin typeface="Aptos"/>
              </a:rPr>
              <a:t>Dans l’exécution fournie, H2O indique : « XGBoost is not available; skipping it. »</a:t>
            </a:r>
          </a:p>
        </p:txBody>
      </p:sp>
      <p:sp>
        <p:nvSpPr>
          <p:cNvPr id="15" name="TextBox 14"/>
          <p:cNvSpPr txBox="1"/>
          <p:nvPr/>
        </p:nvSpPr>
        <p:spPr>
          <a:xfrm>
            <a:off x="685800" y="3657600"/>
            <a:ext cx="5120640" cy="320040"/>
          </a:xfrm>
          <a:prstGeom prst="rect">
            <a:avLst/>
          </a:prstGeom>
          <a:noFill/>
        </p:spPr>
        <p:txBody>
          <a:bodyPr wrap="square" anchor="t">
            <a:spAutoFit/>
          </a:bodyPr>
          <a:lstStyle/>
          <a:p>
            <a:pPr algn="l"/>
            <a:r>
              <a:rPr sz="1700" b="1">
                <a:solidFill>
                  <a:srgbClr val="0F2238"/>
                </a:solidFill>
                <a:latin typeface="Aptos"/>
              </a:rPr>
              <a:t>Ce qu’on peut conclure à partir du fichier fourni</a:t>
            </a:r>
          </a:p>
        </p:txBody>
      </p:sp>
      <p:sp>
        <p:nvSpPr>
          <p:cNvPr id="16" name="TextBox 15"/>
          <p:cNvSpPr txBox="1"/>
          <p:nvPr/>
        </p:nvSpPr>
        <p:spPr>
          <a:xfrm>
            <a:off x="868680" y="4069080"/>
            <a:ext cx="9966960" cy="897682"/>
          </a:xfrm>
          <a:prstGeom prst="rect">
            <a:avLst/>
          </a:prstGeom>
          <a:noFill/>
        </p:spPr>
        <p:txBody>
          <a:bodyPr wrap="square">
            <a:spAutoFit/>
          </a:bodyPr>
          <a:lstStyle/>
          <a:p>
            <a:pPr>
              <a:spcAft>
                <a:spcPts val="800"/>
              </a:spcAft>
              <a:defRPr sz="1300">
                <a:solidFill>
                  <a:srgbClr val="232B32"/>
                </a:solidFill>
                <a:latin typeface="Aptos"/>
              </a:defRPr>
            </a:pPr>
            <a:r>
              <a:rPr dirty="0"/>
              <a:t>AutoML </a:t>
            </a:r>
            <a:r>
              <a:rPr dirty="0" err="1"/>
              <a:t>complète</a:t>
            </a:r>
            <a:r>
              <a:rPr dirty="0"/>
              <a:t> la </a:t>
            </a:r>
            <a:r>
              <a:rPr dirty="0" err="1"/>
              <a:t>comparaison</a:t>
            </a:r>
            <a:r>
              <a:rPr dirty="0"/>
              <a:t> </a:t>
            </a:r>
            <a:r>
              <a:rPr dirty="0" err="1"/>
              <a:t>manuelle</a:t>
            </a:r>
            <a:r>
              <a:rPr dirty="0"/>
              <a:t>, </a:t>
            </a:r>
            <a:r>
              <a:rPr dirty="0" err="1"/>
              <a:t>mais</a:t>
            </a:r>
            <a:r>
              <a:rPr dirty="0"/>
              <a:t> ne </a:t>
            </a:r>
            <a:r>
              <a:rPr dirty="0" err="1"/>
              <a:t>remplace</a:t>
            </a:r>
            <a:r>
              <a:rPr dirty="0"/>
              <a:t> pas le </a:t>
            </a:r>
            <a:r>
              <a:rPr dirty="0" err="1"/>
              <a:t>jugement</a:t>
            </a:r>
            <a:r>
              <a:rPr dirty="0"/>
              <a:t> métier.</a:t>
            </a:r>
          </a:p>
          <a:p>
            <a:pPr>
              <a:spcAft>
                <a:spcPts val="800"/>
              </a:spcAft>
              <a:defRPr sz="1300">
                <a:solidFill>
                  <a:srgbClr val="232B32"/>
                </a:solidFill>
                <a:latin typeface="Aptos"/>
              </a:defRPr>
            </a:pPr>
            <a:r>
              <a:rPr dirty="0"/>
              <a:t>Le </a:t>
            </a:r>
            <a:r>
              <a:rPr dirty="0" err="1"/>
              <a:t>critère</a:t>
            </a:r>
            <a:r>
              <a:rPr dirty="0"/>
              <a:t> doit </a:t>
            </a:r>
            <a:r>
              <a:rPr dirty="0" err="1"/>
              <a:t>rester</a:t>
            </a:r>
            <a:r>
              <a:rPr dirty="0"/>
              <a:t> </a:t>
            </a:r>
            <a:r>
              <a:rPr dirty="0" err="1"/>
              <a:t>aligné</a:t>
            </a:r>
            <a:r>
              <a:rPr dirty="0"/>
              <a:t> sur la </a:t>
            </a:r>
            <a:r>
              <a:rPr dirty="0" err="1"/>
              <a:t>classe</a:t>
            </a:r>
            <a:r>
              <a:rPr dirty="0"/>
              <a:t> Sévère, pas </a:t>
            </a:r>
            <a:r>
              <a:rPr dirty="0" err="1"/>
              <a:t>seulement</a:t>
            </a:r>
            <a:r>
              <a:rPr dirty="0"/>
              <a:t> sur </a:t>
            </a:r>
            <a:r>
              <a:rPr dirty="0" err="1"/>
              <a:t>l’accuracy</a:t>
            </a:r>
            <a:r>
              <a:rPr dirty="0"/>
              <a:t>.</a:t>
            </a:r>
          </a:p>
          <a:p>
            <a:pPr>
              <a:spcAft>
                <a:spcPts val="800"/>
              </a:spcAft>
              <a:defRPr sz="1300">
                <a:solidFill>
                  <a:srgbClr val="232B32"/>
                </a:solidFill>
                <a:latin typeface="Aptos"/>
              </a:defRPr>
            </a:pPr>
            <a:r>
              <a:rPr dirty="0"/>
              <a:t>Le notebook </a:t>
            </a:r>
            <a:r>
              <a:rPr lang="fr-CA" dirty="0">
                <a:solidFill>
                  <a:srgbClr val="C00000"/>
                </a:solidFill>
              </a:rPr>
              <a:t>a compléter </a:t>
            </a:r>
            <a:r>
              <a:rPr lang="fr-CA" dirty="0"/>
              <a:t>…</a:t>
            </a:r>
            <a:endParaRPr dirty="0"/>
          </a:p>
        </p:txBody>
      </p:sp>
      <p:sp>
        <p:nvSpPr>
          <p:cNvPr id="17" name="TextBox 16"/>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 : 08_AutoML_Damage_H2O — configuration H2O AutoML et sortie d’exécution.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Avant de comparer : quelle erreur est dangereuse ?</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Le meilleur modèle n’est pas celui qui a seulement la plus grande accuracy.</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03</a:t>
            </a:r>
          </a:p>
        </p:txBody>
      </p:sp>
      <p:sp>
        <p:nvSpPr>
          <p:cNvPr id="6" name="Rounded Rectangle 5"/>
          <p:cNvSpPr/>
          <p:nvPr/>
        </p:nvSpPr>
        <p:spPr>
          <a:xfrm>
            <a:off x="640080" y="1508760"/>
            <a:ext cx="2606040" cy="1874519"/>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655063"/>
            <a:ext cx="2276856" cy="320040"/>
          </a:xfrm>
          <a:prstGeom prst="rect">
            <a:avLst/>
          </a:prstGeom>
          <a:noFill/>
        </p:spPr>
        <p:txBody>
          <a:bodyPr wrap="square" anchor="t">
            <a:spAutoFit/>
          </a:bodyPr>
          <a:lstStyle/>
          <a:p>
            <a:pPr algn="l"/>
            <a:r>
              <a:rPr sz="1500" b="1">
                <a:solidFill>
                  <a:srgbClr val="B44141"/>
                </a:solidFill>
                <a:latin typeface="Aptos"/>
              </a:rPr>
              <a:t>Faux négatif (FN)</a:t>
            </a:r>
          </a:p>
        </p:txBody>
      </p:sp>
      <p:sp>
        <p:nvSpPr>
          <p:cNvPr id="8" name="TextBox 7"/>
          <p:cNvSpPr txBox="1"/>
          <p:nvPr/>
        </p:nvSpPr>
        <p:spPr>
          <a:xfrm>
            <a:off x="804671" y="2039112"/>
            <a:ext cx="2276856" cy="1216151"/>
          </a:xfrm>
          <a:prstGeom prst="rect">
            <a:avLst/>
          </a:prstGeom>
          <a:noFill/>
        </p:spPr>
        <p:txBody>
          <a:bodyPr wrap="square" anchor="t">
            <a:spAutoFit/>
          </a:bodyPr>
          <a:lstStyle/>
          <a:p>
            <a:pPr algn="l"/>
            <a:r>
              <a:rPr sz="1100" b="0">
                <a:solidFill>
                  <a:srgbClr val="232B32"/>
                </a:solidFill>
                <a:latin typeface="Aptos"/>
              </a:rPr>
              <a:t>Le modèle dit « pas grave » alors que l’événement est réellement grave.
En sécurité sismique, c’est souvent l’erreur la plus coûteuse.</a:t>
            </a:r>
          </a:p>
        </p:txBody>
      </p:sp>
      <p:sp>
        <p:nvSpPr>
          <p:cNvPr id="9" name="Rounded Rectangle 8"/>
          <p:cNvSpPr/>
          <p:nvPr/>
        </p:nvSpPr>
        <p:spPr>
          <a:xfrm>
            <a:off x="3429000" y="1508760"/>
            <a:ext cx="2606040" cy="1874519"/>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93592" y="1655063"/>
            <a:ext cx="2276856" cy="320040"/>
          </a:xfrm>
          <a:prstGeom prst="rect">
            <a:avLst/>
          </a:prstGeom>
          <a:noFill/>
        </p:spPr>
        <p:txBody>
          <a:bodyPr wrap="square" anchor="t">
            <a:spAutoFit/>
          </a:bodyPr>
          <a:lstStyle/>
          <a:p>
            <a:pPr algn="l"/>
            <a:r>
              <a:rPr sz="1500" b="1">
                <a:solidFill>
                  <a:srgbClr val="DA8437"/>
                </a:solidFill>
                <a:latin typeface="Aptos"/>
              </a:rPr>
              <a:t>Faux positif (FP)</a:t>
            </a:r>
          </a:p>
        </p:txBody>
      </p:sp>
      <p:sp>
        <p:nvSpPr>
          <p:cNvPr id="11" name="TextBox 10"/>
          <p:cNvSpPr txBox="1"/>
          <p:nvPr/>
        </p:nvSpPr>
        <p:spPr>
          <a:xfrm>
            <a:off x="3593592" y="2039112"/>
            <a:ext cx="2276856" cy="1216151"/>
          </a:xfrm>
          <a:prstGeom prst="rect">
            <a:avLst/>
          </a:prstGeom>
          <a:noFill/>
        </p:spPr>
        <p:txBody>
          <a:bodyPr wrap="square" anchor="t">
            <a:spAutoFit/>
          </a:bodyPr>
          <a:lstStyle/>
          <a:p>
            <a:pPr algn="l"/>
            <a:r>
              <a:rPr sz="1100" b="0">
                <a:solidFill>
                  <a:srgbClr val="232B32"/>
                </a:solidFill>
                <a:latin typeface="Aptos"/>
              </a:rPr>
              <a:t>Le modèle déclenche une alerte forte alors que l’événement ne l’est pas.
Coût : ressources mobilisées, fatigue d’alerte, crédibilité.</a:t>
            </a:r>
          </a:p>
        </p:txBody>
      </p:sp>
      <p:sp>
        <p:nvSpPr>
          <p:cNvPr id="12" name="Rounded Rectangle 11"/>
          <p:cNvSpPr/>
          <p:nvPr/>
        </p:nvSpPr>
        <p:spPr>
          <a:xfrm>
            <a:off x="6217920" y="1508760"/>
            <a:ext cx="2514600" cy="1874519"/>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1655063"/>
            <a:ext cx="2185416" cy="320040"/>
          </a:xfrm>
          <a:prstGeom prst="rect">
            <a:avLst/>
          </a:prstGeom>
          <a:noFill/>
        </p:spPr>
        <p:txBody>
          <a:bodyPr wrap="square" anchor="t">
            <a:spAutoFit/>
          </a:bodyPr>
          <a:lstStyle/>
          <a:p>
            <a:pPr algn="l"/>
            <a:r>
              <a:rPr sz="1500" b="1">
                <a:solidFill>
                  <a:srgbClr val="2E7D5A"/>
                </a:solidFill>
                <a:latin typeface="Aptos"/>
              </a:rPr>
              <a:t>Recall</a:t>
            </a:r>
          </a:p>
        </p:txBody>
      </p:sp>
      <p:sp>
        <p:nvSpPr>
          <p:cNvPr id="14" name="TextBox 13"/>
          <p:cNvSpPr txBox="1"/>
          <p:nvPr/>
        </p:nvSpPr>
        <p:spPr>
          <a:xfrm>
            <a:off x="6382512" y="2039112"/>
            <a:ext cx="2185416" cy="1216151"/>
          </a:xfrm>
          <a:prstGeom prst="rect">
            <a:avLst/>
          </a:prstGeom>
          <a:noFill/>
        </p:spPr>
        <p:txBody>
          <a:bodyPr wrap="square" anchor="t">
            <a:spAutoFit/>
          </a:bodyPr>
          <a:lstStyle/>
          <a:p>
            <a:pPr algn="l"/>
            <a:r>
              <a:rPr sz="1100" b="0">
                <a:solidFill>
                  <a:srgbClr val="232B32"/>
                </a:solidFill>
                <a:latin typeface="Aptos"/>
              </a:rPr>
              <a:t>Parmi les vrais cas graves, combien avons-nous détectés ?
Recall élevé ⇒ moins de faux négatifs.</a:t>
            </a:r>
          </a:p>
        </p:txBody>
      </p:sp>
      <p:sp>
        <p:nvSpPr>
          <p:cNvPr id="15" name="Rounded Rectangle 14"/>
          <p:cNvSpPr/>
          <p:nvPr/>
        </p:nvSpPr>
        <p:spPr>
          <a:xfrm>
            <a:off x="8915400" y="1508760"/>
            <a:ext cx="2514600" cy="1874519"/>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79992" y="1655063"/>
            <a:ext cx="2185416" cy="320040"/>
          </a:xfrm>
          <a:prstGeom prst="rect">
            <a:avLst/>
          </a:prstGeom>
          <a:noFill/>
        </p:spPr>
        <p:txBody>
          <a:bodyPr wrap="square" anchor="t">
            <a:spAutoFit/>
          </a:bodyPr>
          <a:lstStyle/>
          <a:p>
            <a:pPr algn="l"/>
            <a:r>
              <a:rPr sz="1500" b="1">
                <a:solidFill>
                  <a:srgbClr val="215E91"/>
                </a:solidFill>
                <a:latin typeface="Aptos"/>
              </a:rPr>
              <a:t>Precision</a:t>
            </a:r>
          </a:p>
        </p:txBody>
      </p:sp>
      <p:sp>
        <p:nvSpPr>
          <p:cNvPr id="17" name="TextBox 16"/>
          <p:cNvSpPr txBox="1"/>
          <p:nvPr/>
        </p:nvSpPr>
        <p:spPr>
          <a:xfrm>
            <a:off x="9079992" y="2039112"/>
            <a:ext cx="2185416" cy="1216151"/>
          </a:xfrm>
          <a:prstGeom prst="rect">
            <a:avLst/>
          </a:prstGeom>
          <a:noFill/>
        </p:spPr>
        <p:txBody>
          <a:bodyPr wrap="square" anchor="t">
            <a:spAutoFit/>
          </a:bodyPr>
          <a:lstStyle/>
          <a:p>
            <a:pPr algn="l"/>
            <a:r>
              <a:rPr sz="1100" b="0">
                <a:solidFill>
                  <a:srgbClr val="232B32"/>
                </a:solidFill>
                <a:latin typeface="Aptos"/>
              </a:rPr>
              <a:t>Parmi les alertes graves prédites, combien sont réellement graves ?
Precision élevée ⇒ moins de faux positifs.</a:t>
            </a:r>
          </a:p>
        </p:txBody>
      </p:sp>
      <p:sp>
        <p:nvSpPr>
          <p:cNvPr id="18" name="TextBox 17"/>
          <p:cNvSpPr txBox="1"/>
          <p:nvPr/>
        </p:nvSpPr>
        <p:spPr>
          <a:xfrm>
            <a:off x="685800" y="3858768"/>
            <a:ext cx="1371600" cy="320040"/>
          </a:xfrm>
          <a:prstGeom prst="rect">
            <a:avLst/>
          </a:prstGeom>
          <a:noFill/>
        </p:spPr>
        <p:txBody>
          <a:bodyPr wrap="square" anchor="t">
            <a:spAutoFit/>
          </a:bodyPr>
          <a:lstStyle/>
          <a:p>
            <a:pPr algn="l"/>
            <a:r>
              <a:rPr sz="1800" b="1">
                <a:solidFill>
                  <a:srgbClr val="0F2238"/>
                </a:solidFill>
                <a:latin typeface="Aptos"/>
              </a:rPr>
              <a:t>F1-score</a:t>
            </a:r>
          </a:p>
        </p:txBody>
      </p:sp>
      <p:sp>
        <p:nvSpPr>
          <p:cNvPr id="19" name="TextBox 18"/>
          <p:cNvSpPr txBox="1"/>
          <p:nvPr/>
        </p:nvSpPr>
        <p:spPr>
          <a:xfrm>
            <a:off x="1874519" y="3867912"/>
            <a:ext cx="2743200" cy="274320"/>
          </a:xfrm>
          <a:prstGeom prst="rect">
            <a:avLst/>
          </a:prstGeom>
          <a:noFill/>
        </p:spPr>
        <p:txBody>
          <a:bodyPr wrap="square" anchor="t">
            <a:spAutoFit/>
          </a:bodyPr>
          <a:lstStyle/>
          <a:p>
            <a:pPr algn="l"/>
            <a:r>
              <a:rPr sz="1400" b="0">
                <a:solidFill>
                  <a:srgbClr val="232B32"/>
                </a:solidFill>
                <a:latin typeface="Aptos"/>
              </a:rPr>
              <a:t>compromis Precision + Recall</a:t>
            </a:r>
          </a:p>
        </p:txBody>
      </p:sp>
      <p:sp>
        <p:nvSpPr>
          <p:cNvPr id="20" name="TextBox 19"/>
          <p:cNvSpPr txBox="1"/>
          <p:nvPr/>
        </p:nvSpPr>
        <p:spPr>
          <a:xfrm>
            <a:off x="685800" y="4462272"/>
            <a:ext cx="1371600" cy="320040"/>
          </a:xfrm>
          <a:prstGeom prst="rect">
            <a:avLst/>
          </a:prstGeom>
          <a:noFill/>
        </p:spPr>
        <p:txBody>
          <a:bodyPr wrap="square" anchor="t">
            <a:spAutoFit/>
          </a:bodyPr>
          <a:lstStyle/>
          <a:p>
            <a:pPr algn="l"/>
            <a:r>
              <a:rPr sz="1800" b="1">
                <a:solidFill>
                  <a:srgbClr val="0F2238"/>
                </a:solidFill>
                <a:latin typeface="Aptos"/>
              </a:rPr>
              <a:t>F1 macro</a:t>
            </a:r>
          </a:p>
        </p:txBody>
      </p:sp>
      <p:sp>
        <p:nvSpPr>
          <p:cNvPr id="21" name="TextBox 20"/>
          <p:cNvSpPr txBox="1"/>
          <p:nvPr/>
        </p:nvSpPr>
        <p:spPr>
          <a:xfrm>
            <a:off x="1874519" y="4471416"/>
            <a:ext cx="7955279" cy="384048"/>
          </a:xfrm>
          <a:prstGeom prst="rect">
            <a:avLst/>
          </a:prstGeom>
          <a:noFill/>
        </p:spPr>
        <p:txBody>
          <a:bodyPr wrap="square" anchor="t">
            <a:spAutoFit/>
          </a:bodyPr>
          <a:lstStyle/>
          <a:p>
            <a:pPr algn="l"/>
            <a:r>
              <a:rPr sz="1400" b="0">
                <a:solidFill>
                  <a:srgbClr val="232B32"/>
                </a:solidFill>
                <a:latin typeface="Aptos"/>
              </a:rPr>
              <a:t>donne le même poids à chaque classe → utile quand les classes rares sont importantes.</a:t>
            </a:r>
          </a:p>
        </p:txBody>
      </p:sp>
      <p:sp>
        <p:nvSpPr>
          <p:cNvPr id="22" name="TextBox 21"/>
          <p:cNvSpPr txBox="1"/>
          <p:nvPr/>
        </p:nvSpPr>
        <p:spPr>
          <a:xfrm>
            <a:off x="685800" y="5148072"/>
            <a:ext cx="1371600" cy="320040"/>
          </a:xfrm>
          <a:prstGeom prst="rect">
            <a:avLst/>
          </a:prstGeom>
          <a:noFill/>
        </p:spPr>
        <p:txBody>
          <a:bodyPr wrap="square" anchor="t">
            <a:spAutoFit/>
          </a:bodyPr>
          <a:lstStyle/>
          <a:p>
            <a:pPr algn="l"/>
            <a:r>
              <a:rPr sz="1800" b="1">
                <a:solidFill>
                  <a:srgbClr val="0F2238"/>
                </a:solidFill>
                <a:latin typeface="Aptos"/>
              </a:rPr>
              <a:t>Régression</a:t>
            </a:r>
          </a:p>
        </p:txBody>
      </p:sp>
      <p:sp>
        <p:nvSpPr>
          <p:cNvPr id="23" name="TextBox 22"/>
          <p:cNvSpPr txBox="1"/>
          <p:nvPr/>
        </p:nvSpPr>
        <p:spPr>
          <a:xfrm>
            <a:off x="1874519" y="5157216"/>
            <a:ext cx="8961120" cy="411480"/>
          </a:xfrm>
          <a:prstGeom prst="rect">
            <a:avLst/>
          </a:prstGeom>
          <a:noFill/>
        </p:spPr>
        <p:txBody>
          <a:bodyPr wrap="square" anchor="t">
            <a:spAutoFit/>
          </a:bodyPr>
          <a:lstStyle/>
          <a:p>
            <a:pPr algn="l"/>
            <a:r>
              <a:rPr sz="1400" b="0">
                <a:solidFill>
                  <a:srgbClr val="232B32"/>
                </a:solidFill>
                <a:latin typeface="Aptos"/>
              </a:rPr>
              <a:t>pas de FP/FN : on regarde MAE, RMSE et R². RMSE pénalise davantage les grosses erreurs.</a:t>
            </a:r>
          </a:p>
        </p:txBody>
      </p:sp>
      <p:sp>
        <p:nvSpPr>
          <p:cNvPr id="24" name="TextBox 23"/>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Principe d’évaluation appliqué aux notebooks du TP.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Synthèse — champions et métriques à défendre à l’oral</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La métrique dépend de la nature du problème et du coût métier de l’erreur.</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12</a:t>
            </a:r>
          </a:p>
        </p:txBody>
      </p:sp>
      <p:graphicFrame>
        <p:nvGraphicFramePr>
          <p:cNvPr id="6" name="Table 5"/>
          <p:cNvGraphicFramePr>
            <a:graphicFrameLocks noGrp="1"/>
          </p:cNvGraphicFramePr>
          <p:nvPr/>
        </p:nvGraphicFramePr>
        <p:xfrm>
          <a:off x="411480" y="1417320"/>
          <a:ext cx="9555480" cy="42976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613954">
                <a:tc>
                  <a:txBody>
                    <a:bodyPr/>
                    <a:lstStyle/>
                    <a:p>
                      <a:pPr algn="l"/>
                      <a:r>
                        <a:rPr sz="900" b="1">
                          <a:solidFill>
                            <a:srgbClr val="FFFFFF"/>
                          </a:solidFill>
                          <a:latin typeface="Aptos"/>
                        </a:rPr>
                        <a:t>Modèle</a:t>
                      </a:r>
                    </a:p>
                  </a:txBody>
                  <a:tcPr marL="54864" marR="54864" marT="36576" marB="36576">
                    <a:solidFill>
                      <a:srgbClr val="0F2238"/>
                    </a:solidFill>
                  </a:tcPr>
                </a:tc>
                <a:tc>
                  <a:txBody>
                    <a:bodyPr/>
                    <a:lstStyle/>
                    <a:p>
                      <a:pPr algn="ctr"/>
                      <a:r>
                        <a:rPr sz="900" b="1">
                          <a:solidFill>
                            <a:srgbClr val="FFFFFF"/>
                          </a:solidFill>
                          <a:latin typeface="Aptos"/>
                        </a:rPr>
                        <a:t>Type</a:t>
                      </a:r>
                    </a:p>
                  </a:txBody>
                  <a:tcPr marL="54864" marR="54864" marT="36576" marB="36576">
                    <a:solidFill>
                      <a:srgbClr val="0F2238"/>
                    </a:solidFill>
                  </a:tcPr>
                </a:tc>
                <a:tc>
                  <a:txBody>
                    <a:bodyPr/>
                    <a:lstStyle/>
                    <a:p>
                      <a:pPr algn="ctr"/>
                      <a:r>
                        <a:rPr sz="900" b="1">
                          <a:solidFill>
                            <a:srgbClr val="FFFFFF"/>
                          </a:solidFill>
                          <a:latin typeface="Aptos"/>
                        </a:rPr>
                        <a:t>Champion / méthode</a:t>
                      </a:r>
                    </a:p>
                  </a:txBody>
                  <a:tcPr marL="54864" marR="54864" marT="36576" marB="36576">
                    <a:solidFill>
                      <a:srgbClr val="0F2238"/>
                    </a:solidFill>
                  </a:tcPr>
                </a:tc>
                <a:tc>
                  <a:txBody>
                    <a:bodyPr/>
                    <a:lstStyle/>
                    <a:p>
                      <a:pPr algn="ctr"/>
                      <a:r>
                        <a:rPr sz="900" b="1">
                          <a:solidFill>
                            <a:srgbClr val="FFFFFF"/>
                          </a:solidFill>
                          <a:latin typeface="Aptos"/>
                        </a:rPr>
                        <a:t>Métrique clé</a:t>
                      </a:r>
                    </a:p>
                  </a:txBody>
                  <a:tcPr marL="54864" marR="54864" marT="36576" marB="36576">
                    <a:solidFill>
                      <a:srgbClr val="0F2238"/>
                    </a:solidFill>
                  </a:tcPr>
                </a:tc>
                <a:tc>
                  <a:txBody>
                    <a:bodyPr/>
                    <a:lstStyle/>
                    <a:p>
                      <a:pPr algn="ctr"/>
                      <a:r>
                        <a:rPr sz="900" b="1">
                          <a:solidFill>
                            <a:srgbClr val="FFFFFF"/>
                          </a:solidFill>
                          <a:latin typeface="Aptos"/>
                        </a:rPr>
                        <a:t>Erreur la plus sensible</a:t>
                      </a:r>
                    </a:p>
                  </a:txBody>
                  <a:tcPr marL="54864" marR="54864" marT="36576" marB="36576">
                    <a:solidFill>
                      <a:srgbClr val="0F2238"/>
                    </a:solidFill>
                  </a:tcPr>
                </a:tc>
                <a:extLst>
                  <a:ext uri="{0D108BD9-81ED-4DB2-BD59-A6C34878D82A}">
                    <a16:rowId xmlns:a16="http://schemas.microsoft.com/office/drawing/2014/main" val="10000"/>
                  </a:ext>
                </a:extLst>
              </a:tr>
              <a:tr h="613954">
                <a:tc>
                  <a:txBody>
                    <a:bodyPr/>
                    <a:lstStyle/>
                    <a:p>
                      <a:pPr algn="l"/>
                      <a:r>
                        <a:rPr sz="900" b="0">
                          <a:solidFill>
                            <a:srgbClr val="232B32"/>
                          </a:solidFill>
                          <a:latin typeface="Aptos"/>
                        </a:rPr>
                        <a:t>Zone de risque</a:t>
                      </a:r>
                    </a:p>
                  </a:txBody>
                  <a:tcPr marL="54864" marR="54864" marT="36576" marB="36576">
                    <a:solidFill>
                      <a:srgbClr val="FFFFFF"/>
                    </a:solidFill>
                  </a:tcPr>
                </a:tc>
                <a:tc>
                  <a:txBody>
                    <a:bodyPr/>
                    <a:lstStyle/>
                    <a:p>
                      <a:pPr algn="ctr"/>
                      <a:r>
                        <a:rPr sz="900" b="0">
                          <a:solidFill>
                            <a:srgbClr val="232B32"/>
                          </a:solidFill>
                          <a:latin typeface="Aptos"/>
                        </a:rPr>
                        <a:t>Classification</a:t>
                      </a:r>
                    </a:p>
                  </a:txBody>
                  <a:tcPr marL="54864" marR="54864" marT="36576" marB="36576">
                    <a:solidFill>
                      <a:srgbClr val="FFFFFF"/>
                    </a:solidFill>
                  </a:tcPr>
                </a:tc>
                <a:tc>
                  <a:txBody>
                    <a:bodyPr/>
                    <a:lstStyle/>
                    <a:p>
                      <a:pPr algn="ctr"/>
                      <a:r>
                        <a:rPr sz="900" b="0">
                          <a:solidFill>
                            <a:srgbClr val="232B32"/>
                          </a:solidFill>
                          <a:latin typeface="Aptos"/>
                        </a:rPr>
                        <a:t>Random Forest</a:t>
                      </a:r>
                    </a:p>
                  </a:txBody>
                  <a:tcPr marL="54864" marR="54864" marT="36576" marB="36576">
                    <a:solidFill>
                      <a:srgbClr val="FFFFFF"/>
                    </a:solidFill>
                  </a:tcPr>
                </a:tc>
                <a:tc>
                  <a:txBody>
                    <a:bodyPr/>
                    <a:lstStyle/>
                    <a:p>
                      <a:pPr algn="ctr"/>
                      <a:r>
                        <a:rPr sz="900" b="0">
                          <a:solidFill>
                            <a:srgbClr val="232B32"/>
                          </a:solidFill>
                          <a:latin typeface="Aptos"/>
                        </a:rPr>
                        <a:t>F1 macro + Recall</a:t>
                      </a:r>
                    </a:p>
                  </a:txBody>
                  <a:tcPr marL="54864" marR="54864" marT="36576" marB="36576">
                    <a:solidFill>
                      <a:srgbClr val="FFFFFF"/>
                    </a:solidFill>
                  </a:tcPr>
                </a:tc>
                <a:tc>
                  <a:txBody>
                    <a:bodyPr/>
                    <a:lstStyle/>
                    <a:p>
                      <a:pPr algn="ctr"/>
                      <a:r>
                        <a:rPr sz="900" b="0">
                          <a:solidFill>
                            <a:srgbClr val="232B32"/>
                          </a:solidFill>
                          <a:latin typeface="Aptos"/>
                        </a:rPr>
                        <a:t>FN classe Élevé</a:t>
                      </a:r>
                    </a:p>
                  </a:txBody>
                  <a:tcPr marL="54864" marR="54864" marT="36576" marB="36576">
                    <a:solidFill>
                      <a:srgbClr val="FFFFFF"/>
                    </a:solidFill>
                  </a:tcPr>
                </a:tc>
                <a:extLst>
                  <a:ext uri="{0D108BD9-81ED-4DB2-BD59-A6C34878D82A}">
                    <a16:rowId xmlns:a16="http://schemas.microsoft.com/office/drawing/2014/main" val="10001"/>
                  </a:ext>
                </a:extLst>
              </a:tr>
              <a:tr h="613954">
                <a:tc>
                  <a:txBody>
                    <a:bodyPr/>
                    <a:lstStyle/>
                    <a:p>
                      <a:pPr algn="l"/>
                      <a:r>
                        <a:rPr sz="900" b="0">
                          <a:solidFill>
                            <a:srgbClr val="232B32"/>
                          </a:solidFill>
                          <a:latin typeface="Aptos"/>
                        </a:rPr>
                        <a:t>Sévérité</a:t>
                      </a:r>
                    </a:p>
                  </a:txBody>
                  <a:tcPr marL="54864" marR="54864" marT="36576" marB="36576">
                    <a:solidFill>
                      <a:srgbClr val="F5F7F9"/>
                    </a:solidFill>
                  </a:tcPr>
                </a:tc>
                <a:tc>
                  <a:txBody>
                    <a:bodyPr/>
                    <a:lstStyle/>
                    <a:p>
                      <a:pPr algn="ctr"/>
                      <a:r>
                        <a:rPr sz="900" b="0">
                          <a:solidFill>
                            <a:srgbClr val="232B32"/>
                          </a:solidFill>
                          <a:latin typeface="Aptos"/>
                        </a:rPr>
                        <a:t>Régression</a:t>
                      </a:r>
                    </a:p>
                  </a:txBody>
                  <a:tcPr marL="54864" marR="54864" marT="36576" marB="36576">
                    <a:solidFill>
                      <a:srgbClr val="F5F7F9"/>
                    </a:solidFill>
                  </a:tcPr>
                </a:tc>
                <a:tc>
                  <a:txBody>
                    <a:bodyPr/>
                    <a:lstStyle/>
                    <a:p>
                      <a:pPr algn="ctr"/>
                      <a:r>
                        <a:rPr sz="900" b="0">
                          <a:solidFill>
                            <a:srgbClr val="232B32"/>
                          </a:solidFill>
                          <a:latin typeface="Aptos"/>
                        </a:rPr>
                        <a:t>Random Forest</a:t>
                      </a:r>
                    </a:p>
                  </a:txBody>
                  <a:tcPr marL="54864" marR="54864" marT="36576" marB="36576">
                    <a:solidFill>
                      <a:srgbClr val="F5F7F9"/>
                    </a:solidFill>
                  </a:tcPr>
                </a:tc>
                <a:tc>
                  <a:txBody>
                    <a:bodyPr/>
                    <a:lstStyle/>
                    <a:p>
                      <a:pPr algn="ctr"/>
                      <a:r>
                        <a:rPr sz="900" b="0">
                          <a:solidFill>
                            <a:srgbClr val="232B32"/>
                          </a:solidFill>
                          <a:latin typeface="Aptos"/>
                        </a:rPr>
                        <a:t>RMSE + MAE</a:t>
                      </a:r>
                    </a:p>
                  </a:txBody>
                  <a:tcPr marL="54864" marR="54864" marT="36576" marB="36576">
                    <a:solidFill>
                      <a:srgbClr val="F5F7F9"/>
                    </a:solidFill>
                  </a:tcPr>
                </a:tc>
                <a:tc>
                  <a:txBody>
                    <a:bodyPr/>
                    <a:lstStyle/>
                    <a:p>
                      <a:pPr algn="ctr"/>
                      <a:r>
                        <a:rPr sz="900" b="0">
                          <a:solidFill>
                            <a:srgbClr val="232B32"/>
                          </a:solidFill>
                          <a:latin typeface="Aptos"/>
                        </a:rPr>
                        <a:t>Grosses erreurs</a:t>
                      </a:r>
                    </a:p>
                  </a:txBody>
                  <a:tcPr marL="54864" marR="54864" marT="36576" marB="36576">
                    <a:solidFill>
                      <a:srgbClr val="F5F7F9"/>
                    </a:solidFill>
                  </a:tcPr>
                </a:tc>
                <a:extLst>
                  <a:ext uri="{0D108BD9-81ED-4DB2-BD59-A6C34878D82A}">
                    <a16:rowId xmlns:a16="http://schemas.microsoft.com/office/drawing/2014/main" val="10002"/>
                  </a:ext>
                </a:extLst>
              </a:tr>
              <a:tr h="613954">
                <a:tc>
                  <a:txBody>
                    <a:bodyPr/>
                    <a:lstStyle/>
                    <a:p>
                      <a:pPr algn="l"/>
                      <a:r>
                        <a:rPr sz="900" b="0">
                          <a:solidFill>
                            <a:srgbClr val="232B32"/>
                          </a:solidFill>
                          <a:latin typeface="Aptos"/>
                        </a:rPr>
                        <a:t>Facteur de risque</a:t>
                      </a:r>
                    </a:p>
                  </a:txBody>
                  <a:tcPr marL="54864" marR="54864" marT="36576" marB="36576">
                    <a:solidFill>
                      <a:srgbClr val="FFFFFF"/>
                    </a:solidFill>
                  </a:tcPr>
                </a:tc>
                <a:tc>
                  <a:txBody>
                    <a:bodyPr/>
                    <a:lstStyle/>
                    <a:p>
                      <a:pPr algn="ctr"/>
                      <a:r>
                        <a:rPr sz="900" b="0">
                          <a:solidFill>
                            <a:srgbClr val="232B32"/>
                          </a:solidFill>
                          <a:latin typeface="Aptos"/>
                        </a:rPr>
                        <a:t>Classification</a:t>
                      </a:r>
                    </a:p>
                  </a:txBody>
                  <a:tcPr marL="54864" marR="54864" marT="36576" marB="36576">
                    <a:solidFill>
                      <a:srgbClr val="FFFFFF"/>
                    </a:solidFill>
                  </a:tcPr>
                </a:tc>
                <a:tc>
                  <a:txBody>
                    <a:bodyPr/>
                    <a:lstStyle/>
                    <a:p>
                      <a:pPr algn="ctr"/>
                      <a:r>
                        <a:rPr sz="900" b="0">
                          <a:solidFill>
                            <a:srgbClr val="232B32"/>
                          </a:solidFill>
                          <a:latin typeface="Aptos"/>
                        </a:rPr>
                        <a:t>LightGBM</a:t>
                      </a:r>
                    </a:p>
                  </a:txBody>
                  <a:tcPr marL="54864" marR="54864" marT="36576" marB="36576">
                    <a:solidFill>
                      <a:srgbClr val="FFFFFF"/>
                    </a:solidFill>
                  </a:tcPr>
                </a:tc>
                <a:tc>
                  <a:txBody>
                    <a:bodyPr/>
                    <a:lstStyle/>
                    <a:p>
                      <a:pPr algn="ctr"/>
                      <a:r>
                        <a:rPr sz="900" b="0">
                          <a:solidFill>
                            <a:srgbClr val="232B32"/>
                          </a:solidFill>
                          <a:latin typeface="Aptos"/>
                        </a:rPr>
                        <a:t>F1 macro</a:t>
                      </a:r>
                    </a:p>
                  </a:txBody>
                  <a:tcPr marL="54864" marR="54864" marT="36576" marB="36576">
                    <a:solidFill>
                      <a:srgbClr val="FFFFFF"/>
                    </a:solidFill>
                  </a:tcPr>
                </a:tc>
                <a:tc>
                  <a:txBody>
                    <a:bodyPr/>
                    <a:lstStyle/>
                    <a:p>
                      <a:pPr algn="ctr"/>
                      <a:r>
                        <a:rPr sz="900" b="0">
                          <a:solidFill>
                            <a:srgbClr val="232B32"/>
                          </a:solidFill>
                          <a:latin typeface="Aptos"/>
                        </a:rPr>
                        <a:t>FN classes critiques</a:t>
                      </a:r>
                    </a:p>
                  </a:txBody>
                  <a:tcPr marL="54864" marR="54864" marT="36576" marB="36576">
                    <a:solidFill>
                      <a:srgbClr val="FFFFFF"/>
                    </a:solidFill>
                  </a:tcPr>
                </a:tc>
                <a:extLst>
                  <a:ext uri="{0D108BD9-81ED-4DB2-BD59-A6C34878D82A}">
                    <a16:rowId xmlns:a16="http://schemas.microsoft.com/office/drawing/2014/main" val="10003"/>
                  </a:ext>
                </a:extLst>
              </a:tr>
              <a:tr h="613954">
                <a:tc>
                  <a:txBody>
                    <a:bodyPr/>
                    <a:lstStyle/>
                    <a:p>
                      <a:pPr algn="l"/>
                      <a:r>
                        <a:rPr sz="900" b="0">
                          <a:solidFill>
                            <a:srgbClr val="232B32"/>
                          </a:solidFill>
                          <a:latin typeface="Aptos"/>
                        </a:rPr>
                        <a:t>Dommages</a:t>
                      </a:r>
                    </a:p>
                  </a:txBody>
                  <a:tcPr marL="54864" marR="54864" marT="36576" marB="36576">
                    <a:solidFill>
                      <a:srgbClr val="F5F7F9"/>
                    </a:solidFill>
                  </a:tcPr>
                </a:tc>
                <a:tc>
                  <a:txBody>
                    <a:bodyPr/>
                    <a:lstStyle/>
                    <a:p>
                      <a:pPr algn="ctr"/>
                      <a:r>
                        <a:rPr sz="900" b="0">
                          <a:solidFill>
                            <a:srgbClr val="232B32"/>
                          </a:solidFill>
                          <a:latin typeface="Aptos"/>
                        </a:rPr>
                        <a:t>Classification</a:t>
                      </a:r>
                    </a:p>
                  </a:txBody>
                  <a:tcPr marL="54864" marR="54864" marT="36576" marB="36576">
                    <a:solidFill>
                      <a:srgbClr val="F5F7F9"/>
                    </a:solidFill>
                  </a:tcPr>
                </a:tc>
                <a:tc>
                  <a:txBody>
                    <a:bodyPr/>
                    <a:lstStyle/>
                    <a:p>
                      <a:pPr algn="ctr"/>
                      <a:r>
                        <a:rPr sz="900" b="0">
                          <a:solidFill>
                            <a:srgbClr val="232B32"/>
                          </a:solidFill>
                          <a:latin typeface="Aptos"/>
                        </a:rPr>
                        <a:t>Random Forest</a:t>
                      </a:r>
                    </a:p>
                  </a:txBody>
                  <a:tcPr marL="54864" marR="54864" marT="36576" marB="36576">
                    <a:solidFill>
                      <a:srgbClr val="F5F7F9"/>
                    </a:solidFill>
                  </a:tcPr>
                </a:tc>
                <a:tc>
                  <a:txBody>
                    <a:bodyPr/>
                    <a:lstStyle/>
                    <a:p>
                      <a:pPr algn="ctr"/>
                      <a:r>
                        <a:rPr sz="900" b="0">
                          <a:solidFill>
                            <a:srgbClr val="232B32"/>
                          </a:solidFill>
                          <a:latin typeface="Aptos"/>
                        </a:rPr>
                        <a:t>Recall/F1 Sévère</a:t>
                      </a:r>
                    </a:p>
                  </a:txBody>
                  <a:tcPr marL="54864" marR="54864" marT="36576" marB="36576">
                    <a:solidFill>
                      <a:srgbClr val="F5F7F9"/>
                    </a:solidFill>
                  </a:tcPr>
                </a:tc>
                <a:tc>
                  <a:txBody>
                    <a:bodyPr/>
                    <a:lstStyle/>
                    <a:p>
                      <a:pPr algn="ctr"/>
                      <a:r>
                        <a:rPr sz="900" b="0">
                          <a:solidFill>
                            <a:srgbClr val="232B32"/>
                          </a:solidFill>
                          <a:latin typeface="Aptos"/>
                        </a:rPr>
                        <a:t>FN Sévère</a:t>
                      </a:r>
                    </a:p>
                  </a:txBody>
                  <a:tcPr marL="54864" marR="54864" marT="36576" marB="36576">
                    <a:solidFill>
                      <a:srgbClr val="F5F7F9"/>
                    </a:solidFill>
                  </a:tcPr>
                </a:tc>
                <a:extLst>
                  <a:ext uri="{0D108BD9-81ED-4DB2-BD59-A6C34878D82A}">
                    <a16:rowId xmlns:a16="http://schemas.microsoft.com/office/drawing/2014/main" val="10004"/>
                  </a:ext>
                </a:extLst>
              </a:tr>
              <a:tr h="613954">
                <a:tc>
                  <a:txBody>
                    <a:bodyPr/>
                    <a:lstStyle/>
                    <a:p>
                      <a:pPr algn="l"/>
                      <a:r>
                        <a:rPr sz="900" b="0">
                          <a:solidFill>
                            <a:srgbClr val="232B32"/>
                          </a:solidFill>
                          <a:latin typeface="Aptos"/>
                        </a:rPr>
                        <a:t>Action</a:t>
                      </a:r>
                    </a:p>
                  </a:txBody>
                  <a:tcPr marL="54864" marR="54864" marT="36576" marB="36576">
                    <a:solidFill>
                      <a:srgbClr val="FFFFFF"/>
                    </a:solidFill>
                  </a:tcPr>
                </a:tc>
                <a:tc>
                  <a:txBody>
                    <a:bodyPr/>
                    <a:lstStyle/>
                    <a:p>
                      <a:pPr algn="ctr"/>
                      <a:r>
                        <a:rPr sz="900" b="0">
                          <a:solidFill>
                            <a:srgbClr val="232B32"/>
                          </a:solidFill>
                          <a:latin typeface="Aptos"/>
                        </a:rPr>
                        <a:t>Règles</a:t>
                      </a:r>
                    </a:p>
                  </a:txBody>
                  <a:tcPr marL="54864" marR="54864" marT="36576" marB="36576">
                    <a:solidFill>
                      <a:srgbClr val="FFFFFF"/>
                    </a:solidFill>
                  </a:tcPr>
                </a:tc>
                <a:tc>
                  <a:txBody>
                    <a:bodyPr/>
                    <a:lstStyle/>
                    <a:p>
                      <a:pPr algn="ctr"/>
                      <a:r>
                        <a:rPr sz="900" b="0">
                          <a:solidFill>
                            <a:srgbClr val="232B32"/>
                          </a:solidFill>
                          <a:latin typeface="Aptos"/>
                        </a:rPr>
                        <a:t>Règles métier</a:t>
                      </a:r>
                    </a:p>
                  </a:txBody>
                  <a:tcPr marL="54864" marR="54864" marT="36576" marB="36576">
                    <a:solidFill>
                      <a:srgbClr val="FFFFFF"/>
                    </a:solidFill>
                  </a:tcPr>
                </a:tc>
                <a:tc>
                  <a:txBody>
                    <a:bodyPr/>
                    <a:lstStyle/>
                    <a:p>
                      <a:pPr algn="ctr"/>
                      <a:r>
                        <a:rPr sz="900" b="0">
                          <a:solidFill>
                            <a:srgbClr val="232B32"/>
                          </a:solidFill>
                          <a:latin typeface="Aptos"/>
                        </a:rPr>
                        <a:t>Cohérence</a:t>
                      </a:r>
                    </a:p>
                  </a:txBody>
                  <a:tcPr marL="54864" marR="54864" marT="36576" marB="36576">
                    <a:solidFill>
                      <a:srgbClr val="FFFFFF"/>
                    </a:solidFill>
                  </a:tcPr>
                </a:tc>
                <a:tc>
                  <a:txBody>
                    <a:bodyPr/>
                    <a:lstStyle/>
                    <a:p>
                      <a:pPr algn="ctr"/>
                      <a:r>
                        <a:rPr sz="900" b="0">
                          <a:solidFill>
                            <a:srgbClr val="232B32"/>
                          </a:solidFill>
                          <a:latin typeface="Aptos"/>
                        </a:rPr>
                        <a:t>Erreur logique</a:t>
                      </a:r>
                    </a:p>
                  </a:txBody>
                  <a:tcPr marL="54864" marR="54864" marT="36576" marB="36576">
                    <a:solidFill>
                      <a:srgbClr val="FFFFFF"/>
                    </a:solidFill>
                  </a:tcPr>
                </a:tc>
                <a:extLst>
                  <a:ext uri="{0D108BD9-81ED-4DB2-BD59-A6C34878D82A}">
                    <a16:rowId xmlns:a16="http://schemas.microsoft.com/office/drawing/2014/main" val="10005"/>
                  </a:ext>
                </a:extLst>
              </a:tr>
              <a:tr h="613956">
                <a:tc>
                  <a:txBody>
                    <a:bodyPr/>
                    <a:lstStyle/>
                    <a:p>
                      <a:pPr algn="l"/>
                      <a:r>
                        <a:rPr sz="900" b="0">
                          <a:solidFill>
                            <a:srgbClr val="232B32"/>
                          </a:solidFill>
                          <a:latin typeface="Aptos"/>
                        </a:rPr>
                        <a:t>Pertes économiques</a:t>
                      </a:r>
                    </a:p>
                  </a:txBody>
                  <a:tcPr marL="54864" marR="54864" marT="36576" marB="36576">
                    <a:solidFill>
                      <a:srgbClr val="F5F7F9"/>
                    </a:solidFill>
                  </a:tcPr>
                </a:tc>
                <a:tc>
                  <a:txBody>
                    <a:bodyPr/>
                    <a:lstStyle/>
                    <a:p>
                      <a:pPr algn="ctr"/>
                      <a:r>
                        <a:rPr sz="900" b="0">
                          <a:solidFill>
                            <a:srgbClr val="232B32"/>
                          </a:solidFill>
                          <a:latin typeface="Aptos"/>
                        </a:rPr>
                        <a:t>Régression</a:t>
                      </a:r>
                    </a:p>
                  </a:txBody>
                  <a:tcPr marL="54864" marR="54864" marT="36576" marB="36576">
                    <a:solidFill>
                      <a:srgbClr val="F5F7F9"/>
                    </a:solidFill>
                  </a:tcPr>
                </a:tc>
                <a:tc>
                  <a:txBody>
                    <a:bodyPr/>
                    <a:lstStyle/>
                    <a:p>
                      <a:pPr algn="ctr"/>
                      <a:r>
                        <a:rPr sz="900" b="0">
                          <a:solidFill>
                            <a:srgbClr val="232B32"/>
                          </a:solidFill>
                          <a:latin typeface="Aptos"/>
                        </a:rPr>
                        <a:t>Gradient Boosting</a:t>
                      </a:r>
                    </a:p>
                  </a:txBody>
                  <a:tcPr marL="54864" marR="54864" marT="36576" marB="36576">
                    <a:solidFill>
                      <a:srgbClr val="F5F7F9"/>
                    </a:solidFill>
                  </a:tcPr>
                </a:tc>
                <a:tc>
                  <a:txBody>
                    <a:bodyPr/>
                    <a:lstStyle/>
                    <a:p>
                      <a:pPr algn="ctr"/>
                      <a:r>
                        <a:rPr sz="900" b="0">
                          <a:solidFill>
                            <a:srgbClr val="232B32"/>
                          </a:solidFill>
                          <a:latin typeface="Aptos"/>
                        </a:rPr>
                        <a:t>MAE/RMSE/R²</a:t>
                      </a:r>
                    </a:p>
                  </a:txBody>
                  <a:tcPr marL="54864" marR="54864" marT="36576" marB="36576">
                    <a:solidFill>
                      <a:srgbClr val="F5F7F9"/>
                    </a:solidFill>
                  </a:tcPr>
                </a:tc>
                <a:tc>
                  <a:txBody>
                    <a:bodyPr/>
                    <a:lstStyle/>
                    <a:p>
                      <a:pPr algn="ctr"/>
                      <a:r>
                        <a:rPr sz="900" b="0">
                          <a:solidFill>
                            <a:srgbClr val="232B32"/>
                          </a:solidFill>
                          <a:latin typeface="Aptos"/>
                        </a:rPr>
                        <a:t>Sous-estimation extrême</a:t>
                      </a:r>
                    </a:p>
                  </a:txBody>
                  <a:tcPr marL="54864" marR="54864" marT="36576" marB="36576">
                    <a:solidFill>
                      <a:srgbClr val="F5F7F9"/>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94360" y="5897880"/>
            <a:ext cx="2560320" cy="274320"/>
          </a:xfrm>
          <a:prstGeom prst="rect">
            <a:avLst/>
          </a:prstGeom>
          <a:noFill/>
        </p:spPr>
        <p:txBody>
          <a:bodyPr wrap="square" anchor="t">
            <a:spAutoFit/>
          </a:bodyPr>
          <a:lstStyle/>
          <a:p>
            <a:pPr algn="l"/>
            <a:r>
              <a:rPr sz="1400" b="1">
                <a:solidFill>
                  <a:srgbClr val="0F2238"/>
                </a:solidFill>
                <a:latin typeface="Aptos"/>
              </a:rPr>
              <a:t>Phrase clé pour la soutenance :</a:t>
            </a:r>
          </a:p>
        </p:txBody>
      </p:sp>
      <p:sp>
        <p:nvSpPr>
          <p:cNvPr id="8" name="TextBox 7"/>
          <p:cNvSpPr txBox="1"/>
          <p:nvPr/>
        </p:nvSpPr>
        <p:spPr>
          <a:xfrm>
            <a:off x="2880360" y="5806440"/>
            <a:ext cx="8412480" cy="502920"/>
          </a:xfrm>
          <a:prstGeom prst="rect">
            <a:avLst/>
          </a:prstGeom>
          <a:noFill/>
        </p:spPr>
        <p:txBody>
          <a:bodyPr wrap="square" anchor="t">
            <a:spAutoFit/>
          </a:bodyPr>
          <a:lstStyle/>
          <a:p>
            <a:pPr algn="l"/>
            <a:r>
              <a:rPr sz="1300" b="1">
                <a:solidFill>
                  <a:srgbClr val="232B32"/>
                </a:solidFill>
                <a:latin typeface="Aptos"/>
              </a:rPr>
              <a:t>« Nous ne choisissons pas un champion avec une seule métrique : nous choisissons la métrique qui représente le mieux le risque réel de chaque modèle. »</a:t>
            </a:r>
          </a:p>
        </p:txBody>
      </p:sp>
      <p:sp>
        <p:nvSpPr>
          <p:cNvPr id="9" name="TextBox 8"/>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Synthèse fondée sur les notebooks 02 à 08.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Contraintes du projet</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Les bons scores doivent être interprétés dans le contexte des données disponibles.</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13</a:t>
            </a:r>
          </a:p>
        </p:txBody>
      </p:sp>
      <p:sp>
        <p:nvSpPr>
          <p:cNvPr id="6" name="Rounded Rectangle 5"/>
          <p:cNvSpPr/>
          <p:nvPr/>
        </p:nvSpPr>
        <p:spPr>
          <a:xfrm>
            <a:off x="640080" y="150876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655063"/>
            <a:ext cx="3145536" cy="320040"/>
          </a:xfrm>
          <a:prstGeom prst="rect">
            <a:avLst/>
          </a:prstGeom>
          <a:noFill/>
        </p:spPr>
        <p:txBody>
          <a:bodyPr wrap="square" anchor="t">
            <a:spAutoFit/>
          </a:bodyPr>
          <a:lstStyle/>
          <a:p>
            <a:pPr algn="l"/>
            <a:r>
              <a:rPr sz="1500" b="1">
                <a:solidFill>
                  <a:srgbClr val="B44141"/>
                </a:solidFill>
                <a:latin typeface="Aptos"/>
              </a:rPr>
              <a:t>Classes très déséquilibrées</a:t>
            </a:r>
          </a:p>
        </p:txBody>
      </p:sp>
      <p:sp>
        <p:nvSpPr>
          <p:cNvPr id="8" name="TextBox 7"/>
          <p:cNvSpPr txBox="1"/>
          <p:nvPr/>
        </p:nvSpPr>
        <p:spPr>
          <a:xfrm>
            <a:off x="804671" y="2039112"/>
            <a:ext cx="3145536" cy="1124712"/>
          </a:xfrm>
          <a:prstGeom prst="rect">
            <a:avLst/>
          </a:prstGeom>
          <a:noFill/>
        </p:spPr>
        <p:txBody>
          <a:bodyPr wrap="square" anchor="t">
            <a:spAutoFit/>
          </a:bodyPr>
          <a:lstStyle/>
          <a:p>
            <a:pPr algn="l"/>
            <a:r>
              <a:rPr sz="1100" b="0">
                <a:solidFill>
                  <a:srgbClr val="232B32"/>
                </a:solidFill>
                <a:latin typeface="Aptos"/>
              </a:rPr>
              <a:t>Dommages : 865 / 25 / 14. Une accuracy élevée peut masquer les classes rares.</a:t>
            </a:r>
          </a:p>
        </p:txBody>
      </p:sp>
      <p:sp>
        <p:nvSpPr>
          <p:cNvPr id="9" name="Rounded Rectangle 8"/>
          <p:cNvSpPr/>
          <p:nvPr/>
        </p:nvSpPr>
        <p:spPr>
          <a:xfrm>
            <a:off x="4434840" y="150876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9432" y="1655063"/>
            <a:ext cx="3145536" cy="320040"/>
          </a:xfrm>
          <a:prstGeom prst="rect">
            <a:avLst/>
          </a:prstGeom>
          <a:noFill/>
        </p:spPr>
        <p:txBody>
          <a:bodyPr wrap="square" anchor="t">
            <a:spAutoFit/>
          </a:bodyPr>
          <a:lstStyle/>
          <a:p>
            <a:pPr algn="l"/>
            <a:r>
              <a:rPr sz="1500" b="1">
                <a:solidFill>
                  <a:srgbClr val="DA8437"/>
                </a:solidFill>
                <a:latin typeface="Aptos"/>
              </a:rPr>
              <a:t>Très peu de cas Sévère</a:t>
            </a:r>
          </a:p>
        </p:txBody>
      </p:sp>
      <p:sp>
        <p:nvSpPr>
          <p:cNvPr id="11" name="TextBox 10"/>
          <p:cNvSpPr txBox="1"/>
          <p:nvPr/>
        </p:nvSpPr>
        <p:spPr>
          <a:xfrm>
            <a:off x="4599432" y="2039112"/>
            <a:ext cx="3145536" cy="1124712"/>
          </a:xfrm>
          <a:prstGeom prst="rect">
            <a:avLst/>
          </a:prstGeom>
          <a:noFill/>
        </p:spPr>
        <p:txBody>
          <a:bodyPr wrap="square" anchor="t">
            <a:spAutoFit/>
          </a:bodyPr>
          <a:lstStyle/>
          <a:p>
            <a:pPr algn="l"/>
            <a:r>
              <a:rPr sz="1100" b="0">
                <a:solidFill>
                  <a:srgbClr val="232B32"/>
                </a:solidFill>
                <a:latin typeface="Aptos"/>
              </a:rPr>
              <a:t>3 cas Sévère seulement dans le test du modèle de dommages : métriques instables.</a:t>
            </a:r>
          </a:p>
        </p:txBody>
      </p:sp>
      <p:sp>
        <p:nvSpPr>
          <p:cNvPr id="12" name="Rounded Rectangle 11"/>
          <p:cNvSpPr/>
          <p:nvPr/>
        </p:nvSpPr>
        <p:spPr>
          <a:xfrm>
            <a:off x="8229600" y="150876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94192" y="1655063"/>
            <a:ext cx="3145536" cy="320040"/>
          </a:xfrm>
          <a:prstGeom prst="rect">
            <a:avLst/>
          </a:prstGeom>
          <a:noFill/>
        </p:spPr>
        <p:txBody>
          <a:bodyPr wrap="square" anchor="t">
            <a:spAutoFit/>
          </a:bodyPr>
          <a:lstStyle/>
          <a:p>
            <a:pPr algn="l"/>
            <a:r>
              <a:rPr sz="1500" b="1">
                <a:solidFill>
                  <a:srgbClr val="215E91"/>
                </a:solidFill>
                <a:latin typeface="Aptos"/>
              </a:rPr>
              <a:t>Données PAGER incomplètes</a:t>
            </a:r>
          </a:p>
        </p:txBody>
      </p:sp>
      <p:sp>
        <p:nvSpPr>
          <p:cNvPr id="14" name="TextBox 13"/>
          <p:cNvSpPr txBox="1"/>
          <p:nvPr/>
        </p:nvSpPr>
        <p:spPr>
          <a:xfrm>
            <a:off x="8394192" y="2039112"/>
            <a:ext cx="3145536" cy="1124712"/>
          </a:xfrm>
          <a:prstGeom prst="rect">
            <a:avLst/>
          </a:prstGeom>
          <a:noFill/>
        </p:spPr>
        <p:txBody>
          <a:bodyPr wrap="square" anchor="t">
            <a:spAutoFit/>
          </a:bodyPr>
          <a:lstStyle/>
          <a:p>
            <a:pPr algn="l"/>
            <a:r>
              <a:rPr sz="1100" b="0">
                <a:solidFill>
                  <a:srgbClr val="232B32"/>
                </a:solidFill>
                <a:latin typeface="Aptos"/>
              </a:rPr>
              <a:t>Beaucoup d’événements n’ont pas toutes les informations d’impact.</a:t>
            </a:r>
          </a:p>
        </p:txBody>
      </p:sp>
      <p:sp>
        <p:nvSpPr>
          <p:cNvPr id="15" name="Rounded Rectangle 14"/>
          <p:cNvSpPr/>
          <p:nvPr/>
        </p:nvSpPr>
        <p:spPr>
          <a:xfrm>
            <a:off x="640080" y="365760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1" y="3803904"/>
            <a:ext cx="3145536" cy="320040"/>
          </a:xfrm>
          <a:prstGeom prst="rect">
            <a:avLst/>
          </a:prstGeom>
          <a:noFill/>
        </p:spPr>
        <p:txBody>
          <a:bodyPr wrap="square" anchor="t">
            <a:spAutoFit/>
          </a:bodyPr>
          <a:lstStyle/>
          <a:p>
            <a:pPr algn="l"/>
            <a:r>
              <a:rPr sz="1500" b="1">
                <a:solidFill>
                  <a:srgbClr val="DA8437"/>
                </a:solidFill>
                <a:latin typeface="Aptos"/>
              </a:rPr>
              <a:t>Pertes économiques rares</a:t>
            </a:r>
          </a:p>
        </p:txBody>
      </p:sp>
      <p:sp>
        <p:nvSpPr>
          <p:cNvPr id="17" name="TextBox 16"/>
          <p:cNvSpPr txBox="1"/>
          <p:nvPr/>
        </p:nvSpPr>
        <p:spPr>
          <a:xfrm>
            <a:off x="804671" y="4187952"/>
            <a:ext cx="3145536" cy="1124712"/>
          </a:xfrm>
          <a:prstGeom prst="rect">
            <a:avLst/>
          </a:prstGeom>
          <a:noFill/>
        </p:spPr>
        <p:txBody>
          <a:bodyPr wrap="square" anchor="t">
            <a:spAutoFit/>
          </a:bodyPr>
          <a:lstStyle/>
          <a:p>
            <a:pPr algn="l"/>
            <a:r>
              <a:rPr sz="1100" b="0">
                <a:solidFill>
                  <a:srgbClr val="232B32"/>
                </a:solidFill>
                <a:latin typeface="Aptos"/>
              </a:rPr>
              <a:t>625 pertes nulles contre 109 positives; les événements extrêmes dominent l’erreur.</a:t>
            </a:r>
          </a:p>
        </p:txBody>
      </p:sp>
      <p:sp>
        <p:nvSpPr>
          <p:cNvPr id="18" name="Rounded Rectangle 17"/>
          <p:cNvSpPr/>
          <p:nvPr/>
        </p:nvSpPr>
        <p:spPr>
          <a:xfrm>
            <a:off x="4434840" y="365760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9432" y="3803904"/>
            <a:ext cx="3145536" cy="320040"/>
          </a:xfrm>
          <a:prstGeom prst="rect">
            <a:avLst/>
          </a:prstGeom>
          <a:noFill/>
        </p:spPr>
        <p:txBody>
          <a:bodyPr wrap="square" anchor="t">
            <a:spAutoFit/>
          </a:bodyPr>
          <a:lstStyle/>
          <a:p>
            <a:pPr algn="l"/>
            <a:r>
              <a:rPr sz="1500" b="1">
                <a:solidFill>
                  <a:srgbClr val="215E91"/>
                </a:solidFill>
                <a:latin typeface="Aptos"/>
              </a:rPr>
              <a:t>Variables socio-économiques absentes</a:t>
            </a:r>
          </a:p>
        </p:txBody>
      </p:sp>
      <p:sp>
        <p:nvSpPr>
          <p:cNvPr id="20" name="TextBox 19"/>
          <p:cNvSpPr txBox="1"/>
          <p:nvPr/>
        </p:nvSpPr>
        <p:spPr>
          <a:xfrm>
            <a:off x="4599432" y="4187952"/>
            <a:ext cx="3145536" cy="1124712"/>
          </a:xfrm>
          <a:prstGeom prst="rect">
            <a:avLst/>
          </a:prstGeom>
          <a:noFill/>
        </p:spPr>
        <p:txBody>
          <a:bodyPr wrap="square" anchor="t">
            <a:spAutoFit/>
          </a:bodyPr>
          <a:lstStyle/>
          <a:p>
            <a:pPr algn="l"/>
            <a:r>
              <a:rPr sz="1100" b="0">
                <a:solidFill>
                  <a:srgbClr val="232B32"/>
                </a:solidFill>
                <a:latin typeface="Aptos"/>
              </a:rPr>
              <a:t>Population, bâtiments, infrastructures et activité économique ne sont pas toutes intégrées.</a:t>
            </a:r>
          </a:p>
        </p:txBody>
      </p:sp>
      <p:sp>
        <p:nvSpPr>
          <p:cNvPr id="21" name="Rounded Rectangle 20"/>
          <p:cNvSpPr/>
          <p:nvPr/>
        </p:nvSpPr>
        <p:spPr>
          <a:xfrm>
            <a:off x="8229600" y="3657600"/>
            <a:ext cx="3474720" cy="178308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94192" y="3803904"/>
            <a:ext cx="3145536" cy="320040"/>
          </a:xfrm>
          <a:prstGeom prst="rect">
            <a:avLst/>
          </a:prstGeom>
          <a:noFill/>
        </p:spPr>
        <p:txBody>
          <a:bodyPr wrap="square" anchor="t">
            <a:spAutoFit/>
          </a:bodyPr>
          <a:lstStyle/>
          <a:p>
            <a:pPr algn="l"/>
            <a:r>
              <a:rPr sz="1500" b="1">
                <a:solidFill>
                  <a:srgbClr val="626F7B"/>
                </a:solidFill>
                <a:latin typeface="Aptos"/>
              </a:rPr>
              <a:t>Périmètre temporel</a:t>
            </a:r>
          </a:p>
        </p:txBody>
      </p:sp>
      <p:sp>
        <p:nvSpPr>
          <p:cNvPr id="23" name="TextBox 22"/>
          <p:cNvSpPr txBox="1"/>
          <p:nvPr/>
        </p:nvSpPr>
        <p:spPr>
          <a:xfrm>
            <a:off x="8394192" y="4187952"/>
            <a:ext cx="3145536" cy="1124712"/>
          </a:xfrm>
          <a:prstGeom prst="rect">
            <a:avLst/>
          </a:prstGeom>
          <a:noFill/>
        </p:spPr>
        <p:txBody>
          <a:bodyPr wrap="square" anchor="t">
            <a:spAutoFit/>
          </a:bodyPr>
          <a:lstStyle/>
          <a:p>
            <a:pPr algn="l"/>
            <a:r>
              <a:rPr sz="1100" b="0">
                <a:solidFill>
                  <a:srgbClr val="232B32"/>
                </a:solidFill>
                <a:latin typeface="Aptos"/>
              </a:rPr>
              <a:t>Modèles développés et évalués sur les données 2025 : généralisation à confirmer.</a:t>
            </a:r>
          </a:p>
        </p:txBody>
      </p:sp>
      <p:sp>
        <p:nvSpPr>
          <p:cNvPr id="24" name="TextBox 23"/>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Sources : 05_Model_Damage et 07_Model_Economic_Loss; contraintes cohérentes avec le README du projet.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698480" cy="502920"/>
          </a:xfrm>
          <a:prstGeom prst="rect">
            <a:avLst/>
          </a:prstGeom>
          <a:noFill/>
        </p:spPr>
        <p:txBody>
          <a:bodyPr wrap="square" anchor="t">
            <a:spAutoFit/>
          </a:bodyPr>
          <a:lstStyle/>
          <a:p>
            <a:pPr algn="l"/>
            <a:r>
              <a:rPr sz="2800" b="1">
                <a:solidFill>
                  <a:srgbClr val="0F2238"/>
                </a:solidFill>
                <a:latin typeface="Aptos"/>
              </a:rPr>
              <a:t>Acquis du TP</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384048"/>
          </a:xfrm>
          <a:prstGeom prst="rect">
            <a:avLst/>
          </a:prstGeom>
          <a:noFill/>
        </p:spPr>
        <p:txBody>
          <a:bodyPr wrap="square" anchor="t">
            <a:spAutoFit/>
          </a:bodyPr>
          <a:lstStyle/>
          <a:p>
            <a:pPr algn="l"/>
            <a:r>
              <a:rPr sz="1200" b="0">
                <a:solidFill>
                  <a:srgbClr val="626F7B"/>
                </a:solidFill>
                <a:latin typeface="Aptos"/>
              </a:rPr>
              <a:t>Ce que le projet démontre au-delà des scores.</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14</a:t>
            </a:r>
          </a:p>
        </p:txBody>
      </p:sp>
      <p:sp>
        <p:nvSpPr>
          <p:cNvPr id="6" name="Oval 5"/>
          <p:cNvSpPr/>
          <p:nvPr/>
        </p:nvSpPr>
        <p:spPr>
          <a:xfrm>
            <a:off x="685800" y="1417320"/>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81328"/>
            <a:ext cx="438912" cy="201168"/>
          </a:xfrm>
          <a:prstGeom prst="rect">
            <a:avLst/>
          </a:prstGeom>
          <a:noFill/>
        </p:spPr>
        <p:txBody>
          <a:bodyPr wrap="square" anchor="t">
            <a:spAutoFit/>
          </a:bodyPr>
          <a:lstStyle/>
          <a:p>
            <a:pPr algn="ctr"/>
            <a:r>
              <a:rPr sz="1100" b="1">
                <a:solidFill>
                  <a:srgbClr val="FFFFFF"/>
                </a:solidFill>
                <a:latin typeface="Aptos"/>
              </a:rPr>
              <a:t>1</a:t>
            </a:r>
          </a:p>
        </p:txBody>
      </p:sp>
      <p:sp>
        <p:nvSpPr>
          <p:cNvPr id="8" name="TextBox 7"/>
          <p:cNvSpPr txBox="1"/>
          <p:nvPr/>
        </p:nvSpPr>
        <p:spPr>
          <a:xfrm>
            <a:off x="1325880" y="1417320"/>
            <a:ext cx="2377440" cy="274320"/>
          </a:xfrm>
          <a:prstGeom prst="rect">
            <a:avLst/>
          </a:prstGeom>
          <a:noFill/>
        </p:spPr>
        <p:txBody>
          <a:bodyPr wrap="square" anchor="t">
            <a:spAutoFit/>
          </a:bodyPr>
          <a:lstStyle/>
          <a:p>
            <a:pPr algn="l"/>
            <a:r>
              <a:rPr sz="1400" b="1">
                <a:solidFill>
                  <a:srgbClr val="0F2238"/>
                </a:solidFill>
                <a:latin typeface="Aptos"/>
              </a:rPr>
              <a:t>Préparer les données</a:t>
            </a:r>
          </a:p>
        </p:txBody>
      </p:sp>
      <p:sp>
        <p:nvSpPr>
          <p:cNvPr id="9" name="TextBox 8"/>
          <p:cNvSpPr txBox="1"/>
          <p:nvPr/>
        </p:nvSpPr>
        <p:spPr>
          <a:xfrm>
            <a:off x="3703320" y="1417320"/>
            <a:ext cx="7315200" cy="365760"/>
          </a:xfrm>
          <a:prstGeom prst="rect">
            <a:avLst/>
          </a:prstGeom>
          <a:noFill/>
        </p:spPr>
        <p:txBody>
          <a:bodyPr wrap="square" anchor="t">
            <a:spAutoFit/>
          </a:bodyPr>
          <a:lstStyle/>
          <a:p>
            <a:pPr algn="l"/>
            <a:r>
              <a:rPr sz="1200" b="0">
                <a:solidFill>
                  <a:srgbClr val="232B32"/>
                </a:solidFill>
                <a:latin typeface="Aptos"/>
              </a:rPr>
              <a:t>EDA, valeurs manquantes, transformations, train/test stratifié.</a:t>
            </a:r>
          </a:p>
        </p:txBody>
      </p:sp>
      <p:sp>
        <p:nvSpPr>
          <p:cNvPr id="10" name="Oval 9"/>
          <p:cNvSpPr/>
          <p:nvPr/>
        </p:nvSpPr>
        <p:spPr>
          <a:xfrm>
            <a:off x="685800" y="2176272"/>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79"/>
            <a:ext cx="438912" cy="201168"/>
          </a:xfrm>
          <a:prstGeom prst="rect">
            <a:avLst/>
          </a:prstGeom>
          <a:noFill/>
        </p:spPr>
        <p:txBody>
          <a:bodyPr wrap="square" anchor="t">
            <a:spAutoFit/>
          </a:bodyPr>
          <a:lstStyle/>
          <a:p>
            <a:pPr algn="ctr"/>
            <a:r>
              <a:rPr sz="1100" b="1">
                <a:solidFill>
                  <a:srgbClr val="FFFFFF"/>
                </a:solidFill>
                <a:latin typeface="Aptos"/>
              </a:rPr>
              <a:t>2</a:t>
            </a:r>
          </a:p>
        </p:txBody>
      </p:sp>
      <p:sp>
        <p:nvSpPr>
          <p:cNvPr id="12" name="TextBox 11"/>
          <p:cNvSpPr txBox="1"/>
          <p:nvPr/>
        </p:nvSpPr>
        <p:spPr>
          <a:xfrm>
            <a:off x="1325880" y="2176272"/>
            <a:ext cx="2377440" cy="274320"/>
          </a:xfrm>
          <a:prstGeom prst="rect">
            <a:avLst/>
          </a:prstGeom>
          <a:noFill/>
        </p:spPr>
        <p:txBody>
          <a:bodyPr wrap="square" anchor="t">
            <a:spAutoFit/>
          </a:bodyPr>
          <a:lstStyle/>
          <a:p>
            <a:pPr algn="l"/>
            <a:r>
              <a:rPr sz="1400" b="1">
                <a:solidFill>
                  <a:srgbClr val="0F2238"/>
                </a:solidFill>
                <a:latin typeface="Aptos"/>
              </a:rPr>
              <a:t>Comparer plusieurs familles</a:t>
            </a:r>
          </a:p>
        </p:txBody>
      </p:sp>
      <p:sp>
        <p:nvSpPr>
          <p:cNvPr id="13" name="TextBox 12"/>
          <p:cNvSpPr txBox="1"/>
          <p:nvPr/>
        </p:nvSpPr>
        <p:spPr>
          <a:xfrm>
            <a:off x="3703320" y="2176272"/>
            <a:ext cx="7315200" cy="365760"/>
          </a:xfrm>
          <a:prstGeom prst="rect">
            <a:avLst/>
          </a:prstGeom>
          <a:noFill/>
        </p:spPr>
        <p:txBody>
          <a:bodyPr wrap="square" anchor="t">
            <a:spAutoFit/>
          </a:bodyPr>
          <a:lstStyle/>
          <a:p>
            <a:pPr algn="l"/>
            <a:r>
              <a:rPr sz="1200" b="0">
                <a:solidFill>
                  <a:srgbClr val="232B32"/>
                </a:solidFill>
                <a:latin typeface="Aptos"/>
              </a:rPr>
              <a:t>KNN, arbres, ensembles, boosting, AutoML et règles métier.</a:t>
            </a:r>
          </a:p>
        </p:txBody>
      </p:sp>
      <p:sp>
        <p:nvSpPr>
          <p:cNvPr id="14" name="Oval 13"/>
          <p:cNvSpPr/>
          <p:nvPr/>
        </p:nvSpPr>
        <p:spPr>
          <a:xfrm>
            <a:off x="685800" y="2935224"/>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999232"/>
            <a:ext cx="438912" cy="201168"/>
          </a:xfrm>
          <a:prstGeom prst="rect">
            <a:avLst/>
          </a:prstGeom>
          <a:noFill/>
        </p:spPr>
        <p:txBody>
          <a:bodyPr wrap="square" anchor="t">
            <a:spAutoFit/>
          </a:bodyPr>
          <a:lstStyle/>
          <a:p>
            <a:pPr algn="ctr"/>
            <a:r>
              <a:rPr sz="1100" b="1">
                <a:solidFill>
                  <a:srgbClr val="FFFFFF"/>
                </a:solidFill>
                <a:latin typeface="Aptos"/>
              </a:rPr>
              <a:t>3</a:t>
            </a:r>
          </a:p>
        </p:txBody>
      </p:sp>
      <p:sp>
        <p:nvSpPr>
          <p:cNvPr id="16" name="TextBox 15"/>
          <p:cNvSpPr txBox="1"/>
          <p:nvPr/>
        </p:nvSpPr>
        <p:spPr>
          <a:xfrm>
            <a:off x="1325880" y="2935224"/>
            <a:ext cx="2377440" cy="274320"/>
          </a:xfrm>
          <a:prstGeom prst="rect">
            <a:avLst/>
          </a:prstGeom>
          <a:noFill/>
        </p:spPr>
        <p:txBody>
          <a:bodyPr wrap="square" anchor="t">
            <a:spAutoFit/>
          </a:bodyPr>
          <a:lstStyle/>
          <a:p>
            <a:pPr algn="l"/>
            <a:r>
              <a:rPr sz="1400" b="1">
                <a:solidFill>
                  <a:srgbClr val="0F2238"/>
                </a:solidFill>
                <a:latin typeface="Aptos"/>
              </a:rPr>
              <a:t>Choisir une métrique adaptée</a:t>
            </a:r>
          </a:p>
        </p:txBody>
      </p:sp>
      <p:sp>
        <p:nvSpPr>
          <p:cNvPr id="17" name="TextBox 16"/>
          <p:cNvSpPr txBox="1"/>
          <p:nvPr/>
        </p:nvSpPr>
        <p:spPr>
          <a:xfrm>
            <a:off x="3703320" y="2935224"/>
            <a:ext cx="7315200" cy="365760"/>
          </a:xfrm>
          <a:prstGeom prst="rect">
            <a:avLst/>
          </a:prstGeom>
          <a:noFill/>
        </p:spPr>
        <p:txBody>
          <a:bodyPr wrap="square" anchor="t">
            <a:spAutoFit/>
          </a:bodyPr>
          <a:lstStyle/>
          <a:p>
            <a:pPr algn="l"/>
            <a:r>
              <a:rPr sz="1200" b="0">
                <a:solidFill>
                  <a:srgbClr val="232B32"/>
                </a:solidFill>
                <a:latin typeface="Aptos"/>
              </a:rPr>
              <a:t>Accuracy ≠ suffisante; F1 macro/Recall pour classes rares, RMSE/MAE pour régression.</a:t>
            </a:r>
          </a:p>
        </p:txBody>
      </p:sp>
      <p:sp>
        <p:nvSpPr>
          <p:cNvPr id="18" name="Oval 17"/>
          <p:cNvSpPr/>
          <p:nvPr/>
        </p:nvSpPr>
        <p:spPr>
          <a:xfrm>
            <a:off x="685800" y="3694176"/>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758184"/>
            <a:ext cx="438912" cy="201168"/>
          </a:xfrm>
          <a:prstGeom prst="rect">
            <a:avLst/>
          </a:prstGeom>
          <a:noFill/>
        </p:spPr>
        <p:txBody>
          <a:bodyPr wrap="square" anchor="t">
            <a:spAutoFit/>
          </a:bodyPr>
          <a:lstStyle/>
          <a:p>
            <a:pPr algn="ctr"/>
            <a:r>
              <a:rPr sz="1100" b="1">
                <a:solidFill>
                  <a:srgbClr val="FFFFFF"/>
                </a:solidFill>
                <a:latin typeface="Aptos"/>
              </a:rPr>
              <a:t>4</a:t>
            </a:r>
          </a:p>
        </p:txBody>
      </p:sp>
      <p:sp>
        <p:nvSpPr>
          <p:cNvPr id="20" name="TextBox 19"/>
          <p:cNvSpPr txBox="1"/>
          <p:nvPr/>
        </p:nvSpPr>
        <p:spPr>
          <a:xfrm>
            <a:off x="1325880" y="3694176"/>
            <a:ext cx="2377440" cy="274320"/>
          </a:xfrm>
          <a:prstGeom prst="rect">
            <a:avLst/>
          </a:prstGeom>
          <a:noFill/>
        </p:spPr>
        <p:txBody>
          <a:bodyPr wrap="square" anchor="t">
            <a:spAutoFit/>
          </a:bodyPr>
          <a:lstStyle/>
          <a:p>
            <a:pPr algn="l"/>
            <a:r>
              <a:rPr sz="1400" b="1">
                <a:solidFill>
                  <a:srgbClr val="0F2238"/>
                </a:solidFill>
                <a:latin typeface="Aptos"/>
              </a:rPr>
              <a:t>Valider la stabilité</a:t>
            </a:r>
          </a:p>
        </p:txBody>
      </p:sp>
      <p:sp>
        <p:nvSpPr>
          <p:cNvPr id="21" name="TextBox 20"/>
          <p:cNvSpPr txBox="1"/>
          <p:nvPr/>
        </p:nvSpPr>
        <p:spPr>
          <a:xfrm>
            <a:off x="3703320" y="3694176"/>
            <a:ext cx="7315200" cy="365760"/>
          </a:xfrm>
          <a:prstGeom prst="rect">
            <a:avLst/>
          </a:prstGeom>
          <a:noFill/>
        </p:spPr>
        <p:txBody>
          <a:bodyPr wrap="square" anchor="t">
            <a:spAutoFit/>
          </a:bodyPr>
          <a:lstStyle/>
          <a:p>
            <a:pPr algn="l"/>
            <a:r>
              <a:rPr sz="1200" b="0">
                <a:solidFill>
                  <a:srgbClr val="232B32"/>
                </a:solidFill>
                <a:latin typeface="Aptos"/>
              </a:rPr>
              <a:t>Validation croisée et séparation claire entre sélection et test final.</a:t>
            </a:r>
          </a:p>
        </p:txBody>
      </p:sp>
      <p:sp>
        <p:nvSpPr>
          <p:cNvPr id="22" name="Oval 21"/>
          <p:cNvSpPr/>
          <p:nvPr/>
        </p:nvSpPr>
        <p:spPr>
          <a:xfrm>
            <a:off x="685800" y="4453128"/>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4517136"/>
            <a:ext cx="438912" cy="201168"/>
          </a:xfrm>
          <a:prstGeom prst="rect">
            <a:avLst/>
          </a:prstGeom>
          <a:noFill/>
        </p:spPr>
        <p:txBody>
          <a:bodyPr wrap="square" anchor="t">
            <a:spAutoFit/>
          </a:bodyPr>
          <a:lstStyle/>
          <a:p>
            <a:pPr algn="ctr"/>
            <a:r>
              <a:rPr sz="1100" b="1">
                <a:solidFill>
                  <a:srgbClr val="FFFFFF"/>
                </a:solidFill>
                <a:latin typeface="Aptos"/>
              </a:rPr>
              <a:t>5</a:t>
            </a:r>
          </a:p>
        </p:txBody>
      </p:sp>
      <p:sp>
        <p:nvSpPr>
          <p:cNvPr id="24" name="TextBox 23"/>
          <p:cNvSpPr txBox="1"/>
          <p:nvPr/>
        </p:nvSpPr>
        <p:spPr>
          <a:xfrm>
            <a:off x="1325880" y="4453128"/>
            <a:ext cx="2377440" cy="274320"/>
          </a:xfrm>
          <a:prstGeom prst="rect">
            <a:avLst/>
          </a:prstGeom>
          <a:noFill/>
        </p:spPr>
        <p:txBody>
          <a:bodyPr wrap="square" anchor="t">
            <a:spAutoFit/>
          </a:bodyPr>
          <a:lstStyle/>
          <a:p>
            <a:pPr algn="l"/>
            <a:r>
              <a:rPr sz="1400" b="1">
                <a:solidFill>
                  <a:srgbClr val="0F2238"/>
                </a:solidFill>
                <a:latin typeface="Aptos"/>
              </a:rPr>
              <a:t>Traiter le déséquilibre</a:t>
            </a:r>
          </a:p>
        </p:txBody>
      </p:sp>
      <p:sp>
        <p:nvSpPr>
          <p:cNvPr id="25" name="TextBox 24"/>
          <p:cNvSpPr txBox="1"/>
          <p:nvPr/>
        </p:nvSpPr>
        <p:spPr>
          <a:xfrm>
            <a:off x="3703320" y="4453128"/>
            <a:ext cx="7315200" cy="365760"/>
          </a:xfrm>
          <a:prstGeom prst="rect">
            <a:avLst/>
          </a:prstGeom>
          <a:noFill/>
        </p:spPr>
        <p:txBody>
          <a:bodyPr wrap="square" anchor="t">
            <a:spAutoFit/>
          </a:bodyPr>
          <a:lstStyle/>
          <a:p>
            <a:pPr algn="l"/>
            <a:r>
              <a:rPr sz="1200" b="0">
                <a:solidFill>
                  <a:srgbClr val="232B32"/>
                </a:solidFill>
                <a:latin typeface="Aptos"/>
              </a:rPr>
              <a:t>class_weight, sample_weight et optimisation ciblée du Recall Sévère.</a:t>
            </a:r>
          </a:p>
        </p:txBody>
      </p:sp>
      <p:sp>
        <p:nvSpPr>
          <p:cNvPr id="26" name="Oval 25"/>
          <p:cNvSpPr/>
          <p:nvPr/>
        </p:nvSpPr>
        <p:spPr>
          <a:xfrm>
            <a:off x="685800" y="5212079"/>
            <a:ext cx="438912" cy="438912"/>
          </a:xfrm>
          <a:prstGeom prst="ellipse">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276088"/>
            <a:ext cx="438912" cy="201168"/>
          </a:xfrm>
          <a:prstGeom prst="rect">
            <a:avLst/>
          </a:prstGeom>
          <a:noFill/>
        </p:spPr>
        <p:txBody>
          <a:bodyPr wrap="square" anchor="t">
            <a:spAutoFit/>
          </a:bodyPr>
          <a:lstStyle/>
          <a:p>
            <a:pPr algn="ctr"/>
            <a:r>
              <a:rPr sz="1100" b="1">
                <a:solidFill>
                  <a:srgbClr val="FFFFFF"/>
                </a:solidFill>
                <a:latin typeface="Aptos"/>
              </a:rPr>
              <a:t>6</a:t>
            </a:r>
          </a:p>
        </p:txBody>
      </p:sp>
      <p:sp>
        <p:nvSpPr>
          <p:cNvPr id="28" name="TextBox 27"/>
          <p:cNvSpPr txBox="1"/>
          <p:nvPr/>
        </p:nvSpPr>
        <p:spPr>
          <a:xfrm>
            <a:off x="1325880" y="5212079"/>
            <a:ext cx="2377440" cy="274320"/>
          </a:xfrm>
          <a:prstGeom prst="rect">
            <a:avLst/>
          </a:prstGeom>
          <a:noFill/>
        </p:spPr>
        <p:txBody>
          <a:bodyPr wrap="square" anchor="t">
            <a:spAutoFit/>
          </a:bodyPr>
          <a:lstStyle/>
          <a:p>
            <a:pPr algn="l"/>
            <a:r>
              <a:rPr sz="1400" b="1">
                <a:solidFill>
                  <a:srgbClr val="0F2238"/>
                </a:solidFill>
                <a:latin typeface="Aptos"/>
              </a:rPr>
              <a:t>Industrialiser</a:t>
            </a:r>
          </a:p>
        </p:txBody>
      </p:sp>
      <p:sp>
        <p:nvSpPr>
          <p:cNvPr id="29" name="TextBox 28"/>
          <p:cNvSpPr txBox="1"/>
          <p:nvPr/>
        </p:nvSpPr>
        <p:spPr>
          <a:xfrm>
            <a:off x="3703320" y="5212079"/>
            <a:ext cx="7315200" cy="365760"/>
          </a:xfrm>
          <a:prstGeom prst="rect">
            <a:avLst/>
          </a:prstGeom>
          <a:noFill/>
        </p:spPr>
        <p:txBody>
          <a:bodyPr wrap="square" anchor="t">
            <a:spAutoFit/>
          </a:bodyPr>
          <a:lstStyle/>
          <a:p>
            <a:pPr algn="l"/>
            <a:r>
              <a:rPr sz="1200" b="0">
                <a:solidFill>
                  <a:srgbClr val="232B32"/>
                </a:solidFill>
                <a:latin typeface="Aptos"/>
              </a:rPr>
              <a:t>Sauvegarde des modèles, MLflow, GitHub Actions et interface Streamlit.</a:t>
            </a:r>
          </a:p>
        </p:txBody>
      </p:sp>
      <p:sp>
        <p:nvSpPr>
          <p:cNvPr id="30" name="TextBox 29"/>
          <p:cNvSpPr txBox="1"/>
          <p:nvPr/>
        </p:nvSpPr>
        <p:spPr>
          <a:xfrm>
            <a:off x="594360" y="6528816"/>
            <a:ext cx="10972800" cy="164592"/>
          </a:xfrm>
          <a:prstGeom prst="rect">
            <a:avLst/>
          </a:prstGeom>
          <a:noFill/>
        </p:spPr>
        <p:txBody>
          <a:bodyPr wrap="square" anchor="t">
            <a:spAutoFit/>
          </a:bodyPr>
          <a:lstStyle/>
          <a:p>
            <a:pPr algn="l"/>
            <a:r>
              <a:rPr sz="800" b="0">
                <a:solidFill>
                  <a:srgbClr val="626F7B"/>
                </a:solidFill>
                <a:latin typeface="Aptos"/>
              </a:rPr>
              <a:t>Synthèse pédagogique des notebooks et du workflow du projet.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238"/>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3657600" cy="457200"/>
          </a:xfrm>
          <a:prstGeom prst="rect">
            <a:avLst/>
          </a:prstGeom>
          <a:noFill/>
        </p:spPr>
        <p:txBody>
          <a:bodyPr wrap="square" anchor="t">
            <a:spAutoFit/>
          </a:bodyPr>
          <a:lstStyle/>
          <a:p>
            <a:pPr algn="l"/>
            <a:r>
              <a:rPr sz="2900" b="1">
                <a:solidFill>
                  <a:srgbClr val="FFFFFF"/>
                </a:solidFill>
                <a:latin typeface="Aptos"/>
              </a:rPr>
              <a:t>Conclusion</a:t>
            </a:r>
          </a:p>
        </p:txBody>
      </p:sp>
      <p:sp>
        <p:nvSpPr>
          <p:cNvPr id="3" name="TextBox 2"/>
          <p:cNvSpPr txBox="1"/>
          <p:nvPr/>
        </p:nvSpPr>
        <p:spPr>
          <a:xfrm>
            <a:off x="713232" y="1417320"/>
            <a:ext cx="9875520" cy="594360"/>
          </a:xfrm>
          <a:prstGeom prst="rect">
            <a:avLst/>
          </a:prstGeom>
          <a:noFill/>
        </p:spPr>
        <p:txBody>
          <a:bodyPr wrap="square" anchor="t">
            <a:spAutoFit/>
          </a:bodyPr>
          <a:lstStyle/>
          <a:p>
            <a:pPr algn="l"/>
            <a:r>
              <a:rPr sz="2300" b="1">
                <a:solidFill>
                  <a:srgbClr val="D3E7EF"/>
                </a:solidFill>
                <a:latin typeface="Aptos"/>
              </a:rPr>
              <a:t>Le champion dépend du problème — pas seulement du score.</a:t>
            </a:r>
          </a:p>
        </p:txBody>
      </p:sp>
      <p:sp>
        <p:nvSpPr>
          <p:cNvPr id="4" name="Rounded Rectangle 3"/>
          <p:cNvSpPr/>
          <p:nvPr/>
        </p:nvSpPr>
        <p:spPr>
          <a:xfrm>
            <a:off x="731520" y="2743200"/>
            <a:ext cx="342900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889504"/>
            <a:ext cx="3099816" cy="320040"/>
          </a:xfrm>
          <a:prstGeom prst="rect">
            <a:avLst/>
          </a:prstGeom>
          <a:noFill/>
        </p:spPr>
        <p:txBody>
          <a:bodyPr wrap="square" anchor="t">
            <a:spAutoFit/>
          </a:bodyPr>
          <a:lstStyle/>
          <a:p>
            <a:pPr algn="l"/>
            <a:r>
              <a:rPr sz="1500" b="1">
                <a:solidFill>
                  <a:srgbClr val="B44141"/>
                </a:solidFill>
                <a:latin typeface="Aptos"/>
              </a:rPr>
              <a:t>Classification critique</a:t>
            </a:r>
          </a:p>
        </p:txBody>
      </p:sp>
      <p:sp>
        <p:nvSpPr>
          <p:cNvPr id="6" name="TextBox 5"/>
          <p:cNvSpPr txBox="1"/>
          <p:nvPr/>
        </p:nvSpPr>
        <p:spPr>
          <a:xfrm>
            <a:off x="896112" y="3273552"/>
            <a:ext cx="3099816" cy="1399032"/>
          </a:xfrm>
          <a:prstGeom prst="rect">
            <a:avLst/>
          </a:prstGeom>
          <a:noFill/>
        </p:spPr>
        <p:txBody>
          <a:bodyPr wrap="square" anchor="t">
            <a:spAutoFit/>
          </a:bodyPr>
          <a:lstStyle/>
          <a:p>
            <a:pPr algn="l"/>
            <a:r>
              <a:rPr sz="1100" b="0">
                <a:solidFill>
                  <a:srgbClr val="232B32"/>
                </a:solidFill>
                <a:latin typeface="Aptos"/>
              </a:rPr>
              <a:t>Réduire les faux négatifs → Recall, puis F1 pour garder un équilibre.</a:t>
            </a:r>
          </a:p>
        </p:txBody>
      </p:sp>
      <p:sp>
        <p:nvSpPr>
          <p:cNvPr id="7" name="Rounded Rectangle 6"/>
          <p:cNvSpPr/>
          <p:nvPr/>
        </p:nvSpPr>
        <p:spPr>
          <a:xfrm>
            <a:off x="4526280" y="2743200"/>
            <a:ext cx="342900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90872" y="2889504"/>
            <a:ext cx="3099816" cy="320040"/>
          </a:xfrm>
          <a:prstGeom prst="rect">
            <a:avLst/>
          </a:prstGeom>
          <a:noFill/>
        </p:spPr>
        <p:txBody>
          <a:bodyPr wrap="square" anchor="t">
            <a:spAutoFit/>
          </a:bodyPr>
          <a:lstStyle/>
          <a:p>
            <a:pPr algn="l"/>
            <a:r>
              <a:rPr sz="1500" b="1">
                <a:solidFill>
                  <a:srgbClr val="36A2BF"/>
                </a:solidFill>
                <a:latin typeface="Aptos"/>
              </a:rPr>
              <a:t>Régression</a:t>
            </a:r>
          </a:p>
        </p:txBody>
      </p:sp>
      <p:sp>
        <p:nvSpPr>
          <p:cNvPr id="9" name="TextBox 8"/>
          <p:cNvSpPr txBox="1"/>
          <p:nvPr/>
        </p:nvSpPr>
        <p:spPr>
          <a:xfrm>
            <a:off x="4690872" y="3273552"/>
            <a:ext cx="3099816" cy="1399032"/>
          </a:xfrm>
          <a:prstGeom prst="rect">
            <a:avLst/>
          </a:prstGeom>
          <a:noFill/>
        </p:spPr>
        <p:txBody>
          <a:bodyPr wrap="square" anchor="t">
            <a:spAutoFit/>
          </a:bodyPr>
          <a:lstStyle/>
          <a:p>
            <a:pPr algn="l"/>
            <a:r>
              <a:rPr sz="1100" b="0">
                <a:solidFill>
                  <a:srgbClr val="232B32"/>
                </a:solidFill>
                <a:latin typeface="Aptos"/>
              </a:rPr>
              <a:t>Mesurer la taille des erreurs → MAE/RMSE, avec attention aux grosses erreurs.</a:t>
            </a:r>
          </a:p>
        </p:txBody>
      </p:sp>
      <p:sp>
        <p:nvSpPr>
          <p:cNvPr id="10" name="Rounded Rectangle 9"/>
          <p:cNvSpPr/>
          <p:nvPr/>
        </p:nvSpPr>
        <p:spPr>
          <a:xfrm>
            <a:off x="8321040" y="2743200"/>
            <a:ext cx="342900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85632" y="2889504"/>
            <a:ext cx="3099816" cy="320040"/>
          </a:xfrm>
          <a:prstGeom prst="rect">
            <a:avLst/>
          </a:prstGeom>
          <a:noFill/>
        </p:spPr>
        <p:txBody>
          <a:bodyPr wrap="square" anchor="t">
            <a:spAutoFit/>
          </a:bodyPr>
          <a:lstStyle/>
          <a:p>
            <a:pPr algn="l"/>
            <a:r>
              <a:rPr sz="1500" b="1">
                <a:solidFill>
                  <a:srgbClr val="2E7D5A"/>
                </a:solidFill>
                <a:latin typeface="Aptos"/>
              </a:rPr>
              <a:t>Décision métier</a:t>
            </a:r>
          </a:p>
        </p:txBody>
      </p:sp>
      <p:sp>
        <p:nvSpPr>
          <p:cNvPr id="12" name="TextBox 11"/>
          <p:cNvSpPr txBox="1"/>
          <p:nvPr/>
        </p:nvSpPr>
        <p:spPr>
          <a:xfrm>
            <a:off x="8485632" y="3273552"/>
            <a:ext cx="3099816" cy="1399032"/>
          </a:xfrm>
          <a:prstGeom prst="rect">
            <a:avLst/>
          </a:prstGeom>
          <a:noFill/>
        </p:spPr>
        <p:txBody>
          <a:bodyPr wrap="square" anchor="t">
            <a:spAutoFit/>
          </a:bodyPr>
          <a:lstStyle/>
          <a:p>
            <a:pPr algn="l"/>
            <a:r>
              <a:rPr sz="1100" b="0">
                <a:solidFill>
                  <a:srgbClr val="232B32"/>
                </a:solidFill>
                <a:latin typeface="Aptos"/>
              </a:rPr>
              <a:t>Un modèle performant doit rester cohérent, explicable et validé sur des données représentatives.</a:t>
            </a:r>
          </a:p>
        </p:txBody>
      </p:sp>
      <p:sp>
        <p:nvSpPr>
          <p:cNvPr id="13" name="TextBox 12"/>
          <p:cNvSpPr txBox="1"/>
          <p:nvPr/>
        </p:nvSpPr>
        <p:spPr>
          <a:xfrm>
            <a:off x="777240" y="5532120"/>
            <a:ext cx="10607040" cy="502920"/>
          </a:xfrm>
          <a:prstGeom prst="rect">
            <a:avLst/>
          </a:prstGeom>
          <a:noFill/>
        </p:spPr>
        <p:txBody>
          <a:bodyPr wrap="square" anchor="t">
            <a:spAutoFit/>
          </a:bodyPr>
          <a:lstStyle/>
          <a:p>
            <a:pPr algn="ctr"/>
            <a:r>
              <a:rPr sz="1400" b="1">
                <a:solidFill>
                  <a:srgbClr val="FFFFFF"/>
                </a:solidFill>
                <a:latin typeface="Aptos"/>
              </a:rPr>
              <a:t>Random Forest domine plusieurs étapes du TP, LightGBM gagne sur les facteurs de risque, Gradient Boosting sur les pertes économiques.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515600" cy="502920"/>
          </a:xfrm>
          <a:prstGeom prst="rect">
            <a:avLst/>
          </a:prstGeom>
          <a:noFill/>
        </p:spPr>
        <p:txBody>
          <a:bodyPr wrap="square" anchor="t">
            <a:spAutoFit/>
          </a:bodyPr>
          <a:lstStyle/>
          <a:p>
            <a:pPr algn="l"/>
            <a:r>
              <a:rPr sz="2700" b="1">
                <a:solidFill>
                  <a:srgbClr val="0F2238"/>
                </a:solidFill>
                <a:latin typeface="Aptos"/>
              </a:rPr>
              <a:t>MLflow — tracer, comparer et enregistrer les modèles</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411480"/>
          </a:xfrm>
          <a:prstGeom prst="rect">
            <a:avLst/>
          </a:prstGeom>
          <a:noFill/>
        </p:spPr>
        <p:txBody>
          <a:bodyPr wrap="square" anchor="t">
            <a:spAutoFit/>
          </a:bodyPr>
          <a:lstStyle/>
          <a:p>
            <a:pPr algn="l"/>
            <a:r>
              <a:rPr sz="1200" b="0">
                <a:solidFill>
                  <a:srgbClr val="626F7B"/>
                </a:solidFill>
                <a:latin typeface="Aptos"/>
              </a:rPr>
              <a:t>MLflow est intégré dans plusieurs notebooks : les expériences ne restent pas seulement dans les sorties Jupyter.</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16</a:t>
            </a:r>
          </a:p>
        </p:txBody>
      </p:sp>
      <p:sp>
        <p:nvSpPr>
          <p:cNvPr id="6" name="Rounded Rectangle 5"/>
          <p:cNvSpPr/>
          <p:nvPr/>
        </p:nvSpPr>
        <p:spPr>
          <a:xfrm>
            <a:off x="640080" y="1508760"/>
            <a:ext cx="34290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655063"/>
            <a:ext cx="3099816" cy="329184"/>
          </a:xfrm>
          <a:prstGeom prst="rect">
            <a:avLst/>
          </a:prstGeom>
          <a:noFill/>
        </p:spPr>
        <p:txBody>
          <a:bodyPr wrap="square" anchor="t">
            <a:spAutoFit/>
          </a:bodyPr>
          <a:lstStyle/>
          <a:p>
            <a:pPr algn="l"/>
            <a:r>
              <a:rPr sz="1500" b="1">
                <a:solidFill>
                  <a:srgbClr val="215E91"/>
                </a:solidFill>
                <a:latin typeface="Aptos"/>
              </a:rPr>
              <a:t>Tracking des expériences</a:t>
            </a:r>
          </a:p>
        </p:txBody>
      </p:sp>
      <p:sp>
        <p:nvSpPr>
          <p:cNvPr id="8" name="TextBox 7"/>
          <p:cNvSpPr txBox="1"/>
          <p:nvPr/>
        </p:nvSpPr>
        <p:spPr>
          <a:xfrm>
            <a:off x="804671" y="2039112"/>
            <a:ext cx="3099816" cy="758952"/>
          </a:xfrm>
          <a:prstGeom prst="rect">
            <a:avLst/>
          </a:prstGeom>
          <a:noFill/>
        </p:spPr>
        <p:txBody>
          <a:bodyPr wrap="square" anchor="t">
            <a:spAutoFit/>
          </a:bodyPr>
          <a:lstStyle/>
          <a:p>
            <a:pPr algn="l"/>
            <a:r>
              <a:rPr sz="1100" b="0">
                <a:solidFill>
                  <a:srgbClr val="232B32"/>
                </a:solidFill>
                <a:latin typeface="Aptos"/>
              </a:rPr>
              <a:t>Les notebooks enregistrent les runs, paramètres et métriques afin de comparer les algorithmes de manière traçable.</a:t>
            </a:r>
          </a:p>
        </p:txBody>
      </p:sp>
      <p:sp>
        <p:nvSpPr>
          <p:cNvPr id="9" name="Rounded Rectangle 8"/>
          <p:cNvSpPr/>
          <p:nvPr/>
        </p:nvSpPr>
        <p:spPr>
          <a:xfrm>
            <a:off x="4389120" y="1508760"/>
            <a:ext cx="34290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53712" y="1655063"/>
            <a:ext cx="3099816" cy="329184"/>
          </a:xfrm>
          <a:prstGeom prst="rect">
            <a:avLst/>
          </a:prstGeom>
          <a:noFill/>
        </p:spPr>
        <p:txBody>
          <a:bodyPr wrap="square" anchor="t">
            <a:spAutoFit/>
          </a:bodyPr>
          <a:lstStyle/>
          <a:p>
            <a:pPr algn="l"/>
            <a:r>
              <a:rPr sz="1500" b="1">
                <a:solidFill>
                  <a:srgbClr val="36A2BF"/>
                </a:solidFill>
                <a:latin typeface="Aptos"/>
              </a:rPr>
              <a:t>Comparaison des métriques</a:t>
            </a:r>
          </a:p>
        </p:txBody>
      </p:sp>
      <p:sp>
        <p:nvSpPr>
          <p:cNvPr id="11" name="TextBox 10"/>
          <p:cNvSpPr txBox="1"/>
          <p:nvPr/>
        </p:nvSpPr>
        <p:spPr>
          <a:xfrm>
            <a:off x="4553712" y="2039112"/>
            <a:ext cx="3099816" cy="758952"/>
          </a:xfrm>
          <a:prstGeom prst="rect">
            <a:avLst/>
          </a:prstGeom>
          <a:noFill/>
        </p:spPr>
        <p:txBody>
          <a:bodyPr wrap="square" anchor="t">
            <a:spAutoFit/>
          </a:bodyPr>
          <a:lstStyle/>
          <a:p>
            <a:pPr algn="l"/>
            <a:r>
              <a:rPr sz="1100" b="0">
                <a:solidFill>
                  <a:srgbClr val="232B32"/>
                </a:solidFill>
                <a:latin typeface="Aptos"/>
              </a:rPr>
              <a:t>Exemples suivis : Accuracy, Precision, Recall, F1 pour la classification; R², MAE et RMSE pour la régression.</a:t>
            </a:r>
          </a:p>
        </p:txBody>
      </p:sp>
      <p:sp>
        <p:nvSpPr>
          <p:cNvPr id="12" name="Rounded Rectangle 11"/>
          <p:cNvSpPr/>
          <p:nvPr/>
        </p:nvSpPr>
        <p:spPr>
          <a:xfrm>
            <a:off x="8138160" y="1508760"/>
            <a:ext cx="34290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655063"/>
            <a:ext cx="3099816" cy="329184"/>
          </a:xfrm>
          <a:prstGeom prst="rect">
            <a:avLst/>
          </a:prstGeom>
          <a:noFill/>
        </p:spPr>
        <p:txBody>
          <a:bodyPr wrap="square" anchor="t">
            <a:spAutoFit/>
          </a:bodyPr>
          <a:lstStyle/>
          <a:p>
            <a:pPr algn="l"/>
            <a:r>
              <a:rPr sz="1500" b="1">
                <a:solidFill>
                  <a:srgbClr val="2E7D5A"/>
                </a:solidFill>
                <a:latin typeface="Aptos"/>
              </a:rPr>
              <a:t>Model Registry</a:t>
            </a:r>
          </a:p>
        </p:txBody>
      </p:sp>
      <p:sp>
        <p:nvSpPr>
          <p:cNvPr id="14" name="TextBox 13"/>
          <p:cNvSpPr txBox="1"/>
          <p:nvPr/>
        </p:nvSpPr>
        <p:spPr>
          <a:xfrm>
            <a:off x="8302752" y="2039112"/>
            <a:ext cx="3099816" cy="758952"/>
          </a:xfrm>
          <a:prstGeom prst="rect">
            <a:avLst/>
          </a:prstGeom>
          <a:noFill/>
        </p:spPr>
        <p:txBody>
          <a:bodyPr wrap="square" anchor="t">
            <a:spAutoFit/>
          </a:bodyPr>
          <a:lstStyle/>
          <a:p>
            <a:pPr algn="l"/>
            <a:r>
              <a:rPr sz="1100" b="0">
                <a:solidFill>
                  <a:srgbClr val="232B32"/>
                </a:solidFill>
                <a:latin typeface="Aptos"/>
              </a:rPr>
              <a:t>Le modèle champion peut être enregistré et versionné. Le notebook Risk Zone enregistre notamment Risk_Zone_Champion_Model.</a:t>
            </a:r>
          </a:p>
        </p:txBody>
      </p:sp>
      <p:graphicFrame>
        <p:nvGraphicFramePr>
          <p:cNvPr id="15" name="Table 14"/>
          <p:cNvGraphicFramePr>
            <a:graphicFrameLocks noGrp="1"/>
          </p:cNvGraphicFramePr>
          <p:nvPr/>
        </p:nvGraphicFramePr>
        <p:xfrm>
          <a:off x="777240" y="3337560"/>
          <a:ext cx="6583680" cy="20574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514350">
                <a:tc>
                  <a:txBody>
                    <a:bodyPr/>
                    <a:lstStyle/>
                    <a:p>
                      <a:pPr algn="l"/>
                      <a:r>
                        <a:rPr sz="1100" b="1">
                          <a:solidFill>
                            <a:srgbClr val="FFFFFF"/>
                          </a:solidFill>
                          <a:latin typeface="Aptos"/>
                        </a:rPr>
                        <a:t>Expérience observée</a:t>
                      </a:r>
                    </a:p>
                  </a:txBody>
                  <a:tcPr>
                    <a:solidFill>
                      <a:srgbClr val="0F2238"/>
                    </a:solidFill>
                  </a:tcPr>
                </a:tc>
                <a:tc>
                  <a:txBody>
                    <a:bodyPr/>
                    <a:lstStyle/>
                    <a:p>
                      <a:pPr algn="ctr"/>
                      <a:r>
                        <a:rPr sz="1100" b="1">
                          <a:solidFill>
                            <a:srgbClr val="FFFFFF"/>
                          </a:solidFill>
                          <a:latin typeface="Aptos"/>
                        </a:rPr>
                        <a:t>Exemple de modèles / suivi</a:t>
                      </a:r>
                    </a:p>
                  </a:txBody>
                  <a:tcPr>
                    <a:solidFill>
                      <a:srgbClr val="0F2238"/>
                    </a:solidFill>
                  </a:tcPr>
                </a:tc>
                <a:extLst>
                  <a:ext uri="{0D108BD9-81ED-4DB2-BD59-A6C34878D82A}">
                    <a16:rowId xmlns:a16="http://schemas.microsoft.com/office/drawing/2014/main" val="10000"/>
                  </a:ext>
                </a:extLst>
              </a:tr>
              <a:tr h="514350">
                <a:tc>
                  <a:txBody>
                    <a:bodyPr/>
                    <a:lstStyle/>
                    <a:p>
                      <a:pPr algn="l"/>
                      <a:r>
                        <a:rPr sz="1100" b="0">
                          <a:solidFill>
                            <a:srgbClr val="232B32"/>
                          </a:solidFill>
                          <a:latin typeface="Aptos"/>
                        </a:rPr>
                        <a:t>Risk_Zone_Model_2</a:t>
                      </a:r>
                    </a:p>
                  </a:txBody>
                  <a:tcPr>
                    <a:solidFill>
                      <a:srgbClr val="FFFFFF"/>
                    </a:solidFill>
                  </a:tcPr>
                </a:tc>
                <a:tc>
                  <a:txBody>
                    <a:bodyPr/>
                    <a:lstStyle/>
                    <a:p>
                      <a:pPr algn="ctr"/>
                      <a:r>
                        <a:rPr sz="1100" b="0">
                          <a:solidFill>
                            <a:srgbClr val="232B32"/>
                          </a:solidFill>
                          <a:latin typeface="Aptos"/>
                        </a:rPr>
                        <a:t>KNN • Decision Tree • Random Forest</a:t>
                      </a:r>
                    </a:p>
                  </a:txBody>
                  <a:tcPr>
                    <a:solidFill>
                      <a:srgbClr val="FFFFFF"/>
                    </a:solidFill>
                  </a:tcPr>
                </a:tc>
                <a:extLst>
                  <a:ext uri="{0D108BD9-81ED-4DB2-BD59-A6C34878D82A}">
                    <a16:rowId xmlns:a16="http://schemas.microsoft.com/office/drawing/2014/main" val="10001"/>
                  </a:ext>
                </a:extLst>
              </a:tr>
              <a:tr h="514350">
                <a:tc>
                  <a:txBody>
                    <a:bodyPr/>
                    <a:lstStyle/>
                    <a:p>
                      <a:pPr algn="l"/>
                      <a:r>
                        <a:rPr sz="1100" b="0">
                          <a:solidFill>
                            <a:srgbClr val="232B32"/>
                          </a:solidFill>
                          <a:latin typeface="Aptos"/>
                        </a:rPr>
                        <a:t>Risk Factors</a:t>
                      </a:r>
                    </a:p>
                  </a:txBody>
                  <a:tcPr>
                    <a:solidFill>
                      <a:srgbClr val="F5F7F9"/>
                    </a:solidFill>
                  </a:tcPr>
                </a:tc>
                <a:tc>
                  <a:txBody>
                    <a:bodyPr/>
                    <a:lstStyle/>
                    <a:p>
                      <a:pPr algn="ctr"/>
                      <a:r>
                        <a:rPr sz="1100" b="0">
                          <a:solidFill>
                            <a:srgbClr val="232B32"/>
                          </a:solidFill>
                          <a:latin typeface="Aptos"/>
                        </a:rPr>
                        <a:t>LightGBM • XGBoost • Random Forest</a:t>
                      </a:r>
                    </a:p>
                  </a:txBody>
                  <a:tcPr>
                    <a:solidFill>
                      <a:srgbClr val="F5F7F9"/>
                    </a:solidFill>
                  </a:tcPr>
                </a:tc>
                <a:extLst>
                  <a:ext uri="{0D108BD9-81ED-4DB2-BD59-A6C34878D82A}">
                    <a16:rowId xmlns:a16="http://schemas.microsoft.com/office/drawing/2014/main" val="10002"/>
                  </a:ext>
                </a:extLst>
              </a:tr>
              <a:tr h="514350">
                <a:tc>
                  <a:txBody>
                    <a:bodyPr/>
                    <a:lstStyle/>
                    <a:p>
                      <a:pPr algn="l"/>
                      <a:r>
                        <a:rPr sz="1100" b="0">
                          <a:solidFill>
                            <a:srgbClr val="232B32"/>
                          </a:solidFill>
                          <a:latin typeface="Aptos"/>
                        </a:rPr>
                        <a:t>Model_7_Economic_Loss</a:t>
                      </a:r>
                    </a:p>
                  </a:txBody>
                  <a:tcPr>
                    <a:solidFill>
                      <a:srgbClr val="FFFFFF"/>
                    </a:solidFill>
                  </a:tcPr>
                </a:tc>
                <a:tc>
                  <a:txBody>
                    <a:bodyPr/>
                    <a:lstStyle/>
                    <a:p>
                      <a:pPr algn="ctr"/>
                      <a:r>
                        <a:rPr sz="1100" b="0">
                          <a:solidFill>
                            <a:srgbClr val="232B32"/>
                          </a:solidFill>
                          <a:latin typeface="Aptos"/>
                        </a:rPr>
                        <a:t>Gradient Boosting + Registry</a:t>
                      </a:r>
                    </a:p>
                  </a:txBody>
                  <a:tcPr>
                    <a:solidFill>
                      <a:srgbClr val="FFFFFF"/>
                    </a:solidFill>
                  </a:tcPr>
                </a:tc>
                <a:extLst>
                  <a:ext uri="{0D108BD9-81ED-4DB2-BD59-A6C34878D82A}">
                    <a16:rowId xmlns:a16="http://schemas.microsoft.com/office/drawing/2014/main" val="10003"/>
                  </a:ext>
                </a:extLst>
              </a:tr>
            </a:tbl>
          </a:graphicData>
        </a:graphic>
      </p:graphicFrame>
      <p:sp>
        <p:nvSpPr>
          <p:cNvPr id="16" name="Rounded Rectangle 15"/>
          <p:cNvSpPr/>
          <p:nvPr/>
        </p:nvSpPr>
        <p:spPr>
          <a:xfrm>
            <a:off x="7726679" y="3337560"/>
            <a:ext cx="3611880" cy="205740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91271" y="3483864"/>
            <a:ext cx="3282696" cy="329184"/>
          </a:xfrm>
          <a:prstGeom prst="rect">
            <a:avLst/>
          </a:prstGeom>
          <a:noFill/>
        </p:spPr>
        <p:txBody>
          <a:bodyPr wrap="square" anchor="t">
            <a:spAutoFit/>
          </a:bodyPr>
          <a:lstStyle/>
          <a:p>
            <a:pPr algn="l"/>
            <a:r>
              <a:rPr sz="1500" b="1">
                <a:solidFill>
                  <a:srgbClr val="DA8437"/>
                </a:solidFill>
                <a:latin typeface="Aptos"/>
              </a:rPr>
              <a:t>Serveur MLflow</a:t>
            </a:r>
          </a:p>
        </p:txBody>
      </p:sp>
      <p:sp>
        <p:nvSpPr>
          <p:cNvPr id="18" name="TextBox 17"/>
          <p:cNvSpPr txBox="1"/>
          <p:nvPr/>
        </p:nvSpPr>
        <p:spPr>
          <a:xfrm>
            <a:off x="7891271" y="3867911"/>
            <a:ext cx="3282696" cy="938719"/>
          </a:xfrm>
          <a:prstGeom prst="rect">
            <a:avLst/>
          </a:prstGeom>
          <a:noFill/>
        </p:spPr>
        <p:txBody>
          <a:bodyPr wrap="square" anchor="t">
            <a:spAutoFit/>
          </a:bodyPr>
          <a:lstStyle/>
          <a:p>
            <a:pPr algn="l"/>
            <a:r>
              <a:rPr sz="1100" b="0" dirty="0">
                <a:solidFill>
                  <a:srgbClr val="232B32"/>
                </a:solidFill>
                <a:latin typeface="Aptos"/>
              </a:rPr>
              <a:t>Tracking URI </a:t>
            </a:r>
            <a:r>
              <a:rPr lang="fr-CA" sz="1100" b="0" dirty="0">
                <a:solidFill>
                  <a:srgbClr val="232B32"/>
                </a:solidFill>
                <a:latin typeface="Aptos"/>
              </a:rPr>
              <a:t>utilisé</a:t>
            </a:r>
            <a:r>
              <a:rPr sz="1100" b="0" dirty="0">
                <a:solidFill>
                  <a:srgbClr val="232B32"/>
                </a:solidFill>
                <a:latin typeface="Aptos"/>
              </a:rPr>
              <a:t> dans les notebooks :
</a:t>
            </a:r>
            <a:r>
              <a:rPr sz="1100" b="0" dirty="0">
                <a:solidFill>
                  <a:srgbClr val="232B32"/>
                </a:solidFill>
                <a:latin typeface="Aptos"/>
                <a:hlinkClick r:id="rId2"/>
              </a:rPr>
              <a:t>http://194.238.26.226:5000</a:t>
            </a:r>
            <a:r>
              <a:rPr sz="1100" b="0" dirty="0">
                <a:solidFill>
                  <a:srgbClr val="232B32"/>
                </a:solidFill>
                <a:latin typeface="Aptos"/>
              </a:rPr>
              <a:t>
But : conserver </a:t>
            </a:r>
            <a:r>
              <a:rPr lang="fr-CA" sz="1100" b="0" dirty="0">
                <a:solidFill>
                  <a:srgbClr val="232B32"/>
                </a:solidFill>
                <a:latin typeface="Aptos"/>
              </a:rPr>
              <a:t>l’historique</a:t>
            </a:r>
            <a:r>
              <a:rPr sz="1100" b="0" dirty="0">
                <a:solidFill>
                  <a:srgbClr val="232B32"/>
                </a:solidFill>
                <a:latin typeface="Aptos"/>
              </a:rPr>
              <a:t> des </a:t>
            </a:r>
            <a:r>
              <a:rPr lang="fr-CA" sz="1100" b="0" dirty="0">
                <a:solidFill>
                  <a:srgbClr val="232B32"/>
                </a:solidFill>
                <a:latin typeface="Aptos"/>
              </a:rPr>
              <a:t>expériences</a:t>
            </a:r>
            <a:r>
              <a:rPr sz="1100" b="0" dirty="0">
                <a:solidFill>
                  <a:srgbClr val="232B32"/>
                </a:solidFill>
                <a:latin typeface="Aptos"/>
              </a:rPr>
              <a:t> et justifier le choix du champion.</a:t>
            </a:r>
          </a:p>
        </p:txBody>
      </p:sp>
      <p:sp>
        <p:nvSpPr>
          <p:cNvPr id="19" name="TextBox 18"/>
          <p:cNvSpPr txBox="1"/>
          <p:nvPr/>
        </p:nvSpPr>
        <p:spPr>
          <a:xfrm>
            <a:off x="594360" y="6510528"/>
            <a:ext cx="10972800" cy="182880"/>
          </a:xfrm>
          <a:prstGeom prst="rect">
            <a:avLst/>
          </a:prstGeom>
          <a:noFill/>
        </p:spPr>
        <p:txBody>
          <a:bodyPr wrap="square" anchor="t">
            <a:spAutoFit/>
          </a:bodyPr>
          <a:lstStyle/>
          <a:p>
            <a:pPr algn="l"/>
            <a:r>
              <a:rPr sz="800" b="0">
                <a:solidFill>
                  <a:srgbClr val="626F7B"/>
                </a:solidFill>
                <a:latin typeface="Aptos"/>
              </a:rPr>
              <a:t>Sources : notebooks 02, 04 et 07; README fourni dans la conversation.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515600" cy="502920"/>
          </a:xfrm>
          <a:prstGeom prst="rect">
            <a:avLst/>
          </a:prstGeom>
          <a:noFill/>
        </p:spPr>
        <p:txBody>
          <a:bodyPr wrap="square" anchor="t">
            <a:spAutoFit/>
          </a:bodyPr>
          <a:lstStyle/>
          <a:p>
            <a:pPr algn="l"/>
            <a:r>
              <a:rPr sz="2700" b="1">
                <a:solidFill>
                  <a:srgbClr val="0F2238"/>
                </a:solidFill>
                <a:latin typeface="Aptos"/>
              </a:rPr>
              <a:t>GitHub Actions — automatiser les vérifications</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411480"/>
          </a:xfrm>
          <a:prstGeom prst="rect">
            <a:avLst/>
          </a:prstGeom>
          <a:noFill/>
        </p:spPr>
        <p:txBody>
          <a:bodyPr wrap="square" anchor="t">
            <a:spAutoFit/>
          </a:bodyPr>
          <a:lstStyle/>
          <a:p>
            <a:pPr algn="l"/>
            <a:r>
              <a:rPr sz="1200" b="0">
                <a:solidFill>
                  <a:srgbClr val="626F7B"/>
                </a:solidFill>
                <a:latin typeface="Aptos"/>
              </a:rPr>
              <a:t>Le dépôt contient .github/workflows et le README décrit une CI/CD exécutant automatiquement les vérifications du projet.</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17</a:t>
            </a:r>
          </a:p>
        </p:txBody>
      </p:sp>
      <p:sp>
        <p:nvSpPr>
          <p:cNvPr id="6" name="Rounded Rectangle 5"/>
          <p:cNvSpPr/>
          <p:nvPr/>
        </p:nvSpPr>
        <p:spPr>
          <a:xfrm>
            <a:off x="594360" y="1600200"/>
            <a:ext cx="2286000" cy="1051560"/>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01368"/>
            <a:ext cx="320040" cy="228600"/>
          </a:xfrm>
          <a:prstGeom prst="rect">
            <a:avLst/>
          </a:prstGeom>
          <a:noFill/>
        </p:spPr>
        <p:txBody>
          <a:bodyPr wrap="square" anchor="t">
            <a:spAutoFit/>
          </a:bodyPr>
          <a:lstStyle/>
          <a:p>
            <a:pPr algn="ctr"/>
            <a:r>
              <a:rPr sz="1400" b="1">
                <a:solidFill>
                  <a:srgbClr val="36A2BF"/>
                </a:solidFill>
                <a:latin typeface="Aptos"/>
              </a:rPr>
              <a:t>1</a:t>
            </a:r>
          </a:p>
        </p:txBody>
      </p:sp>
      <p:sp>
        <p:nvSpPr>
          <p:cNvPr id="8" name="TextBox 7"/>
          <p:cNvSpPr txBox="1"/>
          <p:nvPr/>
        </p:nvSpPr>
        <p:spPr>
          <a:xfrm>
            <a:off x="1033271" y="1755648"/>
            <a:ext cx="1664208" cy="502920"/>
          </a:xfrm>
          <a:prstGeom prst="rect">
            <a:avLst/>
          </a:prstGeom>
          <a:noFill/>
        </p:spPr>
        <p:txBody>
          <a:bodyPr wrap="square" anchor="t">
            <a:spAutoFit/>
          </a:bodyPr>
          <a:lstStyle/>
          <a:p>
            <a:pPr algn="ctr"/>
            <a:r>
              <a:rPr sz="1200" b="1">
                <a:solidFill>
                  <a:srgbClr val="0F2238"/>
                </a:solidFill>
                <a:latin typeface="Aptos"/>
              </a:rPr>
              <a:t>Modification
ou push</a:t>
            </a:r>
          </a:p>
        </p:txBody>
      </p:sp>
      <p:sp>
        <p:nvSpPr>
          <p:cNvPr id="9" name="Rounded Rectangle 8"/>
          <p:cNvSpPr/>
          <p:nvPr/>
        </p:nvSpPr>
        <p:spPr>
          <a:xfrm>
            <a:off x="3246120" y="1600200"/>
            <a:ext cx="2286000" cy="1051560"/>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801368"/>
            <a:ext cx="320040" cy="228600"/>
          </a:xfrm>
          <a:prstGeom prst="rect">
            <a:avLst/>
          </a:prstGeom>
          <a:noFill/>
        </p:spPr>
        <p:txBody>
          <a:bodyPr wrap="square" anchor="t">
            <a:spAutoFit/>
          </a:bodyPr>
          <a:lstStyle/>
          <a:p>
            <a:pPr algn="ctr"/>
            <a:r>
              <a:rPr sz="1400" b="1">
                <a:solidFill>
                  <a:srgbClr val="36A2BF"/>
                </a:solidFill>
                <a:latin typeface="Aptos"/>
              </a:rPr>
              <a:t>2</a:t>
            </a:r>
          </a:p>
        </p:txBody>
      </p:sp>
      <p:sp>
        <p:nvSpPr>
          <p:cNvPr id="11" name="TextBox 10"/>
          <p:cNvSpPr txBox="1"/>
          <p:nvPr/>
        </p:nvSpPr>
        <p:spPr>
          <a:xfrm>
            <a:off x="3685031" y="1755648"/>
            <a:ext cx="1664208" cy="502920"/>
          </a:xfrm>
          <a:prstGeom prst="rect">
            <a:avLst/>
          </a:prstGeom>
          <a:noFill/>
        </p:spPr>
        <p:txBody>
          <a:bodyPr wrap="square" anchor="t">
            <a:spAutoFit/>
          </a:bodyPr>
          <a:lstStyle/>
          <a:p>
            <a:pPr algn="ctr"/>
            <a:r>
              <a:rPr sz="1200" b="1">
                <a:solidFill>
                  <a:srgbClr val="0F2238"/>
                </a:solidFill>
                <a:latin typeface="Aptos"/>
              </a:rPr>
              <a:t>Workflow
GitHub Actions</a:t>
            </a:r>
          </a:p>
        </p:txBody>
      </p:sp>
      <p:sp>
        <p:nvSpPr>
          <p:cNvPr id="12" name="Rounded Rectangle 11"/>
          <p:cNvSpPr/>
          <p:nvPr/>
        </p:nvSpPr>
        <p:spPr>
          <a:xfrm>
            <a:off x="5989320" y="1600200"/>
            <a:ext cx="2286000" cy="1051560"/>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59" y="1801368"/>
            <a:ext cx="320040" cy="228600"/>
          </a:xfrm>
          <a:prstGeom prst="rect">
            <a:avLst/>
          </a:prstGeom>
          <a:noFill/>
        </p:spPr>
        <p:txBody>
          <a:bodyPr wrap="square" anchor="t">
            <a:spAutoFit/>
          </a:bodyPr>
          <a:lstStyle/>
          <a:p>
            <a:pPr algn="ctr"/>
            <a:r>
              <a:rPr sz="1400" b="1">
                <a:solidFill>
                  <a:srgbClr val="36A2BF"/>
                </a:solidFill>
                <a:latin typeface="Aptos"/>
              </a:rPr>
              <a:t>3</a:t>
            </a:r>
          </a:p>
        </p:txBody>
      </p:sp>
      <p:sp>
        <p:nvSpPr>
          <p:cNvPr id="14" name="TextBox 13"/>
          <p:cNvSpPr txBox="1"/>
          <p:nvPr/>
        </p:nvSpPr>
        <p:spPr>
          <a:xfrm>
            <a:off x="6428231" y="1755648"/>
            <a:ext cx="1664208" cy="502920"/>
          </a:xfrm>
          <a:prstGeom prst="rect">
            <a:avLst/>
          </a:prstGeom>
          <a:noFill/>
        </p:spPr>
        <p:txBody>
          <a:bodyPr wrap="square" anchor="t">
            <a:spAutoFit/>
          </a:bodyPr>
          <a:lstStyle/>
          <a:p>
            <a:pPr algn="ctr"/>
            <a:r>
              <a:rPr sz="1200" b="1">
                <a:solidFill>
                  <a:srgbClr val="0F2238"/>
                </a:solidFill>
                <a:latin typeface="Aptos"/>
              </a:rPr>
              <a:t>Vérifications
automatiques</a:t>
            </a:r>
          </a:p>
        </p:txBody>
      </p:sp>
      <p:sp>
        <p:nvSpPr>
          <p:cNvPr id="15" name="Rounded Rectangle 14"/>
          <p:cNvSpPr/>
          <p:nvPr/>
        </p:nvSpPr>
        <p:spPr>
          <a:xfrm>
            <a:off x="8732520" y="1600200"/>
            <a:ext cx="2286000" cy="1051560"/>
          </a:xfrm>
          <a:prstGeom prst="roundRect">
            <a:avLst/>
          </a:prstGeom>
          <a:solidFill>
            <a:srgbClr val="EBF4F8"/>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0" y="1801368"/>
            <a:ext cx="320040" cy="228600"/>
          </a:xfrm>
          <a:prstGeom prst="rect">
            <a:avLst/>
          </a:prstGeom>
          <a:noFill/>
        </p:spPr>
        <p:txBody>
          <a:bodyPr wrap="square" anchor="t">
            <a:spAutoFit/>
          </a:bodyPr>
          <a:lstStyle/>
          <a:p>
            <a:pPr algn="ctr"/>
            <a:r>
              <a:rPr sz="1400" b="1">
                <a:solidFill>
                  <a:srgbClr val="36A2BF"/>
                </a:solidFill>
                <a:latin typeface="Aptos"/>
              </a:rPr>
              <a:t>4</a:t>
            </a:r>
          </a:p>
        </p:txBody>
      </p:sp>
      <p:sp>
        <p:nvSpPr>
          <p:cNvPr id="17" name="TextBox 16"/>
          <p:cNvSpPr txBox="1"/>
          <p:nvPr/>
        </p:nvSpPr>
        <p:spPr>
          <a:xfrm>
            <a:off x="9171432" y="1755648"/>
            <a:ext cx="1664208" cy="502920"/>
          </a:xfrm>
          <a:prstGeom prst="rect">
            <a:avLst/>
          </a:prstGeom>
          <a:noFill/>
        </p:spPr>
        <p:txBody>
          <a:bodyPr wrap="square" anchor="t">
            <a:spAutoFit/>
          </a:bodyPr>
          <a:lstStyle/>
          <a:p>
            <a:pPr algn="ctr"/>
            <a:r>
              <a:rPr sz="1200" b="1">
                <a:solidFill>
                  <a:srgbClr val="0F2238"/>
                </a:solidFill>
                <a:latin typeface="Aptos"/>
              </a:rPr>
              <a:t>Succès / échec
visible</a:t>
            </a:r>
          </a:p>
        </p:txBody>
      </p:sp>
      <p:cxnSp>
        <p:nvCxnSpPr>
          <p:cNvPr id="18" name="Connector 17"/>
          <p:cNvCxnSpPr/>
          <p:nvPr/>
        </p:nvCxnSpPr>
        <p:spPr>
          <a:xfrm>
            <a:off x="2880360" y="2121408"/>
            <a:ext cx="365760" cy="0"/>
          </a:xfrm>
          <a:prstGeom prst="line">
            <a:avLst/>
          </a:prstGeom>
          <a:ln w="19050">
            <a:solidFill>
              <a:srgbClr val="626F7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32120" y="2121408"/>
            <a:ext cx="457200" cy="0"/>
          </a:xfrm>
          <a:prstGeom prst="line">
            <a:avLst/>
          </a:prstGeom>
          <a:ln w="19050">
            <a:solidFill>
              <a:srgbClr val="626F7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75320" y="2121408"/>
            <a:ext cx="457200" cy="0"/>
          </a:xfrm>
          <a:prstGeom prst="line">
            <a:avLst/>
          </a:prstGeom>
          <a:ln w="19050">
            <a:solidFill>
              <a:srgbClr val="626F7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40080" y="3154680"/>
            <a:ext cx="3383280" cy="19659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1" y="3300984"/>
            <a:ext cx="3054096" cy="329184"/>
          </a:xfrm>
          <a:prstGeom prst="rect">
            <a:avLst/>
          </a:prstGeom>
          <a:noFill/>
        </p:spPr>
        <p:txBody>
          <a:bodyPr wrap="square" anchor="t">
            <a:spAutoFit/>
          </a:bodyPr>
          <a:lstStyle/>
          <a:p>
            <a:pPr algn="l"/>
            <a:r>
              <a:rPr sz="1500" b="1">
                <a:solidFill>
                  <a:srgbClr val="2E7D5A"/>
                </a:solidFill>
                <a:latin typeface="Aptos"/>
              </a:rPr>
              <a:t>Pourquoi c’est important ?</a:t>
            </a:r>
          </a:p>
        </p:txBody>
      </p:sp>
      <p:sp>
        <p:nvSpPr>
          <p:cNvPr id="23" name="TextBox 22"/>
          <p:cNvSpPr txBox="1"/>
          <p:nvPr/>
        </p:nvSpPr>
        <p:spPr>
          <a:xfrm>
            <a:off x="804671" y="3685032"/>
            <a:ext cx="3054096" cy="1307592"/>
          </a:xfrm>
          <a:prstGeom prst="rect">
            <a:avLst/>
          </a:prstGeom>
          <a:noFill/>
        </p:spPr>
        <p:txBody>
          <a:bodyPr wrap="square" anchor="t">
            <a:spAutoFit/>
          </a:bodyPr>
          <a:lstStyle/>
          <a:p>
            <a:pPr algn="l"/>
            <a:r>
              <a:rPr sz="1100" b="0">
                <a:solidFill>
                  <a:srgbClr val="232B32"/>
                </a:solidFill>
                <a:latin typeface="Aptos"/>
              </a:rPr>
              <a:t>Un bon score dans un notebook ne suffit pas. Après une modification, il faut vérifier que le projet continue de fonctionner avant d’intégrer le changement.</a:t>
            </a:r>
          </a:p>
        </p:txBody>
      </p:sp>
      <p:sp>
        <p:nvSpPr>
          <p:cNvPr id="24" name="Rounded Rectangle 23"/>
          <p:cNvSpPr/>
          <p:nvPr/>
        </p:nvSpPr>
        <p:spPr>
          <a:xfrm>
            <a:off x="4389120" y="3154680"/>
            <a:ext cx="3383280" cy="19659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53712" y="3300984"/>
            <a:ext cx="3054096" cy="329184"/>
          </a:xfrm>
          <a:prstGeom prst="rect">
            <a:avLst/>
          </a:prstGeom>
          <a:noFill/>
        </p:spPr>
        <p:txBody>
          <a:bodyPr wrap="square" anchor="t">
            <a:spAutoFit/>
          </a:bodyPr>
          <a:lstStyle/>
          <a:p>
            <a:pPr algn="l"/>
            <a:r>
              <a:rPr sz="1500" b="1">
                <a:solidFill>
                  <a:srgbClr val="215E91"/>
                </a:solidFill>
                <a:latin typeface="Aptos"/>
              </a:rPr>
              <a:t>Ce que la CI apporte</a:t>
            </a:r>
          </a:p>
        </p:txBody>
      </p:sp>
      <p:sp>
        <p:nvSpPr>
          <p:cNvPr id="26" name="TextBox 25"/>
          <p:cNvSpPr txBox="1"/>
          <p:nvPr/>
        </p:nvSpPr>
        <p:spPr>
          <a:xfrm>
            <a:off x="4553712" y="3685032"/>
            <a:ext cx="3054096" cy="1307592"/>
          </a:xfrm>
          <a:prstGeom prst="rect">
            <a:avLst/>
          </a:prstGeom>
          <a:noFill/>
        </p:spPr>
        <p:txBody>
          <a:bodyPr wrap="square" anchor="t">
            <a:spAutoFit/>
          </a:bodyPr>
          <a:lstStyle/>
          <a:p>
            <a:pPr algn="l"/>
            <a:r>
              <a:rPr sz="1100" b="0">
                <a:solidFill>
                  <a:srgbClr val="232B32"/>
                </a:solidFill>
                <a:latin typeface="Aptos"/>
              </a:rPr>
              <a:t>Automatisation, répétabilité, détection rapide des erreurs et historique des exécutions.</a:t>
            </a:r>
          </a:p>
        </p:txBody>
      </p:sp>
      <p:sp>
        <p:nvSpPr>
          <p:cNvPr id="27" name="Rounded Rectangle 26"/>
          <p:cNvSpPr/>
          <p:nvPr/>
        </p:nvSpPr>
        <p:spPr>
          <a:xfrm>
            <a:off x="8138160" y="3154680"/>
            <a:ext cx="3383280" cy="196596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02752" y="3300984"/>
            <a:ext cx="3054096" cy="329184"/>
          </a:xfrm>
          <a:prstGeom prst="rect">
            <a:avLst/>
          </a:prstGeom>
          <a:noFill/>
        </p:spPr>
        <p:txBody>
          <a:bodyPr wrap="square" anchor="t">
            <a:spAutoFit/>
          </a:bodyPr>
          <a:lstStyle/>
          <a:p>
            <a:pPr algn="l"/>
            <a:r>
              <a:rPr sz="1500" b="1">
                <a:solidFill>
                  <a:srgbClr val="DA8437"/>
                </a:solidFill>
                <a:latin typeface="Aptos"/>
              </a:rPr>
              <a:t>Acquis MLOps</a:t>
            </a:r>
          </a:p>
        </p:txBody>
      </p:sp>
      <p:sp>
        <p:nvSpPr>
          <p:cNvPr id="29" name="TextBox 28"/>
          <p:cNvSpPr txBox="1"/>
          <p:nvPr/>
        </p:nvSpPr>
        <p:spPr>
          <a:xfrm>
            <a:off x="8302752" y="3685032"/>
            <a:ext cx="3054096" cy="1307592"/>
          </a:xfrm>
          <a:prstGeom prst="rect">
            <a:avLst/>
          </a:prstGeom>
          <a:noFill/>
        </p:spPr>
        <p:txBody>
          <a:bodyPr wrap="square" anchor="t">
            <a:spAutoFit/>
          </a:bodyPr>
          <a:lstStyle/>
          <a:p>
            <a:pPr algn="l"/>
            <a:r>
              <a:rPr sz="1100" b="0">
                <a:solidFill>
                  <a:srgbClr val="232B32"/>
                </a:solidFill>
                <a:latin typeface="Aptos"/>
              </a:rPr>
              <a:t>Le TP relie Machine Learning et pratiques d’ingénierie : versionnement GitHub + contrôles automatiques + suivi MLflow.</a:t>
            </a:r>
          </a:p>
        </p:txBody>
      </p:sp>
      <p:sp>
        <p:nvSpPr>
          <p:cNvPr id="30" name="TextBox 29"/>
          <p:cNvSpPr txBox="1"/>
          <p:nvPr/>
        </p:nvSpPr>
        <p:spPr>
          <a:xfrm>
            <a:off x="594360" y="6510528"/>
            <a:ext cx="10972800" cy="182880"/>
          </a:xfrm>
          <a:prstGeom prst="rect">
            <a:avLst/>
          </a:prstGeom>
          <a:noFill/>
        </p:spPr>
        <p:txBody>
          <a:bodyPr wrap="square" anchor="t">
            <a:spAutoFit/>
          </a:bodyPr>
          <a:lstStyle/>
          <a:p>
            <a:pPr algn="l"/>
            <a:r>
              <a:rPr sz="800" b="0">
                <a:solidFill>
                  <a:srgbClr val="626F7B"/>
                </a:solidFill>
                <a:latin typeface="Aptos"/>
              </a:rPr>
              <a:t>Source : README fourni dans la conversation et dossier .github/workflows visible dans le dépôt.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515600" cy="502920"/>
          </a:xfrm>
          <a:prstGeom prst="rect">
            <a:avLst/>
          </a:prstGeom>
          <a:noFill/>
        </p:spPr>
        <p:txBody>
          <a:bodyPr wrap="square" anchor="t">
            <a:spAutoFit/>
          </a:bodyPr>
          <a:lstStyle/>
          <a:p>
            <a:pPr algn="l"/>
            <a:r>
              <a:rPr sz="2700" b="1">
                <a:solidFill>
                  <a:srgbClr val="0F2238"/>
                </a:solidFill>
                <a:latin typeface="Aptos"/>
              </a:rPr>
              <a:t>Application Streamlit — rendre les modèles utilisables</a:t>
            </a:r>
          </a:p>
        </p:txBody>
      </p:sp>
      <p:sp>
        <p:nvSpPr>
          <p:cNvPr id="3" name="Rectangle 2"/>
          <p:cNvSpPr/>
          <p:nvPr/>
        </p:nvSpPr>
        <p:spPr>
          <a:xfrm>
            <a:off x="594360" y="960120"/>
            <a:ext cx="914400" cy="50292"/>
          </a:xfrm>
          <a:prstGeom prst="rect">
            <a:avLst/>
          </a:prstGeom>
          <a:solidFill>
            <a:srgbClr val="36A2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60704"/>
            <a:ext cx="10881360" cy="411480"/>
          </a:xfrm>
          <a:prstGeom prst="rect">
            <a:avLst/>
          </a:prstGeom>
          <a:noFill/>
        </p:spPr>
        <p:txBody>
          <a:bodyPr wrap="square" anchor="t">
            <a:spAutoFit/>
          </a:bodyPr>
          <a:lstStyle/>
          <a:p>
            <a:pPr algn="l"/>
            <a:r>
              <a:rPr sz="1200" b="0">
                <a:solidFill>
                  <a:srgbClr val="626F7B"/>
                </a:solidFill>
                <a:latin typeface="Aptos"/>
              </a:rPr>
              <a:t>Le projet ne s’arrête pas à l’entraînement : une interface permet de tester et visualiser les résultats.</a:t>
            </a:r>
          </a:p>
        </p:txBody>
      </p:sp>
      <p:sp>
        <p:nvSpPr>
          <p:cNvPr id="5" name="TextBox 4"/>
          <p:cNvSpPr txBox="1"/>
          <p:nvPr/>
        </p:nvSpPr>
        <p:spPr>
          <a:xfrm>
            <a:off x="11109960" y="393192"/>
            <a:ext cx="457200" cy="320040"/>
          </a:xfrm>
          <a:prstGeom prst="rect">
            <a:avLst/>
          </a:prstGeom>
          <a:noFill/>
        </p:spPr>
        <p:txBody>
          <a:bodyPr wrap="square" anchor="t">
            <a:spAutoFit/>
          </a:bodyPr>
          <a:lstStyle/>
          <a:p>
            <a:pPr algn="r"/>
            <a:r>
              <a:rPr sz="1100" b="1">
                <a:solidFill>
                  <a:srgbClr val="626F7B"/>
                </a:solidFill>
                <a:latin typeface="Aptos"/>
              </a:rPr>
              <a:t>18</a:t>
            </a:r>
          </a:p>
        </p:txBody>
      </p:sp>
      <p:sp>
        <p:nvSpPr>
          <p:cNvPr id="6" name="Rounded Rectangle 5"/>
          <p:cNvSpPr/>
          <p:nvPr/>
        </p:nvSpPr>
        <p:spPr>
          <a:xfrm>
            <a:off x="640080" y="1508760"/>
            <a:ext cx="6583680" cy="4251960"/>
          </a:xfrm>
          <a:prstGeom prst="roundRect">
            <a:avLst/>
          </a:prstGeom>
          <a:solidFill>
            <a:srgbClr val="FFFFFF"/>
          </a:solidFill>
          <a:ln>
            <a:solidFill>
              <a:srgbClr val="BEC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6583680" cy="438912"/>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1664208"/>
            <a:ext cx="100584" cy="100584"/>
          </a:xfrm>
          <a:prstGeom prst="ellipse">
            <a:avLst/>
          </a:prstGeom>
          <a:solidFill>
            <a:srgbClr val="626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69848" y="1664208"/>
            <a:ext cx="100584" cy="100584"/>
          </a:xfrm>
          <a:prstGeom prst="ellipse">
            <a:avLst/>
          </a:prstGeom>
          <a:solidFill>
            <a:srgbClr val="626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16736" y="1664208"/>
            <a:ext cx="100584" cy="100584"/>
          </a:xfrm>
          <a:prstGeom prst="ellipse">
            <a:avLst/>
          </a:prstGeom>
          <a:solidFill>
            <a:srgbClr val="626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240280"/>
            <a:ext cx="2926080" cy="365760"/>
          </a:xfrm>
          <a:prstGeom prst="rect">
            <a:avLst/>
          </a:prstGeom>
          <a:noFill/>
        </p:spPr>
        <p:txBody>
          <a:bodyPr wrap="square" anchor="t">
            <a:spAutoFit/>
          </a:bodyPr>
          <a:lstStyle/>
          <a:p>
            <a:pPr algn="l"/>
            <a:r>
              <a:rPr sz="2200" b="1">
                <a:solidFill>
                  <a:srgbClr val="0F2238"/>
                </a:solidFill>
                <a:latin typeface="Aptos"/>
              </a:rPr>
              <a:t>USGS Earthquake AI</a:t>
            </a:r>
          </a:p>
        </p:txBody>
      </p:sp>
      <p:sp>
        <p:nvSpPr>
          <p:cNvPr id="12" name="TextBox 11"/>
          <p:cNvSpPr txBox="1"/>
          <p:nvPr/>
        </p:nvSpPr>
        <p:spPr>
          <a:xfrm>
            <a:off x="960120" y="2834640"/>
            <a:ext cx="2011680" cy="274320"/>
          </a:xfrm>
          <a:prstGeom prst="rect">
            <a:avLst/>
          </a:prstGeom>
          <a:noFill/>
        </p:spPr>
        <p:txBody>
          <a:bodyPr wrap="square" anchor="t">
            <a:spAutoFit/>
          </a:bodyPr>
          <a:lstStyle/>
          <a:p>
            <a:pPr algn="l"/>
            <a:r>
              <a:rPr sz="1300" b="1">
                <a:solidFill>
                  <a:srgbClr val="626F7B"/>
                </a:solidFill>
                <a:latin typeface="Aptos"/>
              </a:rPr>
              <a:t>Entrées sismiques</a:t>
            </a:r>
          </a:p>
        </p:txBody>
      </p:sp>
      <p:sp>
        <p:nvSpPr>
          <p:cNvPr id="13" name="Rounded Rectangle 12"/>
          <p:cNvSpPr/>
          <p:nvPr/>
        </p:nvSpPr>
        <p:spPr>
          <a:xfrm>
            <a:off x="960120" y="3218688"/>
            <a:ext cx="2331720" cy="3200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3282696"/>
            <a:ext cx="2011680" cy="182880"/>
          </a:xfrm>
          <a:prstGeom prst="rect">
            <a:avLst/>
          </a:prstGeom>
          <a:noFill/>
        </p:spPr>
        <p:txBody>
          <a:bodyPr wrap="square" anchor="t">
            <a:spAutoFit/>
          </a:bodyPr>
          <a:lstStyle/>
          <a:p>
            <a:pPr algn="l"/>
            <a:r>
              <a:rPr sz="1000" b="0">
                <a:solidFill>
                  <a:srgbClr val="232B32"/>
                </a:solidFill>
                <a:latin typeface="Aptos"/>
              </a:rPr>
              <a:t>Magnitude</a:t>
            </a:r>
          </a:p>
        </p:txBody>
      </p:sp>
      <p:sp>
        <p:nvSpPr>
          <p:cNvPr id="15" name="Rounded Rectangle 14"/>
          <p:cNvSpPr/>
          <p:nvPr/>
        </p:nvSpPr>
        <p:spPr>
          <a:xfrm>
            <a:off x="960120" y="3694176"/>
            <a:ext cx="2331720" cy="3200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3758183"/>
            <a:ext cx="2011680" cy="182880"/>
          </a:xfrm>
          <a:prstGeom prst="rect">
            <a:avLst/>
          </a:prstGeom>
          <a:noFill/>
        </p:spPr>
        <p:txBody>
          <a:bodyPr wrap="square" anchor="t">
            <a:spAutoFit/>
          </a:bodyPr>
          <a:lstStyle/>
          <a:p>
            <a:pPr algn="l"/>
            <a:r>
              <a:rPr sz="1000" b="0">
                <a:solidFill>
                  <a:srgbClr val="232B32"/>
                </a:solidFill>
                <a:latin typeface="Aptos"/>
              </a:rPr>
              <a:t>Profondeur</a:t>
            </a:r>
          </a:p>
        </p:txBody>
      </p:sp>
      <p:sp>
        <p:nvSpPr>
          <p:cNvPr id="17" name="Rounded Rectangle 16"/>
          <p:cNvSpPr/>
          <p:nvPr/>
        </p:nvSpPr>
        <p:spPr>
          <a:xfrm>
            <a:off x="960120" y="4169664"/>
            <a:ext cx="2331720" cy="3200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8992" y="4233672"/>
            <a:ext cx="2011680" cy="182880"/>
          </a:xfrm>
          <a:prstGeom prst="rect">
            <a:avLst/>
          </a:prstGeom>
          <a:noFill/>
        </p:spPr>
        <p:txBody>
          <a:bodyPr wrap="square" anchor="t">
            <a:spAutoFit/>
          </a:bodyPr>
          <a:lstStyle/>
          <a:p>
            <a:pPr algn="l"/>
            <a:r>
              <a:rPr sz="1000" b="0">
                <a:solidFill>
                  <a:srgbClr val="232B32"/>
                </a:solidFill>
                <a:latin typeface="Aptos"/>
              </a:rPr>
              <a:t>Latitude / Longitude</a:t>
            </a:r>
          </a:p>
        </p:txBody>
      </p:sp>
      <p:sp>
        <p:nvSpPr>
          <p:cNvPr id="19" name="Rounded Rectangle 18"/>
          <p:cNvSpPr/>
          <p:nvPr/>
        </p:nvSpPr>
        <p:spPr>
          <a:xfrm>
            <a:off x="960120" y="4645152"/>
            <a:ext cx="2331720" cy="3200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4709160"/>
            <a:ext cx="2011680" cy="182880"/>
          </a:xfrm>
          <a:prstGeom prst="rect">
            <a:avLst/>
          </a:prstGeom>
          <a:noFill/>
        </p:spPr>
        <p:txBody>
          <a:bodyPr wrap="square" anchor="t">
            <a:spAutoFit/>
          </a:bodyPr>
          <a:lstStyle/>
          <a:p>
            <a:pPr algn="l"/>
            <a:r>
              <a:rPr sz="1000" b="0">
                <a:solidFill>
                  <a:srgbClr val="232B32"/>
                </a:solidFill>
                <a:latin typeface="Aptos"/>
              </a:rPr>
              <a:t>Tsunami</a:t>
            </a:r>
          </a:p>
        </p:txBody>
      </p:sp>
      <p:sp>
        <p:nvSpPr>
          <p:cNvPr id="21" name="Rounded Rectangle 20"/>
          <p:cNvSpPr/>
          <p:nvPr/>
        </p:nvSpPr>
        <p:spPr>
          <a:xfrm>
            <a:off x="3794760" y="2514600"/>
            <a:ext cx="2834640" cy="237744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959352" y="2660904"/>
            <a:ext cx="2505456" cy="329184"/>
          </a:xfrm>
          <a:prstGeom prst="rect">
            <a:avLst/>
          </a:prstGeom>
          <a:noFill/>
        </p:spPr>
        <p:txBody>
          <a:bodyPr wrap="square" anchor="t">
            <a:spAutoFit/>
          </a:bodyPr>
          <a:lstStyle/>
          <a:p>
            <a:pPr algn="l"/>
            <a:r>
              <a:rPr sz="1500" b="1">
                <a:solidFill>
                  <a:srgbClr val="2E7D5A"/>
                </a:solidFill>
                <a:latin typeface="Aptos"/>
              </a:rPr>
              <a:t>Résultats affichables</a:t>
            </a:r>
          </a:p>
        </p:txBody>
      </p:sp>
      <p:sp>
        <p:nvSpPr>
          <p:cNvPr id="23" name="TextBox 22"/>
          <p:cNvSpPr txBox="1"/>
          <p:nvPr/>
        </p:nvSpPr>
        <p:spPr>
          <a:xfrm>
            <a:off x="3959352" y="3044952"/>
            <a:ext cx="2505456" cy="1719072"/>
          </a:xfrm>
          <a:prstGeom prst="rect">
            <a:avLst/>
          </a:prstGeom>
          <a:noFill/>
        </p:spPr>
        <p:txBody>
          <a:bodyPr wrap="square" anchor="t">
            <a:spAutoFit/>
          </a:bodyPr>
          <a:lstStyle/>
          <a:p>
            <a:pPr algn="l"/>
            <a:r>
              <a:rPr sz="1100" b="0">
                <a:solidFill>
                  <a:srgbClr val="232B32"/>
                </a:solidFill>
                <a:latin typeface="Aptos"/>
              </a:rPr>
              <a:t>Zone de risque
Dommages
Action recommandée
Pertes économiques
L’objectif est de rendre la chaîne de modèles accessible pour une démonstration.</a:t>
            </a:r>
          </a:p>
        </p:txBody>
      </p:sp>
      <p:sp>
        <p:nvSpPr>
          <p:cNvPr id="24" name="Rounded Rectangle 23"/>
          <p:cNvSpPr/>
          <p:nvPr/>
        </p:nvSpPr>
        <p:spPr>
          <a:xfrm>
            <a:off x="7635240" y="1508760"/>
            <a:ext cx="38862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9831" y="1655063"/>
            <a:ext cx="3557016" cy="329184"/>
          </a:xfrm>
          <a:prstGeom prst="rect">
            <a:avLst/>
          </a:prstGeom>
          <a:noFill/>
        </p:spPr>
        <p:txBody>
          <a:bodyPr wrap="square" anchor="t">
            <a:spAutoFit/>
          </a:bodyPr>
          <a:lstStyle/>
          <a:p>
            <a:pPr algn="l"/>
            <a:r>
              <a:rPr sz="1500" b="1">
                <a:solidFill>
                  <a:srgbClr val="215E91"/>
                </a:solidFill>
                <a:latin typeface="Aptos"/>
              </a:rPr>
              <a:t>Pourquoi Streamlit ?</a:t>
            </a:r>
          </a:p>
        </p:txBody>
      </p:sp>
      <p:sp>
        <p:nvSpPr>
          <p:cNvPr id="26" name="TextBox 25"/>
          <p:cNvSpPr txBox="1"/>
          <p:nvPr/>
        </p:nvSpPr>
        <p:spPr>
          <a:xfrm>
            <a:off x="7799831" y="2039112"/>
            <a:ext cx="3557016" cy="758952"/>
          </a:xfrm>
          <a:prstGeom prst="rect">
            <a:avLst/>
          </a:prstGeom>
          <a:noFill/>
        </p:spPr>
        <p:txBody>
          <a:bodyPr wrap="square" anchor="t">
            <a:spAutoFit/>
          </a:bodyPr>
          <a:lstStyle/>
          <a:p>
            <a:pPr algn="l"/>
            <a:r>
              <a:rPr sz="1100" b="0">
                <a:solidFill>
                  <a:srgbClr val="232B32"/>
                </a:solidFill>
                <a:latin typeface="Aptos"/>
              </a:rPr>
              <a:t>Transformer les notebooks et modèles sauvegardés en une interface interactive utilisable sans modifier le code.</a:t>
            </a:r>
          </a:p>
        </p:txBody>
      </p:sp>
      <p:sp>
        <p:nvSpPr>
          <p:cNvPr id="27" name="Rounded Rectangle 26"/>
          <p:cNvSpPr/>
          <p:nvPr/>
        </p:nvSpPr>
        <p:spPr>
          <a:xfrm>
            <a:off x="7635240" y="3154680"/>
            <a:ext cx="3886200" cy="14173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99831" y="3300984"/>
            <a:ext cx="3557016" cy="329184"/>
          </a:xfrm>
          <a:prstGeom prst="rect">
            <a:avLst/>
          </a:prstGeom>
          <a:noFill/>
        </p:spPr>
        <p:txBody>
          <a:bodyPr wrap="square" anchor="t">
            <a:spAutoFit/>
          </a:bodyPr>
          <a:lstStyle/>
          <a:p>
            <a:pPr algn="l"/>
            <a:r>
              <a:rPr sz="1500" b="1">
                <a:solidFill>
                  <a:srgbClr val="36A2BF"/>
                </a:solidFill>
                <a:latin typeface="Aptos"/>
              </a:rPr>
              <a:t>Lien de l’application</a:t>
            </a:r>
          </a:p>
        </p:txBody>
      </p:sp>
      <p:sp>
        <p:nvSpPr>
          <p:cNvPr id="29" name="TextBox 28"/>
          <p:cNvSpPr txBox="1"/>
          <p:nvPr/>
        </p:nvSpPr>
        <p:spPr>
          <a:xfrm>
            <a:off x="7781544" y="3588479"/>
            <a:ext cx="3557016" cy="430887"/>
          </a:xfrm>
          <a:prstGeom prst="rect">
            <a:avLst/>
          </a:prstGeom>
          <a:noFill/>
        </p:spPr>
        <p:txBody>
          <a:bodyPr wrap="square" anchor="t">
            <a:spAutoFit/>
          </a:bodyPr>
          <a:lstStyle/>
          <a:p>
            <a:pPr algn="l"/>
            <a:r>
              <a:rPr sz="1100" b="0" dirty="0">
                <a:solidFill>
                  <a:srgbClr val="232B32"/>
                </a:solidFill>
                <a:latin typeface="Aptos"/>
                <a:hlinkClick r:id="rId2"/>
              </a:rPr>
              <a:t>https://usgs-earthquake-ai-9zbupyrcn6cwtmhms5xa9p.streamlit.app/</a:t>
            </a:r>
            <a:endParaRPr sz="1100" b="0" dirty="0">
              <a:solidFill>
                <a:srgbClr val="232B32"/>
              </a:solidFill>
              <a:latin typeface="Aptos"/>
            </a:endParaRPr>
          </a:p>
        </p:txBody>
      </p:sp>
      <p:sp>
        <p:nvSpPr>
          <p:cNvPr id="30" name="Rounded Rectangle 29"/>
          <p:cNvSpPr/>
          <p:nvPr/>
        </p:nvSpPr>
        <p:spPr>
          <a:xfrm>
            <a:off x="7635240" y="4800600"/>
            <a:ext cx="3886200" cy="960120"/>
          </a:xfrm>
          <a:prstGeom prst="roundRect">
            <a:avLst/>
          </a:prstGeom>
          <a:solidFill>
            <a:srgbClr val="F5F7F9"/>
          </a:solidFill>
          <a:ln>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99831" y="4946904"/>
            <a:ext cx="3557016" cy="329184"/>
          </a:xfrm>
          <a:prstGeom prst="rect">
            <a:avLst/>
          </a:prstGeom>
          <a:noFill/>
        </p:spPr>
        <p:txBody>
          <a:bodyPr wrap="square" anchor="t">
            <a:spAutoFit/>
          </a:bodyPr>
          <a:lstStyle/>
          <a:p>
            <a:pPr algn="l"/>
            <a:r>
              <a:rPr sz="1500" b="1">
                <a:solidFill>
                  <a:srgbClr val="DA8437"/>
                </a:solidFill>
                <a:latin typeface="Aptos"/>
              </a:rPr>
              <a:t>Acquis</a:t>
            </a:r>
          </a:p>
        </p:txBody>
      </p:sp>
      <p:sp>
        <p:nvSpPr>
          <p:cNvPr id="32" name="TextBox 31"/>
          <p:cNvSpPr txBox="1"/>
          <p:nvPr/>
        </p:nvSpPr>
        <p:spPr>
          <a:xfrm>
            <a:off x="7799831" y="5330952"/>
            <a:ext cx="3557016" cy="301752"/>
          </a:xfrm>
          <a:prstGeom prst="rect">
            <a:avLst/>
          </a:prstGeom>
          <a:noFill/>
        </p:spPr>
        <p:txBody>
          <a:bodyPr wrap="square" anchor="t">
            <a:spAutoFit/>
          </a:bodyPr>
          <a:lstStyle/>
          <a:p>
            <a:pPr algn="l"/>
            <a:r>
              <a:rPr sz="1100" b="0">
                <a:solidFill>
                  <a:srgbClr val="232B32"/>
                </a:solidFill>
                <a:latin typeface="Aptos"/>
              </a:rPr>
              <a:t>Passer du modèle expérimental à une démonstration utilisable.</a:t>
            </a:r>
          </a:p>
        </p:txBody>
      </p:sp>
      <p:sp>
        <p:nvSpPr>
          <p:cNvPr id="33" name="TextBox 32"/>
          <p:cNvSpPr txBox="1"/>
          <p:nvPr/>
        </p:nvSpPr>
        <p:spPr>
          <a:xfrm>
            <a:off x="594360" y="6510528"/>
            <a:ext cx="10972800" cy="182880"/>
          </a:xfrm>
          <a:prstGeom prst="rect">
            <a:avLst/>
          </a:prstGeom>
          <a:noFill/>
        </p:spPr>
        <p:txBody>
          <a:bodyPr wrap="square" anchor="t">
            <a:spAutoFit/>
          </a:bodyPr>
          <a:lstStyle/>
          <a:p>
            <a:pPr algn="l"/>
            <a:r>
              <a:rPr sz="800" b="0">
                <a:solidFill>
                  <a:srgbClr val="626F7B"/>
                </a:solidFill>
                <a:latin typeface="Aptos"/>
              </a:rPr>
              <a:t>Source : README fourni dans la conversation; notebook 06 indique aussi que le moteur Action est réutilisable par Streamlit.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2238"/>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10789920" cy="457200"/>
          </a:xfrm>
          <a:prstGeom prst="rect">
            <a:avLst/>
          </a:prstGeom>
          <a:noFill/>
        </p:spPr>
        <p:txBody>
          <a:bodyPr wrap="square" anchor="t">
            <a:spAutoFit/>
          </a:bodyPr>
          <a:lstStyle/>
          <a:p>
            <a:pPr algn="l"/>
            <a:r>
              <a:rPr sz="2700" b="1">
                <a:solidFill>
                  <a:srgbClr val="FFFFFF"/>
                </a:solidFill>
                <a:latin typeface="Aptos"/>
              </a:rPr>
              <a:t>Vue finale du TP — de la donnée à l’application</a:t>
            </a:r>
          </a:p>
        </p:txBody>
      </p:sp>
      <p:sp>
        <p:nvSpPr>
          <p:cNvPr id="3" name="TextBox 2"/>
          <p:cNvSpPr txBox="1"/>
          <p:nvPr/>
        </p:nvSpPr>
        <p:spPr>
          <a:xfrm>
            <a:off x="658368" y="1078992"/>
            <a:ext cx="10515600" cy="384048"/>
          </a:xfrm>
          <a:prstGeom prst="rect">
            <a:avLst/>
          </a:prstGeom>
          <a:noFill/>
        </p:spPr>
        <p:txBody>
          <a:bodyPr wrap="square" anchor="t">
            <a:spAutoFit/>
          </a:bodyPr>
          <a:lstStyle/>
          <a:p>
            <a:pPr algn="l"/>
            <a:r>
              <a:rPr sz="1300" b="0">
                <a:solidFill>
                  <a:srgbClr val="CDE1EB"/>
                </a:solidFill>
                <a:latin typeface="Aptos"/>
              </a:rPr>
              <a:t>Une chaîne complète : expérimentation ML + sélection métier + suivi + automatisation + interface.</a:t>
            </a:r>
          </a:p>
        </p:txBody>
      </p:sp>
      <p:sp>
        <p:nvSpPr>
          <p:cNvPr id="4" name="Rounded Rectangle 3"/>
          <p:cNvSpPr/>
          <p:nvPr/>
        </p:nvSpPr>
        <p:spPr>
          <a:xfrm>
            <a:off x="41148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359152"/>
            <a:ext cx="1508760" cy="274320"/>
          </a:xfrm>
          <a:prstGeom prst="rect">
            <a:avLst/>
          </a:prstGeom>
          <a:noFill/>
        </p:spPr>
        <p:txBody>
          <a:bodyPr wrap="square" anchor="t">
            <a:spAutoFit/>
          </a:bodyPr>
          <a:lstStyle/>
          <a:p>
            <a:pPr algn="ctr"/>
            <a:r>
              <a:rPr sz="1200" b="1">
                <a:solidFill>
                  <a:srgbClr val="0F2238"/>
                </a:solidFill>
                <a:latin typeface="Aptos"/>
              </a:rPr>
              <a:t>USGS 2025</a:t>
            </a:r>
          </a:p>
        </p:txBody>
      </p:sp>
      <p:sp>
        <p:nvSpPr>
          <p:cNvPr id="6" name="TextBox 5"/>
          <p:cNvSpPr txBox="1"/>
          <p:nvPr/>
        </p:nvSpPr>
        <p:spPr>
          <a:xfrm>
            <a:off x="502920" y="2770632"/>
            <a:ext cx="1508760" cy="274320"/>
          </a:xfrm>
          <a:prstGeom prst="rect">
            <a:avLst/>
          </a:prstGeom>
          <a:noFill/>
        </p:spPr>
        <p:txBody>
          <a:bodyPr wrap="square" anchor="t">
            <a:spAutoFit/>
          </a:bodyPr>
          <a:lstStyle/>
          <a:p>
            <a:pPr algn="ctr"/>
            <a:r>
              <a:rPr sz="900" b="0">
                <a:solidFill>
                  <a:srgbClr val="626F7B"/>
                </a:solidFill>
                <a:latin typeface="Aptos"/>
              </a:rPr>
              <a:t>29 062 séismes</a:t>
            </a:r>
          </a:p>
        </p:txBody>
      </p:sp>
      <p:sp>
        <p:nvSpPr>
          <p:cNvPr id="7" name="Rounded Rectangle 6"/>
          <p:cNvSpPr/>
          <p:nvPr/>
        </p:nvSpPr>
        <p:spPr>
          <a:xfrm>
            <a:off x="233172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23160" y="2359152"/>
            <a:ext cx="1508760" cy="274320"/>
          </a:xfrm>
          <a:prstGeom prst="rect">
            <a:avLst/>
          </a:prstGeom>
          <a:noFill/>
        </p:spPr>
        <p:txBody>
          <a:bodyPr wrap="square" anchor="t">
            <a:spAutoFit/>
          </a:bodyPr>
          <a:lstStyle/>
          <a:p>
            <a:pPr algn="ctr"/>
            <a:r>
              <a:rPr sz="1200" b="1">
                <a:solidFill>
                  <a:srgbClr val="0F2238"/>
                </a:solidFill>
                <a:latin typeface="Aptos"/>
              </a:rPr>
              <a:t>Notebooks</a:t>
            </a:r>
          </a:p>
        </p:txBody>
      </p:sp>
      <p:sp>
        <p:nvSpPr>
          <p:cNvPr id="9" name="TextBox 8"/>
          <p:cNvSpPr txBox="1"/>
          <p:nvPr/>
        </p:nvSpPr>
        <p:spPr>
          <a:xfrm>
            <a:off x="2423160" y="2770632"/>
            <a:ext cx="1508760" cy="274320"/>
          </a:xfrm>
          <a:prstGeom prst="rect">
            <a:avLst/>
          </a:prstGeom>
          <a:noFill/>
        </p:spPr>
        <p:txBody>
          <a:bodyPr wrap="square" anchor="t">
            <a:spAutoFit/>
          </a:bodyPr>
          <a:lstStyle/>
          <a:p>
            <a:pPr algn="ctr"/>
            <a:r>
              <a:rPr sz="900" b="0">
                <a:solidFill>
                  <a:srgbClr val="626F7B"/>
                </a:solidFill>
                <a:latin typeface="Aptos"/>
              </a:rPr>
              <a:t>EDA + modèles</a:t>
            </a:r>
          </a:p>
        </p:txBody>
      </p:sp>
      <p:sp>
        <p:nvSpPr>
          <p:cNvPr id="10" name="Rounded Rectangle 9"/>
          <p:cNvSpPr/>
          <p:nvPr/>
        </p:nvSpPr>
        <p:spPr>
          <a:xfrm>
            <a:off x="425196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2359152"/>
            <a:ext cx="1508760" cy="274320"/>
          </a:xfrm>
          <a:prstGeom prst="rect">
            <a:avLst/>
          </a:prstGeom>
          <a:noFill/>
        </p:spPr>
        <p:txBody>
          <a:bodyPr wrap="square" anchor="t">
            <a:spAutoFit/>
          </a:bodyPr>
          <a:lstStyle/>
          <a:p>
            <a:pPr algn="ctr"/>
            <a:r>
              <a:rPr sz="1200" b="1">
                <a:solidFill>
                  <a:srgbClr val="0F2238"/>
                </a:solidFill>
                <a:latin typeface="Aptos"/>
              </a:rPr>
              <a:t>Champions</a:t>
            </a:r>
          </a:p>
        </p:txBody>
      </p:sp>
      <p:sp>
        <p:nvSpPr>
          <p:cNvPr id="12" name="TextBox 11"/>
          <p:cNvSpPr txBox="1"/>
          <p:nvPr/>
        </p:nvSpPr>
        <p:spPr>
          <a:xfrm>
            <a:off x="4343400" y="2770632"/>
            <a:ext cx="1508760" cy="274320"/>
          </a:xfrm>
          <a:prstGeom prst="rect">
            <a:avLst/>
          </a:prstGeom>
          <a:noFill/>
        </p:spPr>
        <p:txBody>
          <a:bodyPr wrap="square" anchor="t">
            <a:spAutoFit/>
          </a:bodyPr>
          <a:lstStyle/>
          <a:p>
            <a:pPr algn="ctr"/>
            <a:r>
              <a:rPr sz="900" b="0">
                <a:solidFill>
                  <a:srgbClr val="626F7B"/>
                </a:solidFill>
                <a:latin typeface="Aptos"/>
              </a:rPr>
              <a:t>RF • LightGBM • GB</a:t>
            </a:r>
          </a:p>
        </p:txBody>
      </p:sp>
      <p:sp>
        <p:nvSpPr>
          <p:cNvPr id="13" name="Rounded Rectangle 12"/>
          <p:cNvSpPr/>
          <p:nvPr/>
        </p:nvSpPr>
        <p:spPr>
          <a:xfrm>
            <a:off x="617220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2359152"/>
            <a:ext cx="1508760" cy="274320"/>
          </a:xfrm>
          <a:prstGeom prst="rect">
            <a:avLst/>
          </a:prstGeom>
          <a:noFill/>
        </p:spPr>
        <p:txBody>
          <a:bodyPr wrap="square" anchor="t">
            <a:spAutoFit/>
          </a:bodyPr>
          <a:lstStyle/>
          <a:p>
            <a:pPr algn="ctr"/>
            <a:r>
              <a:rPr sz="1200" b="1">
                <a:solidFill>
                  <a:srgbClr val="0F2238"/>
                </a:solidFill>
                <a:latin typeface="Aptos"/>
              </a:rPr>
              <a:t>MLflow</a:t>
            </a:r>
          </a:p>
        </p:txBody>
      </p:sp>
      <p:sp>
        <p:nvSpPr>
          <p:cNvPr id="15" name="TextBox 14"/>
          <p:cNvSpPr txBox="1"/>
          <p:nvPr/>
        </p:nvSpPr>
        <p:spPr>
          <a:xfrm>
            <a:off x="6263640" y="2770632"/>
            <a:ext cx="1508760" cy="274320"/>
          </a:xfrm>
          <a:prstGeom prst="rect">
            <a:avLst/>
          </a:prstGeom>
          <a:noFill/>
        </p:spPr>
        <p:txBody>
          <a:bodyPr wrap="square" anchor="t">
            <a:spAutoFit/>
          </a:bodyPr>
          <a:lstStyle/>
          <a:p>
            <a:pPr algn="ctr"/>
            <a:r>
              <a:rPr sz="900" b="0">
                <a:solidFill>
                  <a:srgbClr val="626F7B"/>
                </a:solidFill>
                <a:latin typeface="Aptos"/>
              </a:rPr>
              <a:t>runs + registry</a:t>
            </a:r>
          </a:p>
        </p:txBody>
      </p:sp>
      <p:sp>
        <p:nvSpPr>
          <p:cNvPr id="16" name="Rounded Rectangle 15"/>
          <p:cNvSpPr/>
          <p:nvPr/>
        </p:nvSpPr>
        <p:spPr>
          <a:xfrm>
            <a:off x="809244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2359152"/>
            <a:ext cx="1508760" cy="274320"/>
          </a:xfrm>
          <a:prstGeom prst="rect">
            <a:avLst/>
          </a:prstGeom>
          <a:noFill/>
        </p:spPr>
        <p:txBody>
          <a:bodyPr wrap="square" anchor="t">
            <a:spAutoFit/>
          </a:bodyPr>
          <a:lstStyle/>
          <a:p>
            <a:pPr algn="ctr"/>
            <a:r>
              <a:rPr sz="1200" b="1">
                <a:solidFill>
                  <a:srgbClr val="0F2238"/>
                </a:solidFill>
                <a:latin typeface="Aptos"/>
              </a:rPr>
              <a:t>GitHub Actions</a:t>
            </a:r>
          </a:p>
        </p:txBody>
      </p:sp>
      <p:sp>
        <p:nvSpPr>
          <p:cNvPr id="18" name="TextBox 17"/>
          <p:cNvSpPr txBox="1"/>
          <p:nvPr/>
        </p:nvSpPr>
        <p:spPr>
          <a:xfrm>
            <a:off x="8183879" y="2770632"/>
            <a:ext cx="1508760" cy="274320"/>
          </a:xfrm>
          <a:prstGeom prst="rect">
            <a:avLst/>
          </a:prstGeom>
          <a:noFill/>
        </p:spPr>
        <p:txBody>
          <a:bodyPr wrap="square" anchor="t">
            <a:spAutoFit/>
          </a:bodyPr>
          <a:lstStyle/>
          <a:p>
            <a:pPr algn="ctr"/>
            <a:r>
              <a:rPr sz="900" b="0">
                <a:solidFill>
                  <a:srgbClr val="626F7B"/>
                </a:solidFill>
                <a:latin typeface="Aptos"/>
              </a:rPr>
              <a:t>vérifications CI</a:t>
            </a:r>
          </a:p>
        </p:txBody>
      </p:sp>
      <p:sp>
        <p:nvSpPr>
          <p:cNvPr id="19" name="Rounded Rectangle 18"/>
          <p:cNvSpPr/>
          <p:nvPr/>
        </p:nvSpPr>
        <p:spPr>
          <a:xfrm>
            <a:off x="10012680" y="2148840"/>
            <a:ext cx="1691640" cy="1234440"/>
          </a:xfrm>
          <a:prstGeom prst="roundRect">
            <a:avLst/>
          </a:prstGeom>
          <a:solidFill>
            <a:srgbClr val="FFFFFF"/>
          </a:solidFill>
          <a:ln>
            <a:solidFill>
              <a:srgbClr val="36A2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04119" y="2359152"/>
            <a:ext cx="1508760" cy="274320"/>
          </a:xfrm>
          <a:prstGeom prst="rect">
            <a:avLst/>
          </a:prstGeom>
          <a:noFill/>
        </p:spPr>
        <p:txBody>
          <a:bodyPr wrap="square" anchor="t">
            <a:spAutoFit/>
          </a:bodyPr>
          <a:lstStyle/>
          <a:p>
            <a:pPr algn="ctr"/>
            <a:r>
              <a:rPr sz="1200" b="1">
                <a:solidFill>
                  <a:srgbClr val="0F2238"/>
                </a:solidFill>
                <a:latin typeface="Aptos"/>
              </a:rPr>
              <a:t>Streamlit</a:t>
            </a:r>
          </a:p>
        </p:txBody>
      </p:sp>
      <p:sp>
        <p:nvSpPr>
          <p:cNvPr id="21" name="TextBox 20"/>
          <p:cNvSpPr txBox="1"/>
          <p:nvPr/>
        </p:nvSpPr>
        <p:spPr>
          <a:xfrm>
            <a:off x="10104119" y="2770632"/>
            <a:ext cx="1508760" cy="274320"/>
          </a:xfrm>
          <a:prstGeom prst="rect">
            <a:avLst/>
          </a:prstGeom>
          <a:noFill/>
        </p:spPr>
        <p:txBody>
          <a:bodyPr wrap="square" anchor="t">
            <a:spAutoFit/>
          </a:bodyPr>
          <a:lstStyle/>
          <a:p>
            <a:pPr algn="ctr"/>
            <a:r>
              <a:rPr sz="900" b="0">
                <a:solidFill>
                  <a:srgbClr val="626F7B"/>
                </a:solidFill>
                <a:latin typeface="Aptos"/>
              </a:rPr>
              <a:t>démonstration</a:t>
            </a:r>
          </a:p>
        </p:txBody>
      </p:sp>
      <p:cxnSp>
        <p:nvCxnSpPr>
          <p:cNvPr id="22" name="Connector 21"/>
          <p:cNvCxnSpPr/>
          <p:nvPr/>
        </p:nvCxnSpPr>
        <p:spPr>
          <a:xfrm>
            <a:off x="2103120" y="2761488"/>
            <a:ext cx="228600" cy="0"/>
          </a:xfrm>
          <a:prstGeom prst="line">
            <a:avLst/>
          </a:prstGeom>
          <a:ln w="2032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023360" y="2761488"/>
            <a:ext cx="228600" cy="0"/>
          </a:xfrm>
          <a:prstGeom prst="line">
            <a:avLst/>
          </a:prstGeom>
          <a:ln w="2032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43600" y="2761488"/>
            <a:ext cx="228600" cy="0"/>
          </a:xfrm>
          <a:prstGeom prst="line">
            <a:avLst/>
          </a:prstGeom>
          <a:ln w="2032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0" y="2761488"/>
            <a:ext cx="228600" cy="0"/>
          </a:xfrm>
          <a:prstGeom prst="line">
            <a:avLst/>
          </a:prstGeom>
          <a:ln w="20320">
            <a:solidFill>
              <a:srgbClr val="36A2B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784080" y="2761488"/>
            <a:ext cx="228600" cy="0"/>
          </a:xfrm>
          <a:prstGeom prst="line">
            <a:avLst/>
          </a:prstGeom>
          <a:ln w="20320">
            <a:solidFill>
              <a:srgbClr val="36A2B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4232295"/>
            <a:ext cx="10698480" cy="960120"/>
          </a:xfrm>
          <a:prstGeom prst="rect">
            <a:avLst/>
          </a:prstGeom>
          <a:noFill/>
        </p:spPr>
        <p:txBody>
          <a:bodyPr wrap="square" anchor="t">
            <a:spAutoFit/>
          </a:bodyPr>
          <a:lstStyle/>
          <a:p>
            <a:pPr algn="ctr"/>
            <a:r>
              <a:rPr sz="1600" b="1">
                <a:solidFill>
                  <a:srgbClr val="FFFFFF"/>
                </a:solidFill>
                <a:latin typeface="Aptos"/>
              </a:rPr>
              <a:t>Nous avons comparé plusieurs algorithmes, choisi les champions selon les métriques adaptées au risque métier, puis ajouté le suivi MLflow, l’automatisation GitHub Actions et une application Streamlit pour couvrir le cycle complet du projet.</a:t>
            </a:r>
          </a:p>
        </p:txBody>
      </p:sp>
      <p:sp>
        <p:nvSpPr>
          <p:cNvPr id="29" name="TextBox 28"/>
          <p:cNvSpPr txBox="1"/>
          <p:nvPr/>
        </p:nvSpPr>
        <p:spPr>
          <a:xfrm>
            <a:off x="777240" y="5989320"/>
            <a:ext cx="10515600" cy="384048"/>
          </a:xfrm>
          <a:prstGeom prst="rect">
            <a:avLst/>
          </a:prstGeom>
          <a:noFill/>
        </p:spPr>
        <p:txBody>
          <a:bodyPr wrap="square" anchor="t">
            <a:spAutoFit/>
          </a:bodyPr>
          <a:lstStyle/>
          <a:p>
            <a:pPr algn="ctr"/>
            <a:r>
              <a:rPr sz="1100" b="0">
                <a:solidFill>
                  <a:srgbClr val="CDE1EB"/>
                </a:solidFill>
                <a:latin typeface="Aptos"/>
              </a:rPr>
              <a:t>Classification : attention aux faux négatifs critiques  •  Régression : attention aux grosses erreurs  •  MLOps : traçabilité et reproductibilité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otalTime>414</TotalTime>
  <Words>2791</Words>
  <Application>Microsoft Office PowerPoint</Application>
  <PresentationFormat>Grand écran</PresentationFormat>
  <Paragraphs>437</Paragraphs>
  <Slides>19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Alsemaan, Tarek</dc:creator>
  <cp:keywords/>
  <dc:description>generated using python-pptx</dc:description>
  <cp:lastModifiedBy>Boutekadjiret, Anis</cp:lastModifiedBy>
  <cp:revision>21</cp:revision>
  <dcterms:created xsi:type="dcterms:W3CDTF">2013-01-27T09:14:16Z</dcterms:created>
  <dcterms:modified xsi:type="dcterms:W3CDTF">2026-10-14T22:42:09Z</dcterms:modified>
  <cp:category/>
</cp:coreProperties>
</file>