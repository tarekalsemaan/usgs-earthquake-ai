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877503"/>
            <a:ext cx="1022299" cy="228600"/>
          </a:xfrm>
          <a:prstGeom prst="rect">
            <a:avLst/>
          </a:prstGeom>
          <a:noFill/>
        </p:spPr>
        <p:txBody>
          <a:bodyPr wrap="square" anchor="t">
            <a:spAutoFit/>
          </a:bodyPr>
          <a:lstStyle/>
          <a:p>
            <a:pPr algn="l"/>
            <a:r>
              <a:rPr sz="9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03 — Régression de la sévérité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Ici il n’y a pas de faux positifs / faux négatifs : la cible est continue.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nvGraphicFramePr>
        <p:xfrm>
          <a:off x="685800" y="1600200"/>
          <a:ext cx="5577840" cy="25146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62865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903720" y="160020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068312" y="2130552"/>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6903720" y="315468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068312" y="3685032"/>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6903720" y="4709160"/>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855464"/>
            <a:ext cx="4059935" cy="320040"/>
          </a:xfrm>
          <a:prstGeom prst="rect">
            <a:avLst/>
          </a:prstGeom>
          <a:noFill/>
        </p:spPr>
        <p:txBody>
          <a:bodyPr wrap="square" anchor="t">
            <a:spAutoFit/>
          </a:bodyPr>
          <a:lstStyle/>
          <a:p>
            <a:pPr algn="l"/>
            <a:r>
              <a:rPr sz="1500" b="1">
                <a:solidFill>
                  <a:srgbClr val="215E91"/>
                </a:solidFill>
                <a:latin typeface="Aptos"/>
              </a:rPr>
              <a:t>Pourquoi pas seulement R² ?</a:t>
            </a:r>
          </a:p>
        </p:txBody>
      </p:sp>
      <p:sp>
        <p:nvSpPr>
          <p:cNvPr id="15" name="TextBox 14"/>
          <p:cNvSpPr txBox="1"/>
          <p:nvPr/>
        </p:nvSpPr>
        <p:spPr>
          <a:xfrm>
            <a:off x="7068312" y="5239512"/>
            <a:ext cx="4059935" cy="393191"/>
          </a:xfrm>
          <a:prstGeom prst="rect">
            <a:avLst/>
          </a:prstGeom>
          <a:noFill/>
        </p:spPr>
        <p:txBody>
          <a:bodyPr wrap="square" anchor="t">
            <a:spAutoFit/>
          </a:bodyPr>
          <a:lstStyle/>
          <a:p>
            <a:pPr algn="l"/>
            <a:r>
              <a:rPr sz="1100" b="0">
                <a:solidFill>
                  <a:srgbClr val="232B32"/>
                </a:solidFill>
                <a:latin typeface="Aptos"/>
              </a:rPr>
              <a:t>R² décrit l’ajustement global; MAE/RMSE donnent directement la taille des erreurs.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68072"/>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solidFill>
                  <a:srgbClr val="626F7B"/>
                </a:solidFill>
                <a:latin typeface="Aptos"/>
              </a:rPr>
              <a:t>La  segmentation </a:t>
            </a:r>
            <a:r>
              <a:rPr lang="fr-CA" sz="1200" dirty="0">
                <a:solidFill>
                  <a:srgbClr val="626F7B"/>
                </a:solidFill>
                <a:latin typeface="Aptos"/>
              </a:rPr>
              <a:t>d</a:t>
            </a:r>
            <a:r>
              <a:rPr lang="fr-CA" sz="1200" b="0" dirty="0">
                <a:solidFill>
                  <a:srgbClr val="626F7B"/>
                </a:solidFill>
                <a:latin typeface="Aptos"/>
              </a:rPr>
              <a:t>es séismes en 5 catégories hiérarchisées (Risque Tsunami, Forte Secousse, Forte Exposition, Faible Profondeur, Risque Modéré ou Faible)</a:t>
            </a:r>
          </a:p>
          <a:p>
            <a:pPr algn="l"/>
            <a:r>
              <a:rPr lang="fr-CA" sz="1200" b="0" dirty="0">
                <a:solidFill>
                  <a:srgbClr val="626F7B"/>
                </a:solidFill>
                <a:latin typeface="Aptos"/>
              </a:rPr>
              <a:t>basées sur des règles métier (magnitude, profondeur, intensité MMI, alertes, etc.) tout en évitant les fuites de données (data </a:t>
            </a:r>
            <a:r>
              <a:rPr lang="fr-CA" sz="1200" b="0" dirty="0" err="1">
                <a:solidFill>
                  <a:srgbClr val="626F7B"/>
                </a:solidFill>
                <a:latin typeface="Aptos"/>
              </a:rPr>
              <a:t>leakage</a:t>
            </a:r>
            <a:r>
              <a:rPr lang="fr-CA" sz="1200" b="0" dirty="0">
                <a:solidFill>
                  <a:srgbClr val="626F7B"/>
                </a:solidFill>
                <a:latin typeface="Aptos"/>
              </a:rPr>
              <a:t>).</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87416"/>
            <a:ext cx="995781" cy="276999"/>
          </a:xfrm>
          <a:prstGeom prst="rect">
            <a:avLst/>
          </a:prstGeom>
          <a:noFill/>
        </p:spPr>
        <p:txBody>
          <a:bodyPr wrap="square" anchor="t">
            <a:spAutoFit/>
          </a:bodyPr>
          <a:lstStyle/>
          <a:p>
            <a:pPr algn="l"/>
            <a:r>
              <a:rPr sz="1200" b="1" dirty="0">
                <a:solidFill>
                  <a:srgbClr val="626F7B"/>
                </a:solidFill>
                <a:latin typeface="Aptos"/>
              </a:rPr>
              <a:t>CHAMPION</a:t>
            </a:r>
          </a:p>
        </p:txBody>
      </p:sp>
      <p:sp>
        <p:nvSpPr>
          <p:cNvPr id="8" name="TextBox 7"/>
          <p:cNvSpPr txBox="1"/>
          <p:nvPr/>
        </p:nvSpPr>
        <p:spPr>
          <a:xfrm>
            <a:off x="1774449" y="1473393"/>
            <a:ext cx="1134770" cy="523220"/>
          </a:xfrm>
          <a:prstGeom prst="rect">
            <a:avLst/>
          </a:prstGeom>
          <a:noFill/>
        </p:spPr>
        <p:txBody>
          <a:bodyPr wrap="square" anchor="t">
            <a:spAutoFit/>
          </a:bodyPr>
          <a:lstStyle/>
          <a:p>
            <a:r>
              <a:rPr sz="1400" b="1" dirty="0">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77584"/>
            <a:ext cx="1022299" cy="307777"/>
          </a:xfrm>
          <a:prstGeom prst="rect">
            <a:avLst/>
          </a:prstGeom>
          <a:noFill/>
        </p:spPr>
        <p:txBody>
          <a:bodyPr wrap="square" anchor="t">
            <a:spAutoFit/>
          </a:bodyPr>
          <a:lstStyle/>
          <a:p>
            <a:pPr algn="l"/>
            <a:r>
              <a:rPr sz="1400" b="1" dirty="0">
                <a:solidFill>
                  <a:srgbClr val="626F7B"/>
                </a:solidFill>
                <a:latin typeface="Aptos"/>
              </a:rPr>
              <a:t>R² (log)</a:t>
            </a:r>
          </a:p>
        </p:txBody>
      </p:sp>
      <p:sp>
        <p:nvSpPr>
          <p:cNvPr id="11" name="TextBox 10"/>
          <p:cNvSpPr txBox="1"/>
          <p:nvPr/>
        </p:nvSpPr>
        <p:spPr>
          <a:xfrm>
            <a:off x="3760445" y="1559296"/>
            <a:ext cx="1052475" cy="353943"/>
          </a:xfrm>
          <a:prstGeom prst="rect">
            <a:avLst/>
          </a:prstGeom>
          <a:noFill/>
        </p:spPr>
        <p:txBody>
          <a:bodyPr wrap="square" anchor="t">
            <a:spAutoFit/>
          </a:bodyPr>
          <a:lstStyle/>
          <a:p>
            <a:pPr algn="r"/>
            <a:r>
              <a:rPr sz="1700" b="1" dirty="0">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87417"/>
            <a:ext cx="619963" cy="307777"/>
          </a:xfrm>
          <a:prstGeom prst="rect">
            <a:avLst/>
          </a:prstGeom>
          <a:noFill/>
        </p:spPr>
        <p:txBody>
          <a:bodyPr wrap="square" anchor="t">
            <a:spAutoFit/>
          </a:bodyPr>
          <a:lstStyle/>
          <a:p>
            <a:pPr algn="l"/>
            <a:r>
              <a:rPr sz="1400" b="1" dirty="0">
                <a:solidFill>
                  <a:srgbClr val="626F7B"/>
                </a:solidFill>
                <a:latin typeface="Aptos"/>
              </a:rPr>
              <a:t>MAE</a:t>
            </a:r>
            <a:endParaRPr sz="900" b="1" dirty="0">
              <a:solidFill>
                <a:srgbClr val="626F7B"/>
              </a:solidFill>
              <a:latin typeface="Aptos"/>
            </a:endParaRPr>
          </a:p>
        </p:txBody>
      </p:sp>
      <p:sp>
        <p:nvSpPr>
          <p:cNvPr id="14" name="TextBox 13"/>
          <p:cNvSpPr txBox="1"/>
          <p:nvPr/>
        </p:nvSpPr>
        <p:spPr>
          <a:xfrm>
            <a:off x="5815525" y="1554480"/>
            <a:ext cx="1236269" cy="353943"/>
          </a:xfrm>
          <a:prstGeom prst="rect">
            <a:avLst/>
          </a:prstGeom>
          <a:noFill/>
        </p:spPr>
        <p:txBody>
          <a:bodyPr wrap="square" anchor="t">
            <a:spAutoFit/>
          </a:bodyPr>
          <a:lstStyle/>
          <a:p>
            <a:pPr algn="r"/>
            <a:r>
              <a:rPr sz="1700" b="1" dirty="0">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67752"/>
            <a:ext cx="1022299" cy="338554"/>
          </a:xfrm>
          <a:prstGeom prst="rect">
            <a:avLst/>
          </a:prstGeom>
          <a:noFill/>
        </p:spPr>
        <p:txBody>
          <a:bodyPr wrap="square" anchor="t">
            <a:spAutoFit/>
          </a:bodyPr>
          <a:lstStyle/>
          <a:p>
            <a:pPr algn="l"/>
            <a:r>
              <a:rPr sz="1600" b="1" dirty="0">
                <a:solidFill>
                  <a:srgbClr val="626F7B"/>
                </a:solidFill>
                <a:latin typeface="Aptos"/>
              </a:rPr>
              <a:t>RMSE</a:t>
            </a:r>
            <a:endParaRPr sz="900" b="1" dirty="0">
              <a:solidFill>
                <a:srgbClr val="626F7B"/>
              </a:solidFill>
              <a:latin typeface="Aptos"/>
            </a:endParaRPr>
          </a:p>
        </p:txBody>
      </p:sp>
      <p:sp>
        <p:nvSpPr>
          <p:cNvPr id="17" name="TextBox 16"/>
          <p:cNvSpPr txBox="1"/>
          <p:nvPr/>
        </p:nvSpPr>
        <p:spPr>
          <a:xfrm>
            <a:off x="8130830" y="1579415"/>
            <a:ext cx="1022299" cy="353943"/>
          </a:xfrm>
          <a:prstGeom prst="rect">
            <a:avLst/>
          </a:prstGeom>
          <a:noFill/>
        </p:spPr>
        <p:txBody>
          <a:bodyPr wrap="square" anchor="t">
            <a:spAutoFit/>
          </a:bodyPr>
          <a:lstStyle/>
          <a:p>
            <a:pPr algn="r"/>
            <a:r>
              <a:rPr sz="1700" b="1" dirty="0">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523220"/>
          </a:xfrm>
          <a:prstGeom prst="rect">
            <a:avLst/>
          </a:prstGeom>
          <a:noFill/>
        </p:spPr>
        <p:txBody>
          <a:bodyPr wrap="square" anchor="t">
            <a:spAutoFit/>
          </a:bodyPr>
          <a:lstStyle/>
          <a:p>
            <a:pPr algn="l"/>
            <a:r>
              <a:rPr sz="1400" b="1" dirty="0">
                <a:solidFill>
                  <a:srgbClr val="626F7B"/>
                </a:solidFill>
                <a:latin typeface="Aptos"/>
              </a:rPr>
              <a:t>RMSE</a:t>
            </a:r>
            <a:r>
              <a:rPr sz="900" b="1" dirty="0">
                <a:solidFill>
                  <a:srgbClr val="626F7B"/>
                </a:solidFill>
                <a:latin typeface="Aptos"/>
              </a:rPr>
              <a:t> </a:t>
            </a:r>
            <a:r>
              <a:rPr sz="1400" b="1" dirty="0" err="1">
                <a:solidFill>
                  <a:srgbClr val="626F7B"/>
                </a:solidFill>
                <a:latin typeface="Aptos"/>
              </a:rPr>
              <a:t>pertes</a:t>
            </a:r>
            <a:r>
              <a:rPr sz="900" b="1" dirty="0">
                <a:solidFill>
                  <a:srgbClr val="626F7B"/>
                </a:solidFill>
                <a:latin typeface="Aptos"/>
              </a:rPr>
              <a:t> +</a:t>
            </a:r>
          </a:p>
        </p:txBody>
      </p:sp>
      <p:sp>
        <p:nvSpPr>
          <p:cNvPr id="20" name="TextBox 19"/>
          <p:cNvSpPr txBox="1"/>
          <p:nvPr/>
        </p:nvSpPr>
        <p:spPr>
          <a:xfrm>
            <a:off x="10404240" y="1569128"/>
            <a:ext cx="1053389" cy="353943"/>
          </a:xfrm>
          <a:prstGeom prst="rect">
            <a:avLst/>
          </a:prstGeom>
          <a:noFill/>
        </p:spPr>
        <p:txBody>
          <a:bodyPr wrap="square" anchor="t">
            <a:spAutoFit/>
          </a:bodyPr>
          <a:lstStyle/>
          <a:p>
            <a:r>
              <a:rPr sz="1700" b="1" dirty="0">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288</TotalTime>
  <Words>2727</Words>
  <Application>Microsoft Office PowerPoint</Application>
  <PresentationFormat>Grand écran</PresentationFormat>
  <Paragraphs>435</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16</cp:revision>
  <dcterms:created xsi:type="dcterms:W3CDTF">2013-01-27T09:14:16Z</dcterms:created>
  <dcterms:modified xsi:type="dcterms:W3CDTF">2026-10-13T02:20:14Z</dcterms:modified>
  <cp:category/>
</cp:coreProperties>
</file>