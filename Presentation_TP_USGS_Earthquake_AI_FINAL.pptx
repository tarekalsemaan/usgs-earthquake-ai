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307777"/>
          </a:xfrm>
          <a:prstGeom prst="rect">
            <a:avLst/>
          </a:prstGeom>
          <a:noFill/>
        </p:spPr>
        <p:txBody>
          <a:bodyPr wrap="square" anchor="t">
            <a:spAutoFit/>
          </a:bodyPr>
          <a:lstStyle/>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0" dirty="0">
                <a:solidFill>
                  <a:schemeClr val="bg1"/>
                </a:solidFill>
                <a:latin typeface="Aptos"/>
              </a:rPr>
              <a:t> et </a:t>
            </a:r>
          </a:p>
          <a:p>
            <a:pPr algn="ctr"/>
            <a:r>
              <a:rPr lang="fr-CA" sz="1400" b="0" dirty="0">
                <a:solidFill>
                  <a:schemeClr val="bg1"/>
                </a:solidFill>
                <a:latin typeface="Aptos"/>
              </a:rPr>
              <a:t>Tarek Alsemaan</a:t>
            </a: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Le TP en une vue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Chaque notebook répond à une question différente — donc les métriques importantes changent.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Objectif : Faible / Moyen / Élevé. Classe Élevé très rare : 29 cas dans le test.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1389888"/>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481328"/>
            <a:ext cx="1141171"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781251" y="1463040"/>
            <a:ext cx="921715" cy="461665"/>
          </a:xfrm>
          <a:prstGeom prst="rect">
            <a:avLst/>
          </a:prstGeom>
          <a:noFill/>
        </p:spPr>
        <p:txBody>
          <a:bodyPr wrap="square" anchor="t">
            <a:spAutoFit/>
          </a:bodyPr>
          <a:lstStyle/>
          <a:p>
            <a:pPr algn="r"/>
            <a:r>
              <a:rPr sz="1200" b="1" dirty="0">
                <a:solidFill>
                  <a:srgbClr val="2E7D5A"/>
                </a:solidFill>
                <a:latin typeface="Aptos"/>
              </a:rPr>
              <a:t>Random Forest</a:t>
            </a:r>
          </a:p>
        </p:txBody>
      </p:sp>
      <p:sp>
        <p:nvSpPr>
          <p:cNvPr id="9" name="Rounded Rectangle 8"/>
          <p:cNvSpPr/>
          <p:nvPr/>
        </p:nvSpPr>
        <p:spPr>
          <a:xfrm>
            <a:off x="2971800" y="1389888"/>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81528" y="1481328"/>
            <a:ext cx="1022299" cy="228600"/>
          </a:xfrm>
          <a:prstGeom prst="rect">
            <a:avLst/>
          </a:prstGeom>
          <a:noFill/>
        </p:spPr>
        <p:txBody>
          <a:bodyPr wrap="square" anchor="t">
            <a:spAutoFit/>
          </a:bodyPr>
          <a:lstStyle/>
          <a:p>
            <a:pPr algn="l"/>
            <a:r>
              <a:rPr sz="900" b="1">
                <a:solidFill>
                  <a:srgbClr val="626F7B"/>
                </a:solidFill>
                <a:latin typeface="Aptos"/>
              </a:rPr>
              <a:t>Accuracy test</a:t>
            </a:r>
          </a:p>
        </p:txBody>
      </p:sp>
      <p:sp>
        <p:nvSpPr>
          <p:cNvPr id="11" name="TextBox 10"/>
          <p:cNvSpPr txBox="1"/>
          <p:nvPr/>
        </p:nvSpPr>
        <p:spPr>
          <a:xfrm>
            <a:off x="3994099" y="1463040"/>
            <a:ext cx="825703" cy="274320"/>
          </a:xfrm>
          <a:prstGeom prst="rect">
            <a:avLst/>
          </a:prstGeom>
          <a:noFill/>
        </p:spPr>
        <p:txBody>
          <a:bodyPr wrap="square" anchor="t">
            <a:spAutoFit/>
          </a:bodyPr>
          <a:lstStyle/>
          <a:p>
            <a:pPr algn="r"/>
            <a:r>
              <a:rPr sz="1700" b="1">
                <a:solidFill>
                  <a:srgbClr val="215E91"/>
                </a:solidFill>
                <a:latin typeface="Aptos"/>
              </a:rPr>
              <a:t>96,23 %</a:t>
            </a:r>
          </a:p>
        </p:txBody>
      </p:sp>
      <p:sp>
        <p:nvSpPr>
          <p:cNvPr id="12" name="Rounded Rectangle 11"/>
          <p:cNvSpPr/>
          <p:nvPr/>
        </p:nvSpPr>
        <p:spPr>
          <a:xfrm>
            <a:off x="5074920" y="1389888"/>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84648" y="1481328"/>
            <a:ext cx="1022299" cy="228600"/>
          </a:xfrm>
          <a:prstGeom prst="rect">
            <a:avLst/>
          </a:prstGeom>
          <a:noFill/>
        </p:spPr>
        <p:txBody>
          <a:bodyPr wrap="square" anchor="t">
            <a:spAutoFit/>
          </a:bodyPr>
          <a:lstStyle/>
          <a:p>
            <a:pPr algn="l"/>
            <a:r>
              <a:rPr sz="900" b="1">
                <a:solidFill>
                  <a:srgbClr val="626F7B"/>
                </a:solidFill>
                <a:latin typeface="Aptos"/>
              </a:rPr>
              <a:t>Recall macro</a:t>
            </a:r>
          </a:p>
        </p:txBody>
      </p:sp>
      <p:sp>
        <p:nvSpPr>
          <p:cNvPr id="14" name="TextBox 13"/>
          <p:cNvSpPr txBox="1"/>
          <p:nvPr/>
        </p:nvSpPr>
        <p:spPr>
          <a:xfrm>
            <a:off x="6097219" y="1463040"/>
            <a:ext cx="825703" cy="274320"/>
          </a:xfrm>
          <a:prstGeom prst="rect">
            <a:avLst/>
          </a:prstGeom>
          <a:noFill/>
        </p:spPr>
        <p:txBody>
          <a:bodyPr wrap="square" anchor="t">
            <a:spAutoFit/>
          </a:bodyPr>
          <a:lstStyle/>
          <a:p>
            <a:pPr algn="r"/>
            <a:r>
              <a:rPr sz="1700" b="1">
                <a:solidFill>
                  <a:srgbClr val="2E7D5A"/>
                </a:solidFill>
                <a:latin typeface="Aptos"/>
              </a:rPr>
              <a:t>90,92 %</a:t>
            </a:r>
          </a:p>
        </p:txBody>
      </p:sp>
      <p:sp>
        <p:nvSpPr>
          <p:cNvPr id="15" name="Rounded Rectangle 14"/>
          <p:cNvSpPr/>
          <p:nvPr/>
        </p:nvSpPr>
        <p:spPr>
          <a:xfrm>
            <a:off x="7178040" y="1389888"/>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87768" y="1481328"/>
            <a:ext cx="1022299" cy="228600"/>
          </a:xfrm>
          <a:prstGeom prst="rect">
            <a:avLst/>
          </a:prstGeom>
          <a:noFill/>
        </p:spPr>
        <p:txBody>
          <a:bodyPr wrap="square" anchor="t">
            <a:spAutoFit/>
          </a:bodyPr>
          <a:lstStyle/>
          <a:p>
            <a:pPr algn="l"/>
            <a:r>
              <a:rPr sz="900" b="1">
                <a:solidFill>
                  <a:srgbClr val="626F7B"/>
                </a:solidFill>
                <a:latin typeface="Aptos"/>
              </a:rPr>
              <a:t>F1 macro</a:t>
            </a:r>
          </a:p>
        </p:txBody>
      </p:sp>
      <p:sp>
        <p:nvSpPr>
          <p:cNvPr id="17" name="TextBox 16"/>
          <p:cNvSpPr txBox="1"/>
          <p:nvPr/>
        </p:nvSpPr>
        <p:spPr>
          <a:xfrm>
            <a:off x="8200339" y="1463040"/>
            <a:ext cx="825703" cy="274320"/>
          </a:xfrm>
          <a:prstGeom prst="rect">
            <a:avLst/>
          </a:prstGeom>
          <a:noFill/>
        </p:spPr>
        <p:txBody>
          <a:bodyPr wrap="square" anchor="t">
            <a:spAutoFit/>
          </a:bodyPr>
          <a:lstStyle/>
          <a:p>
            <a:pPr algn="r"/>
            <a:r>
              <a:rPr sz="1700" b="1">
                <a:solidFill>
                  <a:srgbClr val="36A2BF"/>
                </a:solidFill>
                <a:latin typeface="Aptos"/>
              </a:rPr>
              <a:t>73,55 %</a:t>
            </a:r>
          </a:p>
        </p:txBody>
      </p:sp>
      <p:sp>
        <p:nvSpPr>
          <p:cNvPr id="18" name="Rounded Rectangle 17"/>
          <p:cNvSpPr/>
          <p:nvPr/>
        </p:nvSpPr>
        <p:spPr>
          <a:xfrm>
            <a:off x="9281160" y="1389888"/>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1481328"/>
            <a:ext cx="1022299" cy="228600"/>
          </a:xfrm>
          <a:prstGeom prst="rect">
            <a:avLst/>
          </a:prstGeom>
          <a:noFill/>
        </p:spPr>
        <p:txBody>
          <a:bodyPr wrap="square" anchor="t">
            <a:spAutoFit/>
          </a:bodyPr>
          <a:lstStyle/>
          <a:p>
            <a:pPr algn="l"/>
            <a:r>
              <a:rPr sz="900" b="1">
                <a:solidFill>
                  <a:srgbClr val="626F7B"/>
                </a:solidFill>
                <a:latin typeface="Aptos"/>
              </a:rPr>
              <a:t>Recall Élevé</a:t>
            </a:r>
          </a:p>
        </p:txBody>
      </p:sp>
      <p:sp>
        <p:nvSpPr>
          <p:cNvPr id="20" name="TextBox 19"/>
          <p:cNvSpPr txBox="1"/>
          <p:nvPr/>
        </p:nvSpPr>
        <p:spPr>
          <a:xfrm>
            <a:off x="10303459" y="1463040"/>
            <a:ext cx="825703" cy="274320"/>
          </a:xfrm>
          <a:prstGeom prst="rect">
            <a:avLst/>
          </a:prstGeom>
          <a:noFill/>
        </p:spPr>
        <p:txBody>
          <a:bodyPr wrap="square" anchor="t">
            <a:spAutoFit/>
          </a:bodyPr>
          <a:lstStyle/>
          <a:p>
            <a:pPr algn="r"/>
            <a:r>
              <a:rPr sz="1700" b="1">
                <a:solidFill>
                  <a:srgbClr val="B44141"/>
                </a:solidFill>
                <a:latin typeface="Aptos"/>
              </a:rPr>
              <a:t>79 %</a:t>
            </a:r>
          </a:p>
        </p:txBody>
      </p:sp>
      <p:graphicFrame>
        <p:nvGraphicFramePr>
          <p:cNvPr id="21" name="Table 20"/>
          <p:cNvGraphicFramePr>
            <a:graphicFrameLocks noGrp="1"/>
          </p:cNvGraphicFramePr>
          <p:nvPr/>
        </p:nvGraphicFramePr>
        <p:xfrm>
          <a:off x="640080" y="2331720"/>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37960" y="2331720"/>
            <a:ext cx="4709160" cy="24231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2478024"/>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2862072"/>
            <a:ext cx="4379976" cy="1764792"/>
          </a:xfrm>
          <a:prstGeom prst="rect">
            <a:avLst/>
          </a:prstGeom>
          <a:noFill/>
        </p:spPr>
        <p:txBody>
          <a:bodyPr wrap="square" anchor="t">
            <a:spAutoFit/>
          </a:bodyPr>
          <a:lstStyle/>
          <a:p>
            <a:pPr algn="l"/>
            <a:r>
              <a:rPr sz="1100" b="0">
                <a:solidFill>
                  <a:srgbClr val="232B32"/>
                </a:solidFill>
                <a:latin typeface="Aptos"/>
              </a:rPr>
              <a:t>Le notebook choisit le champion avec le F1 macro moyen en validation croisée. Random Forest obtient le meilleur compromis et un recall élevé sur la classe rare.</a:t>
            </a:r>
          </a:p>
        </p:txBody>
      </p:sp>
      <p:sp>
        <p:nvSpPr>
          <p:cNvPr id="25" name="TextBox 24"/>
          <p:cNvSpPr txBox="1"/>
          <p:nvPr/>
        </p:nvSpPr>
        <p:spPr>
          <a:xfrm>
            <a:off x="6675120" y="5029200"/>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658368"/>
          </a:xfrm>
          <a:prstGeom prst="rect">
            <a:avLst/>
          </a:prstGeom>
          <a:noFill/>
        </p:spPr>
        <p:txBody>
          <a:bodyPr wrap="square" anchor="t">
            <a:spAutoFit/>
          </a:bodyPr>
          <a:lstStyle/>
          <a:p>
            <a:pPr algn="l"/>
            <a:r>
              <a:rPr sz="1200" b="0">
                <a:solidFill>
                  <a:srgbClr val="232B32"/>
                </a:solidFill>
                <a:latin typeface="Aptos"/>
              </a:rPr>
              <a:t>Rater un vrai séisme « Élevé » est plus grave qu’une alerte supplémentaire. On privilégie donc le recall, tout en surveillant la faible precision de la classe Élevé (0,15).</a:t>
            </a: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Comparaison de trois algorithmes d’ensemble sur un problème multiclasses déséquilibré.</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nvGraphicFramePr>
        <p:xfrm>
          <a:off x="685800" y="1600200"/>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1600200"/>
            <a:ext cx="42519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174650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213055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3154680"/>
            <a:ext cx="425196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3300984"/>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3685032"/>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4800600"/>
            <a:ext cx="425196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4946904"/>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330952"/>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08760"/>
            <a:ext cx="1164945"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805025" y="1490472"/>
            <a:ext cx="940917" cy="274320"/>
          </a:xfrm>
          <a:prstGeom prst="rect">
            <a:avLst/>
          </a:prstGeom>
          <a:noFill/>
        </p:spPr>
        <p:txBody>
          <a:bodyPr wrap="square" anchor="t">
            <a:spAutoFit/>
          </a:bodyPr>
          <a:lstStyle/>
          <a:p>
            <a:pPr algn="r"/>
            <a:r>
              <a:rPr sz="1700" b="1">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08760"/>
            <a:ext cx="1022299" cy="228600"/>
          </a:xfrm>
          <a:prstGeom prst="rect">
            <a:avLst/>
          </a:prstGeom>
          <a:noFill/>
        </p:spPr>
        <p:txBody>
          <a:bodyPr wrap="square" anchor="t">
            <a:spAutoFit/>
          </a:bodyPr>
          <a:lstStyle/>
          <a:p>
            <a:pPr algn="l"/>
            <a:r>
              <a:rPr sz="900" b="1">
                <a:solidFill>
                  <a:srgbClr val="626F7B"/>
                </a:solidFill>
                <a:latin typeface="Aptos"/>
              </a:rPr>
              <a:t>R² (log)</a:t>
            </a:r>
          </a:p>
        </p:txBody>
      </p:sp>
      <p:sp>
        <p:nvSpPr>
          <p:cNvPr id="11" name="TextBox 10"/>
          <p:cNvSpPr txBox="1"/>
          <p:nvPr/>
        </p:nvSpPr>
        <p:spPr>
          <a:xfrm>
            <a:off x="4085539" y="1490472"/>
            <a:ext cx="825703" cy="274320"/>
          </a:xfrm>
          <a:prstGeom prst="rect">
            <a:avLst/>
          </a:prstGeom>
          <a:noFill/>
        </p:spPr>
        <p:txBody>
          <a:bodyPr wrap="square" anchor="t">
            <a:spAutoFit/>
          </a:bodyPr>
          <a:lstStyle/>
          <a:p>
            <a:pPr algn="r"/>
            <a:r>
              <a:rPr sz="1700" b="1">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08760"/>
            <a:ext cx="1022299" cy="228600"/>
          </a:xfrm>
          <a:prstGeom prst="rect">
            <a:avLst/>
          </a:prstGeom>
          <a:noFill/>
        </p:spPr>
        <p:txBody>
          <a:bodyPr wrap="square" anchor="t">
            <a:spAutoFit/>
          </a:bodyPr>
          <a:lstStyle/>
          <a:p>
            <a:pPr algn="l"/>
            <a:r>
              <a:rPr sz="900" b="1">
                <a:solidFill>
                  <a:srgbClr val="626F7B"/>
                </a:solidFill>
                <a:latin typeface="Aptos"/>
              </a:rPr>
              <a:t>MAE</a:t>
            </a:r>
          </a:p>
        </p:txBody>
      </p:sp>
      <p:sp>
        <p:nvSpPr>
          <p:cNvPr id="14" name="TextBox 13"/>
          <p:cNvSpPr txBox="1"/>
          <p:nvPr/>
        </p:nvSpPr>
        <p:spPr>
          <a:xfrm>
            <a:off x="6234379" y="1490472"/>
            <a:ext cx="825703" cy="274320"/>
          </a:xfrm>
          <a:prstGeom prst="rect">
            <a:avLst/>
          </a:prstGeom>
          <a:noFill/>
        </p:spPr>
        <p:txBody>
          <a:bodyPr wrap="square" anchor="t">
            <a:spAutoFit/>
          </a:bodyPr>
          <a:lstStyle/>
          <a:p>
            <a:pPr algn="r"/>
            <a:r>
              <a:rPr sz="1700" b="1">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08760"/>
            <a:ext cx="1022299" cy="228600"/>
          </a:xfrm>
          <a:prstGeom prst="rect">
            <a:avLst/>
          </a:prstGeom>
          <a:noFill/>
        </p:spPr>
        <p:txBody>
          <a:bodyPr wrap="square" anchor="t">
            <a:spAutoFit/>
          </a:bodyPr>
          <a:lstStyle/>
          <a:p>
            <a:pPr algn="l"/>
            <a:r>
              <a:rPr sz="900" b="1">
                <a:solidFill>
                  <a:srgbClr val="626F7B"/>
                </a:solidFill>
                <a:latin typeface="Aptos"/>
              </a:rPr>
              <a:t>RMSE</a:t>
            </a:r>
          </a:p>
        </p:txBody>
      </p:sp>
      <p:sp>
        <p:nvSpPr>
          <p:cNvPr id="17" name="TextBox 16"/>
          <p:cNvSpPr txBox="1"/>
          <p:nvPr/>
        </p:nvSpPr>
        <p:spPr>
          <a:xfrm>
            <a:off x="8383219" y="1490472"/>
            <a:ext cx="825703" cy="274320"/>
          </a:xfrm>
          <a:prstGeom prst="rect">
            <a:avLst/>
          </a:prstGeom>
          <a:noFill/>
        </p:spPr>
        <p:txBody>
          <a:bodyPr wrap="square" anchor="t">
            <a:spAutoFit/>
          </a:bodyPr>
          <a:lstStyle/>
          <a:p>
            <a:pPr algn="r"/>
            <a:r>
              <a:rPr sz="1700" b="1">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228600"/>
          </a:xfrm>
          <a:prstGeom prst="rect">
            <a:avLst/>
          </a:prstGeom>
          <a:noFill/>
        </p:spPr>
        <p:txBody>
          <a:bodyPr wrap="square" anchor="t">
            <a:spAutoFit/>
          </a:bodyPr>
          <a:lstStyle/>
          <a:p>
            <a:pPr algn="l"/>
            <a:r>
              <a:rPr sz="900" b="1">
                <a:solidFill>
                  <a:srgbClr val="626F7B"/>
                </a:solidFill>
                <a:latin typeface="Aptos"/>
              </a:rPr>
              <a:t>RMSE pertes +</a:t>
            </a:r>
          </a:p>
        </p:txBody>
      </p:sp>
      <p:sp>
        <p:nvSpPr>
          <p:cNvPr id="20" name="TextBox 19"/>
          <p:cNvSpPr txBox="1"/>
          <p:nvPr/>
        </p:nvSpPr>
        <p:spPr>
          <a:xfrm>
            <a:off x="10532059" y="1490472"/>
            <a:ext cx="825703" cy="274320"/>
          </a:xfrm>
          <a:prstGeom prst="rect">
            <a:avLst/>
          </a:prstGeom>
          <a:noFill/>
        </p:spPr>
        <p:txBody>
          <a:bodyPr wrap="square" anchor="t">
            <a:spAutoFit/>
          </a:bodyPr>
          <a:lstStyle/>
          <a:p>
            <a:pPr algn="r"/>
            <a:r>
              <a:rPr sz="1700" b="1">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33</TotalTime>
  <Words>2465</Words>
  <Application>Microsoft Office PowerPoint</Application>
  <PresentationFormat>Grand écran</PresentationFormat>
  <Paragraphs>423</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11</cp:revision>
  <dcterms:created xsi:type="dcterms:W3CDTF">2013-01-27T09:14:16Z</dcterms:created>
  <dcterms:modified xsi:type="dcterms:W3CDTF">2026-10-08T01:41:39Z</dcterms:modified>
  <cp:category/>
</cp:coreProperties>
</file>